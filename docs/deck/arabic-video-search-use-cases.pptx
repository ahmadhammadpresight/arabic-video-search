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a:t>
            </a:r>
          </a:p>
          <a:p>
            <a:r>
              <a:t>This deck shows how security teams would use Arabic video search, as three search stories: a suspect, a left bag, and a lost child.</a:t>
            </a:r>
          </a:p>
          <a:p>
            <a:r>
              <a:t>The technical choices behind it are settled in the PoC technical plan (decisions D1 to D7).</a:t>
            </a:r>
          </a:p>
          <a:p>
            <a:r>
              <a:t>The query on the right is the plan's headline example: "a man wearing a red shirt".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the search is manual and grows with every camera and every hour.</a:t>
            </a:r>
          </a:p>
          <a:p>
            <a:r>
              <a:t>The 100 hours figure is our arithmetic from the plan's own example: a missing-child case covering 50 nearby cameras for 2 hours (report section 4, "City scale").</a:t>
            </a:r>
          </a:p>
          <a:p>
            <a:r>
              <a:t>English-only: NVIDIA's open Video Search and Summarization blueprint uses the same search shape but works in English only (report section 1; https://docs.nvidia.com/vss/3.2.1/agent-workflow-search.html).</a:t>
            </a:r>
          </a:p>
          <a:p>
            <a:r>
              <a:t>No public benchmark covers Jordanian Arabic, and no Arabic text-to-person dataset exists (report section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of the whole system, left to right.</a:t>
            </a:r>
          </a:p>
          <a:p>
            <a:r>
              <a:t>1. The officer types a description in Arabic, formal or dialect. Example from the plan: "رجل يرتدي قميص أحمر", a man wearing a red shirt.</a:t>
            </a:r>
          </a:p>
          <a:p>
            <a:r>
              <a:t>2. A local language model turns it into clear fields (person, clothing colours, bag) plus a clean English description (decision D1, hybrid; D4, local only).</a:t>
            </a:r>
          </a:p>
          <a:p>
            <a:r>
              <a:t>3. The search is narrowed to the chosen cameras and time window, then matched against a catalogue of every person already seen in the footage.</a:t>
            </a:r>
          </a:p>
          <a:p>
            <a:r>
              <a:t>4. Results show a short clip, camera, place, time, and why it matched.</a:t>
            </a:r>
          </a:p>
          <a:p>
            <a:r>
              <a:t>5. A person confirms or rejects every result: a result is a lead, not proof (report section 5).</a:t>
            </a:r>
          </a:p>
          <a:p>
            <a:r>
              <a:t>How it works underneath (report section 1): indexing decodes the footage, detects and tracks people, keeps a few best crops per person, describes each one, and stores it with camera, place, time and a pointer to the clip.</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stories are appearance searches with the same engine; they differ in what the target looks like and how hard it is to recognise (decision D6, all three as search stories).</a:t>
            </a:r>
          </a:p>
          <a:p>
            <a:r>
              <a:t>Where they apply, from the original brief: finding missing persons or children, assisting investigations, and security in airports, tourism areas and government buildings.</a:t>
            </a:r>
          </a:p>
          <a:p>
            <a:r>
              <a:t>Extra work over the core search (report D6 answer): suspect none; left bag small, since backpack, handbag and suitcase are classes the detector already knows; lost child medium, because age is hard to read from a body.</a:t>
            </a:r>
          </a:p>
          <a:p>
            <a:r>
              <a:t>The automatic left-bag alert is not part of the PoC.</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search, no extra work beyond the engine itself (report D6 answer).</a:t>
            </a:r>
          </a:p>
          <a:p>
            <a:r>
              <a:t>The query is the plan's Jordanian-dialect example: "زلمة لابس بلوزة حمرا ومعه شنطة سودا", "a guy wearing a red top, with a black bag".</a:t>
            </a:r>
          </a:p>
          <a:p>
            <a:r>
              <a:t>The parser returns fields: man; top red; carrying bag, black; plus English wording, a camera set and a time window (board section 1, "One query, step by step").</a:t>
            </a:r>
          </a:p>
          <a:p>
            <a:r>
              <a:t>Dialect traps the parser must handle: colour forms such as حمرا and سودا (report section 2).</a:t>
            </a:r>
          </a:p>
          <a:p>
            <a:r>
              <a:t>Results shown are an illustration from the plan's demo mock-up; the fourth (amber) result shows why a person reviews every match.</a:t>
            </a:r>
          </a:p>
          <a:p>
            <a:r>
              <a:t>Time saved: "under 2 minutes" is the plan's proposed success measure for the demo stories, not a measured result (report section 6).</a:t>
            </a:r>
          </a:p>
          <a:p>
            <a:r>
              <a:t>Demo footage: MEVA cafe, doors and hall cameras from the same 5-minute window, with a bag theft (report D2 answer; MEVA is CC BY 4.0, https://mevadata.org/resources/MEVA-data-license.txt).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bag as a search, small extra work: backpack, handbag and suitcase are object classes the RF-DETR detector already knows (report D6 answer).</a:t>
            </a:r>
          </a:p>
          <a:p>
            <a:r>
              <a:t>Known weakness: small bags far from the camera get missed (board, D6).</a:t>
            </a:r>
          </a:p>
          <a:p>
            <a:r>
              <a:t>An automatic left-bag alert (owner walks away, bag stays) is a separate, optional feature and is not part of the PoC (report D6 answer).</a:t>
            </a:r>
          </a:p>
          <a:p>
            <a:r>
              <a:t>The second query, "a man in a black hoodie", is an illustration; one MEVA clip in the starter set shows a man in a black hoodie wheeling a suitcase away (board D2 clip list).</a:t>
            </a:r>
          </a:p>
          <a:p>
            <a:r>
              <a:t>Demo footage: the MEVA bus-station waiting room clip with the only labelled "person abandons package" in public MEVA data, and a CAVIAR left-bag lobby clip (report D2 answer).</a:t>
            </a:r>
          </a:p>
          <a:p>
            <a:r>
              <a:t>Time saved: "under 2 minutes" is the plan's proposed success measure, not a measured result (report section 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appearance search: clothing, colours and size. It never uses face recognition (decision D5: "out of scope of course ... we need to search people based on appearance").</a:t>
            </a:r>
          </a:p>
          <a:p>
            <a:r>
              <a:t>Medium extra work over the core search: age is hard to read from a body; even trained models score F1 59-76 for "under 16" (report D6 answer; https://arxiv.org/pdf/2509.02099).</a:t>
            </a:r>
          </a:p>
          <a:p>
            <a:r>
              <a:t>So the system shows candidates, not answers, with a vision-model check and a height cue, and an officer reviews each one (board D6).</a:t>
            </a:r>
          </a:p>
          <a:p>
            <a:r>
              <a:t>The query is from the plan's mixed-Arabic example: "طفل صغير لابس جاكيت أزرق", a small child wearing a blue jacket.</a:t>
            </a:r>
          </a:p>
          <a:p>
            <a:r>
              <a:t>Time saved, our arithmetic from the plan's own example (report section 4): 50 nearby cameras for 2 hours is 100 hours of video; at 5 frames per second it is 1.8M frames, about 22 minutes on one NVIDIA L4 GPU or 6 on four, before the describe step (https://docs.nvidia.com/metropolis/deepstream/7.1/text/DS_Performance.html).</a:t>
            </a:r>
          </a:p>
          <a:p>
            <a:r>
              <a:t>Those are production estimates, not PoC measurements.</a:t>
            </a:r>
          </a:p>
          <a:p>
            <a:r>
              <a:t>Demo: no usable public CCTV footage contains children, so the demo uses an adult stand-in until a consented child scene exists (decisions D2 and D6).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search scales (report section 4): process at each site, send only a small index centrally, fetch clips on demand, and always narrow by place and time, widening camera by camera along a camera map (a camera topology graph).</a:t>
            </a:r>
          </a:p>
          <a:p>
            <a:r>
              <a:t>Following a person between cameras is an assisted, after-the-fact search: in the AI City Challenge 2025 the best after-the-fact (offline) HOTA was about 70 and the best live (online) 28.8 (https://arxiv.org/html/2508.13564v1). HOTA is a 0-100 tracking accuracy score.</a:t>
            </a:r>
          </a:p>
          <a:p>
            <a:r>
              <a:t>Index size, our arithmetic in the plan (1080p, 15 fps, H.265, about 2 Mbps, 30-day retention): 1,000 cameras keep about 650 TB of video but only about 2.6 TB of search index, about 8 Mbps to the centre.</a:t>
            </a:r>
          </a:p>
          <a:p>
            <a:r>
              <a:t>Camera names and walking times in the diagram are illustrative.</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realistic (report section 4): the PoC and a single-site pilot are realistic; a district needs a public-sector sponsor; city-wide coverage is a government programme, and we should build the search layer that plugs into one.</a:t>
            </a:r>
          </a:p>
          <a:p>
            <a:r>
              <a:t>Table detail from the board, section 4, "What is realistic, and what needs a national programme".</a:t>
            </a:r>
          </a:p>
          <a:p>
            <a:r>
              <a:t>Amman context: no published count of all cameras exists; GAM runs about 5,600 traffic cameras (https://www.jordannews.jo/Section-109/News/GAM-5-600-Traffic-Monitoring-Cameras-in-Operation-Only-25-Dedicated-to-Traffic-Violations-50992); GAM tendered about 3,100 more in Feb 2026, with categories that include facial recognition.</a:t>
            </a:r>
          </a:p>
          <a:p>
            <a:r>
              <a:t>Precedents: Dubai Oyoon has more than 300,000 cameras; Singapore more than 100,000 police cameras.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section 5, "Legal, privacy and ethics". This is not legal advice: a Jordanian lawyer should review before any pilot with real footage.</a:t>
            </a:r>
          </a:p>
          <a:p>
            <a:r>
              <a:t>No face recognition: decision D5.</a:t>
            </a:r>
          </a:p>
          <a:p>
            <a:r>
              <a:t>Lead, not proof: false matches are expected; the Robert Williams wrongful arrest and NIST's 10-100x demographic differentials in face recognition are the reasons for the design rule. Every result shows its confidence and why it matched, and is confirmed by people, two for any action.</a:t>
            </a:r>
          </a:p>
          <a:p>
            <a:r>
              <a:t>Audit: role-based access, a case number per search, an append-only audit log; the index is deleted with the footage; faces blurred in exports; a data protection impact assessment before any real-footage pilot.</a:t>
            </a:r>
          </a:p>
          <a:p>
            <a:r>
              <a:t>Data in Jordan: the PoC uses local models only, no hosted models even for testing (decision D4).</a:t>
            </a:r>
          </a:p>
          <a:p>
            <a:r>
              <a:t>Jordan PDPL No. 24 of 2023: in force since 17 Mar 2024, full compliance since 17 Mar 2025. CCTV is personal data; biometric data is sensitive; consent must be explicit and documented, or an Art. 6 exception must apply; transfers abroad are restricted (Art. 15); breaches notified within 72 hours. Official translation: https://www.modee.gov.jo/EBV4.0/Root_Storage/EN/1/PDP_Law_-_English_Version-_officail_translation.pdf</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scope (report section 6): upload about 10 short public clips, Arabic search across formal, Jordanian and Gulf phrasing, a results grid with clip, camera, place, time and why it matched, confirm or reject, a simple next-sighting timeline, and an audit log.</a:t>
            </a:r>
          </a:p>
          <a:p>
            <a:r>
              <a:t>Out of scope: live streams (D7), face recognition (D5), city scale, vehicles and voice.</a:t>
            </a:r>
          </a:p>
          <a:p>
            <a:r>
              <a:t>Where it runs (D3): one local computer. App services in Docker; the models run directly on the computer, because Docker containers there cannot use its GPU.</a:t>
            </a:r>
          </a:p>
          <a:p>
            <a:r>
              <a:t>Footage (D2, D7): recordings from public datasets, no live cameras: MEVA (Kitware and IARPA, CC BY 4.0, https://mevadata.org/resources/MEVA-data-license.txt), NVIDIA PhysicalAI-SmartSpaces synthetic store scenes (CC BY 4.0), and a CAVIAR left-bag clip (Creative Commons BY-SA). Clips are trimmed; attribution is shown in the demo.</a:t>
            </a:r>
          </a:p>
          <a:p>
            <a:r>
              <a:t>The screen on the right is an illustration from the plan's demo mock-up, not a screenshot.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Targets as proposed in the plan (report section 6), still to be agreed. Each is paired with what phase 2 measured, from the project README, section "Evaluation: phase 1 and phase 2 side by side", and its timings of the clean run.</a:t>
            </a:r>
          </a:p>
          <a:p>
            <a:r>
              <a:t>Test set: 113 queries written by us on the demo clips, 110 of them with a target (three match nobody), across formal Arabic, Jordanian, Gulf, mixed Arabic-English and English. No public benchmark covers dialect queries against images (report section 2).</a:t>
            </a:r>
          </a:p>
          <a:p>
            <a:r>
              <a:t>Top 10: the hybrid finds a correct track for 109 of 110 (99%), option A for 100 (91%). The fusion settings were tuned on the first 47 scored queries; on the 63 written afterwards the hybrid scores 98% and option A 95%, the fairer estimate.</a:t>
            </a:r>
          </a:p>
          <a:p>
            <a:r>
              <a:t>Dialect gap, measured on top-10 hit rate: hybrid Jordanian 100%, Gulf 100%, formal 100%; option A Jordanian 80% against formal 97%.</a:t>
            </a:r>
          </a:p>
          <a:p>
            <a:r>
              <a:t>3 of 5: precision at 5 is 0.51 for the hybrid's first ranking, 0.49 after the double-check, 0.44 for option A. It is capped for targets seen in fewer than 5 tracks.</a:t>
            </a:r>
          </a:p>
          <a:p>
            <a:r>
              <a:t>Indexing: the 11 starter clips (486 tracks) took 44 minutes, 36.5 of them for the vision model's attributes, against about 7 minutes without them.</a:t>
            </a:r>
          </a:p>
          <a:p>
            <a:r>
              <a:t>Speed: hybrid first results median 2.1 s, 90th percentile 2.3 s, under 5 s for 112 of 113 searches; the double-check of the top 8 adds a median 17.2 s and fills in after.</a:t>
            </a:r>
          </a:p>
          <a:p>
            <a:r>
              <a:t>Officer time per story: not measured in phase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6766560" cy="365760"/>
          </a:xfrm>
          <a:prstGeom prst="rect">
            <a:avLst/>
          </a:prstGeom>
          <a:noFill/>
        </p:spPr>
        <p:txBody>
          <a:bodyPr wrap="square" lIns="0" tIns="0" rIns="0" bIns="0" anchor="t">
            <a:noAutofit/>
          </a:bodyPr>
          <a:lstStyle/>
          <a:p>
            <a:pPr algn="l">
              <a:spcBef>
                <a:spcPts val="0"/>
              </a:spcBef>
              <a:spcAft>
                <a:spcPts val="0"/>
              </a:spcAft>
            </a:pPr>
            <a:r>
              <a:rPr sz="1400" b="1" i="0" lang="en-GB">
                <a:solidFill>
                  <a:srgbClr val="7FD1CC"/>
                </a:solidFill>
                <a:latin typeface="Aptos"/>
                <a:ea typeface="Aptos"/>
                <a:cs typeface="Dubai"/>
              </a:rPr>
              <a:t>PROOF OF CONCEPT  ·  USE CASES</a:t>
            </a:r>
          </a:p>
        </p:txBody>
      </p:sp>
      <p:sp>
        <p:nvSpPr>
          <p:cNvPr id="4" name="TextBox 3"/>
          <p:cNvSpPr txBox="1"/>
          <p:nvPr/>
        </p:nvSpPr>
        <p:spPr>
          <a:xfrm>
            <a:off x="822960" y="1554480"/>
            <a:ext cx="6949440" cy="1005840"/>
          </a:xfrm>
          <a:prstGeom prst="rect">
            <a:avLst/>
          </a:prstGeom>
          <a:noFill/>
        </p:spPr>
        <p:txBody>
          <a:bodyPr wrap="square" lIns="0" tIns="0" rIns="0" bIns="0" anchor="t">
            <a:noAutofit/>
          </a:bodyPr>
          <a:lstStyle/>
          <a:p>
            <a:pPr algn="l">
              <a:spcBef>
                <a:spcPts val="0"/>
              </a:spcBef>
              <a:spcAft>
                <a:spcPts val="0"/>
              </a:spcAft>
            </a:pPr>
            <a:r>
              <a:rPr sz="4800" b="1" i="0" lang="en-GB">
                <a:solidFill>
                  <a:srgbClr val="FFFFFF"/>
                </a:solidFill>
                <a:latin typeface="Aptos"/>
                <a:ea typeface="Aptos"/>
                <a:cs typeface="Dubai"/>
              </a:rPr>
              <a:t>Arabic AI Video Search</a:t>
            </a:r>
          </a:p>
        </p:txBody>
      </p:sp>
      <p:sp>
        <p:nvSpPr>
          <p:cNvPr id="5" name="TextBox 4"/>
          <p:cNvSpPr txBox="1"/>
          <p:nvPr/>
        </p:nvSpPr>
        <p:spPr>
          <a:xfrm>
            <a:off x="822960" y="2514600"/>
            <a:ext cx="6766560" cy="640080"/>
          </a:xfrm>
          <a:prstGeom prst="rect">
            <a:avLst/>
          </a:prstGeom>
          <a:noFill/>
        </p:spPr>
        <p:txBody>
          <a:bodyPr wrap="square" lIns="0" tIns="0" rIns="0" bIns="0" anchor="t">
            <a:noAutofit/>
          </a:bodyPr>
          <a:lstStyle/>
          <a:p>
            <a:pPr algn="l" rtl="1">
              <a:spcBef>
                <a:spcPts val="0"/>
              </a:spcBef>
              <a:spcAft>
                <a:spcPts val="0"/>
              </a:spcAft>
            </a:pPr>
            <a:r>
              <a:rPr sz="2400" b="0" i="0" lang="ar-JO">
                <a:solidFill>
                  <a:srgbClr val="BFE6E3"/>
                </a:solidFill>
                <a:latin typeface="Aptos"/>
                <a:ea typeface="Aptos"/>
                <a:cs typeface="Dubai"/>
              </a:rPr>
              <a:t>البحث الذكي في تسجيلات كاميرات المراقبة باللغة العربية</a:t>
            </a:r>
          </a:p>
        </p:txBody>
      </p:sp>
      <p:sp>
        <p:nvSpPr>
          <p:cNvPr id="6" name="TextBox 5"/>
          <p:cNvSpPr txBox="1"/>
          <p:nvPr/>
        </p:nvSpPr>
        <p:spPr>
          <a:xfrm>
            <a:off x="822960" y="3429000"/>
            <a:ext cx="6400800" cy="1280160"/>
          </a:xfrm>
          <a:prstGeom prst="rect">
            <a:avLst/>
          </a:prstGeom>
          <a:noFill/>
        </p:spPr>
        <p:txBody>
          <a:bodyPr wrap="square" lIns="0" tIns="0" rIns="0" bIns="0" anchor="t">
            <a:noAutofit/>
          </a:bodyPr>
          <a:lstStyle/>
          <a:p>
            <a:pPr algn="l">
              <a:spcBef>
                <a:spcPts val="0"/>
              </a:spcBef>
              <a:spcAft>
                <a:spcPts val="600"/>
              </a:spcAft>
            </a:pPr>
            <a:r>
              <a:rPr sz="2000" b="0" i="0" lang="en-GB">
                <a:solidFill>
                  <a:srgbClr val="FFFFFF"/>
                </a:solidFill>
                <a:latin typeface="Aptos"/>
                <a:ea typeface="Aptos"/>
                <a:cs typeface="Dubai"/>
              </a:rPr>
              <a:t>Search CCTV recordings by describing a person in Arabic.</a:t>
            </a:r>
          </a:p>
          <a:p>
            <a:pPr algn="l">
              <a:spcBef>
                <a:spcPts val="0"/>
              </a:spcBef>
              <a:spcAft>
                <a:spcPts val="0"/>
              </a:spcAft>
            </a:pPr>
            <a:r>
              <a:rPr sz="2000" b="0" i="0" lang="en-GB">
                <a:solidFill>
                  <a:srgbClr val="C9D3DD"/>
                </a:solidFill>
                <a:latin typeface="Aptos"/>
                <a:ea typeface="Aptos"/>
                <a:cs typeface="Dubai"/>
              </a:rPr>
              <a:t>How a security team would use it: a suspect, a left bag and a lost child.</a:t>
            </a:r>
          </a:p>
        </p:txBody>
      </p:sp>
      <p:sp>
        <p:nvSpPr>
          <p:cNvPr id="7" name="TextBox 6"/>
          <p:cNvSpPr txBox="1"/>
          <p:nvPr/>
        </p:nvSpPr>
        <p:spPr>
          <a:xfrm>
            <a:off x="822960" y="5897880"/>
            <a:ext cx="6400800" cy="365760"/>
          </a:xfrm>
          <a:prstGeom prst="rect">
            <a:avLst/>
          </a:prstGeom>
          <a:noFill/>
        </p:spPr>
        <p:txBody>
          <a:bodyPr wrap="square" lIns="0" tIns="0" rIns="0" bIns="0" anchor="t">
            <a:noAutofit/>
          </a:bodyPr>
          <a:lstStyle/>
          <a:p>
            <a:pPr algn="l">
              <a:spcBef>
                <a:spcPts val="0"/>
              </a:spcBef>
              <a:spcAft>
                <a:spcPts val="0"/>
              </a:spcAft>
            </a:pPr>
            <a:r>
              <a:rPr sz="1300" b="0" i="0" lang="en-GB">
                <a:solidFill>
                  <a:srgbClr val="9FB0C0"/>
                </a:solidFill>
                <a:latin typeface="Aptos"/>
                <a:ea typeface="Aptos"/>
                <a:cs typeface="Dubai"/>
              </a:rPr>
              <a:t>October 2026  ·  Discussion draft</a:t>
            </a:r>
          </a:p>
        </p:txBody>
      </p:sp>
      <p:sp>
        <p:nvSpPr>
          <p:cNvPr id="8" name="Rounded Rectangle 7"/>
          <p:cNvSpPr/>
          <p:nvPr/>
        </p:nvSpPr>
        <p:spPr>
          <a:xfrm>
            <a:off x="7726679" y="1417320"/>
            <a:ext cx="3886200" cy="86868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r" rtl="1">
              <a:spcBef>
                <a:spcPts val="0"/>
              </a:spcBef>
              <a:spcAft>
                <a:spcPts val="0"/>
              </a:spcAft>
            </a:pPr>
            <a:r>
              <a:rPr sz="2400" b="1" i="0" lang="ar-JO">
                <a:solidFill>
                  <a:srgbClr val="0F2A44"/>
                </a:solidFill>
                <a:latin typeface="Aptos"/>
                <a:ea typeface="Aptos"/>
                <a:cs typeface="Dubai"/>
              </a:rPr>
              <a:t>رجل يرتدي قميص أحمر</a:t>
            </a:r>
          </a:p>
        </p:txBody>
      </p:sp>
      <p:sp>
        <p:nvSpPr>
          <p:cNvPr id="9" name="TextBox 8"/>
          <p:cNvSpPr txBox="1"/>
          <p:nvPr/>
        </p:nvSpPr>
        <p:spPr>
          <a:xfrm>
            <a:off x="7726679" y="2350008"/>
            <a:ext cx="3886200" cy="292608"/>
          </a:xfrm>
          <a:prstGeom prst="rect">
            <a:avLst/>
          </a:prstGeom>
          <a:noFill/>
        </p:spPr>
        <p:txBody>
          <a:bodyPr wrap="square" lIns="0" tIns="0" rIns="0" bIns="0" anchor="t">
            <a:noAutofit/>
          </a:bodyPr>
          <a:lstStyle/>
          <a:p>
            <a:pPr algn="r">
              <a:spcBef>
                <a:spcPts val="0"/>
              </a:spcBef>
              <a:spcAft>
                <a:spcPts val="0"/>
              </a:spcAft>
            </a:pPr>
            <a:r>
              <a:rPr sz="1300" b="0" i="1" lang="en-GB">
                <a:solidFill>
                  <a:srgbClr val="C9D3DD"/>
                </a:solidFill>
                <a:latin typeface="Aptos"/>
                <a:ea typeface="Aptos"/>
                <a:cs typeface="Dubai"/>
              </a:rPr>
              <a:t>"a man wearing a red shirt"</a:t>
            </a:r>
          </a:p>
        </p:txBody>
      </p:sp>
      <p:sp>
        <p:nvSpPr>
          <p:cNvPr id="10" name="Rectangle 9"/>
          <p:cNvSpPr/>
          <p:nvPr/>
        </p:nvSpPr>
        <p:spPr>
          <a:xfrm>
            <a:off x="772667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2667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4615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984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094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1438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87659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6800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1971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243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6099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8154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  14:02:17</a:t>
            </a:r>
          </a:p>
        </p:txBody>
      </p:sp>
      <p:sp>
        <p:nvSpPr>
          <p:cNvPr id="22" name="TextBox 21"/>
          <p:cNvSpPr txBox="1"/>
          <p:nvPr/>
        </p:nvSpPr>
        <p:spPr>
          <a:xfrm>
            <a:off x="772667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Main entrance</a:t>
            </a:r>
          </a:p>
        </p:txBody>
      </p:sp>
      <p:sp>
        <p:nvSpPr>
          <p:cNvPr id="23" name="Rectangle 22"/>
          <p:cNvSpPr/>
          <p:nvPr/>
        </p:nvSpPr>
        <p:spPr>
          <a:xfrm>
            <a:off x="973835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73835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783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7152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01262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2606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88827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77968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3139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97411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117267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9322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  14:05:40</a:t>
            </a:r>
          </a:p>
        </p:txBody>
      </p:sp>
      <p:sp>
        <p:nvSpPr>
          <p:cNvPr id="35" name="TextBox 34"/>
          <p:cNvSpPr txBox="1"/>
          <p:nvPr/>
        </p:nvSpPr>
        <p:spPr>
          <a:xfrm>
            <a:off x="973835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Food court</a:t>
            </a:r>
          </a:p>
        </p:txBody>
      </p:sp>
      <p:sp>
        <p:nvSpPr>
          <p:cNvPr id="36" name="Rounded Rectangle 35"/>
          <p:cNvSpPr/>
          <p:nvPr/>
        </p:nvSpPr>
        <p:spPr>
          <a:xfrm>
            <a:off x="7726679" y="4709160"/>
            <a:ext cx="3886200" cy="548640"/>
          </a:xfrm>
          <a:prstGeom prst="roundRect">
            <a:avLst>
              <a:gd name="adj" fmla="val 20000"/>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ctr">
              <a:spcBef>
                <a:spcPts val="0"/>
              </a:spcBef>
              <a:spcAft>
                <a:spcPts val="0"/>
              </a:spcAft>
            </a:pPr>
            <a:r>
              <a:rPr sz="1400" b="1" i="0" lang="en-GB">
                <a:solidFill>
                  <a:srgbClr val="FFFFFF"/>
                </a:solidFill>
                <a:latin typeface="Aptos"/>
                <a:ea typeface="Aptos"/>
                <a:cs typeface="Dubai"/>
              </a:rPr>
              <a:t>A person confirms every match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2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PROBLEM</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المشكلة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After an incident, the answer sits in hours of footage from many cameras, searched by hand</a:t>
            </a:r>
          </a:p>
        </p:txBody>
      </p:sp>
      <p:sp>
        <p:nvSpPr>
          <p:cNvPr id="9" name="Rectangle 8"/>
          <p:cNvSpPr/>
          <p:nvPr/>
        </p:nvSpPr>
        <p:spPr>
          <a:xfrm>
            <a:off x="5486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0953" y="2152497"/>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6226" y="2261951"/>
            <a:ext cx="208483" cy="208483"/>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286" y="2454798"/>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04213" y="2506919"/>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CAM-01</a:t>
            </a:r>
          </a:p>
        </p:txBody>
      </p:sp>
      <p:sp>
        <p:nvSpPr>
          <p:cNvPr id="16" name="Rectangle 15"/>
          <p:cNvSpPr/>
          <p:nvPr/>
        </p:nvSpPr>
        <p:spPr>
          <a:xfrm>
            <a:off x="19202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202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104" y="2065629"/>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7256" y="2193325"/>
            <a:ext cx="243230" cy="243230"/>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87660" y="2418313"/>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71575" y="2479121"/>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751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a:t>
            </a:r>
          </a:p>
        </p:txBody>
      </p:sp>
      <p:sp>
        <p:nvSpPr>
          <p:cNvPr id="23" name="Rectangle 22"/>
          <p:cNvSpPr/>
          <p:nvPr/>
        </p:nvSpPr>
        <p:spPr>
          <a:xfrm>
            <a:off x="32918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918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67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a:t>
            </a:r>
          </a:p>
        </p:txBody>
      </p:sp>
      <p:sp>
        <p:nvSpPr>
          <p:cNvPr id="26" name="Rectangle 25"/>
          <p:cNvSpPr/>
          <p:nvPr/>
        </p:nvSpPr>
        <p:spPr>
          <a:xfrm>
            <a:off x="46634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634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07664" y="2195931"/>
            <a:ext cx="90777" cy="9077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857498" y="2296264"/>
            <a:ext cx="191109" cy="191109"/>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81387" y="2473040"/>
            <a:ext cx="143332" cy="20066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7320" y="2520817"/>
            <a:ext cx="11466" cy="15288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2500" y="2135124"/>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25949" y="2248226"/>
            <a:ext cx="215432" cy="215432"/>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52878" y="2447501"/>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27202" y="2501359"/>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83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CAM-04</a:t>
            </a:r>
          </a:p>
        </p:txBody>
      </p:sp>
      <p:sp>
        <p:nvSpPr>
          <p:cNvPr id="37" name="Rectangle 36"/>
          <p:cNvSpPr/>
          <p:nvPr/>
        </p:nvSpPr>
        <p:spPr>
          <a:xfrm>
            <a:off x="5486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9321" y="3078784"/>
            <a:ext cx="108932" cy="108932"/>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59122" y="3199183"/>
            <a:ext cx="229331" cy="229331"/>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87788" y="3411315"/>
            <a:ext cx="171998" cy="2407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66907" y="3468648"/>
            <a:ext cx="13759" cy="18346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CAM-05</a:t>
            </a:r>
          </a:p>
        </p:txBody>
      </p:sp>
      <p:sp>
        <p:nvSpPr>
          <p:cNvPr id="44" name="Rectangle 43"/>
          <p:cNvSpPr/>
          <p:nvPr/>
        </p:nvSpPr>
        <p:spPr>
          <a:xfrm>
            <a:off x="19202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202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90405" y="3217773"/>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4800" y="3308984"/>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66517" y="3469690"/>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826456" y="3513124"/>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751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CAM-06</a:t>
            </a:r>
          </a:p>
        </p:txBody>
      </p:sp>
      <p:sp>
        <p:nvSpPr>
          <p:cNvPr id="51" name="Rectangle 50"/>
          <p:cNvSpPr/>
          <p:nvPr/>
        </p:nvSpPr>
        <p:spPr>
          <a:xfrm>
            <a:off x="32918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2918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40330" y="3044037"/>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676482" y="3171733"/>
            <a:ext cx="243230" cy="24323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706886" y="3396721"/>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790800" y="3457529"/>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907551" y="3348075"/>
            <a:ext cx="103372" cy="121615"/>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a:t>
            </a:r>
          </a:p>
        </p:txBody>
      </p:sp>
      <p:sp>
        <p:nvSpPr>
          <p:cNvPr id="59" name="Rectangle 58"/>
          <p:cNvSpPr/>
          <p:nvPr/>
        </p:nvSpPr>
        <p:spPr>
          <a:xfrm>
            <a:off x="46634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34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183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CAM-08</a:t>
            </a:r>
          </a:p>
        </p:txBody>
      </p:sp>
      <p:sp>
        <p:nvSpPr>
          <p:cNvPr id="62" name="Rectangle 61"/>
          <p:cNvSpPr/>
          <p:nvPr/>
        </p:nvSpPr>
        <p:spPr>
          <a:xfrm>
            <a:off x="5486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86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34766" y="4109313"/>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80039" y="4218767"/>
            <a:ext cx="208483" cy="208483"/>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06099" y="4411614"/>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78026" y="4463735"/>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92618" y="4196181"/>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247013" y="4287393"/>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68730" y="4448098"/>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28668" y="4491532"/>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35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CAM-09</a:t>
            </a:r>
          </a:p>
        </p:txBody>
      </p:sp>
      <p:sp>
        <p:nvSpPr>
          <p:cNvPr id="73" name="Rectangle 72"/>
          <p:cNvSpPr/>
          <p:nvPr/>
        </p:nvSpPr>
        <p:spPr>
          <a:xfrm>
            <a:off x="19202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9202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556013" y="4039819"/>
            <a:ext cx="112233" cy="11223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93989" y="4163866"/>
            <a:ext cx="236280" cy="23628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523524" y="4382426"/>
            <a:ext cx="177210" cy="24809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605041" y="4441496"/>
            <a:ext cx="14176" cy="18902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751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CAM-10</a:t>
            </a:r>
          </a:p>
        </p:txBody>
      </p:sp>
      <p:sp>
        <p:nvSpPr>
          <p:cNvPr id="80" name="Rectangle 79"/>
          <p:cNvSpPr/>
          <p:nvPr/>
        </p:nvSpPr>
        <p:spPr>
          <a:xfrm>
            <a:off x="32918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2918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467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CAM-11</a:t>
            </a:r>
          </a:p>
        </p:txBody>
      </p:sp>
      <p:sp>
        <p:nvSpPr>
          <p:cNvPr id="83" name="Rectangle 82"/>
          <p:cNvSpPr/>
          <p:nvPr/>
        </p:nvSpPr>
        <p:spPr>
          <a:xfrm>
            <a:off x="46634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34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040844" y="4091939"/>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984293" y="4205042"/>
            <a:ext cx="215432" cy="21543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011222" y="4404317"/>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085547" y="4458175"/>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7183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CAM-12</a:t>
            </a:r>
          </a:p>
        </p:txBody>
      </p:sp>
      <p:sp>
        <p:nvSpPr>
          <p:cNvPr id="90" name="TextBox 89"/>
          <p:cNvSpPr txBox="1"/>
          <p:nvPr/>
        </p:nvSpPr>
        <p:spPr>
          <a:xfrm>
            <a:off x="548640" y="4855464"/>
            <a:ext cx="5376672" cy="548640"/>
          </a:xfrm>
          <a:prstGeom prst="rect">
            <a:avLst/>
          </a:prstGeom>
          <a:noFill/>
        </p:spPr>
        <p:txBody>
          <a:bodyPr wrap="square" lIns="0" tIns="0" rIns="0" bIns="0" anchor="t">
            <a:noAutofit/>
          </a:bodyPr>
          <a:lstStyle/>
          <a:p>
            <a:pPr algn="l">
              <a:spcBef>
                <a:spcPts val="0"/>
              </a:spcBef>
              <a:spcAft>
                <a:spcPts val="0"/>
              </a:spcAft>
            </a:pPr>
            <a:r>
              <a:rPr sz="1300" b="0" i="1" lang="en-GB">
                <a:solidFill>
                  <a:srgbClr val="5B6573"/>
                </a:solidFill>
                <a:latin typeface="Aptos"/>
                <a:ea typeface="Aptos"/>
                <a:cs typeface="Dubai"/>
              </a:rPr>
              <a:t>Each camera's recording is scrubbed in turn, for the whole time window.</a:t>
            </a:r>
          </a:p>
        </p:txBody>
      </p:sp>
      <p:sp>
        <p:nvSpPr>
          <p:cNvPr id="91" name="Oval 90"/>
          <p:cNvSpPr/>
          <p:nvPr/>
        </p:nvSpPr>
        <p:spPr>
          <a:xfrm>
            <a:off x="6263640" y="1892807"/>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92" name="TextBox 91"/>
          <p:cNvSpPr txBox="1"/>
          <p:nvPr/>
        </p:nvSpPr>
        <p:spPr>
          <a:xfrm>
            <a:off x="6812279" y="1874519"/>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Many cameras, one description</a:t>
            </a:r>
          </a:p>
          <a:p>
            <a:pPr algn="l">
              <a:spcBef>
                <a:spcPts val="0"/>
              </a:spcBef>
              <a:spcAft>
                <a:spcPts val="0"/>
              </a:spcAft>
            </a:pPr>
            <a:r>
              <a:rPr sz="1500" b="0" i="0" lang="en-GB">
                <a:solidFill>
                  <a:srgbClr val="1F2937"/>
                </a:solidFill>
                <a:latin typeface="Aptos"/>
                <a:ea typeface="Aptos"/>
                <a:cs typeface="Dubai"/>
              </a:rPr>
              <a:t>A witness or a parent describes a person. Staff then play back camera after camera, looking for that person.</a:t>
            </a:r>
          </a:p>
        </p:txBody>
      </p:sp>
      <p:sp>
        <p:nvSpPr>
          <p:cNvPr id="93" name="Oval 92"/>
          <p:cNvSpPr/>
          <p:nvPr/>
        </p:nvSpPr>
        <p:spPr>
          <a:xfrm>
            <a:off x="6263640" y="312724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94" name="TextBox 93"/>
          <p:cNvSpPr txBox="1"/>
          <p:nvPr/>
        </p:nvSpPr>
        <p:spPr>
          <a:xfrm>
            <a:off x="6812279" y="310896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work grows with every camera and hour</a:t>
            </a:r>
          </a:p>
          <a:p>
            <a:pPr algn="l">
              <a:spcBef>
                <a:spcPts val="0"/>
              </a:spcBef>
              <a:spcAft>
                <a:spcPts val="0"/>
              </a:spcAft>
            </a:pPr>
            <a:r>
              <a:rPr sz="1500" b="0" i="0" lang="en-GB">
                <a:solidFill>
                  <a:srgbClr val="1F2937"/>
                </a:solidFill>
                <a:latin typeface="Aptos"/>
                <a:ea typeface="Aptos"/>
                <a:cs typeface="Dubai"/>
              </a:rPr>
              <a:t>A lost-child case covering </a:t>
            </a:r>
            <a:r>
              <a:rPr sz="1500" b="1" i="0" lang="en-GB">
                <a:solidFill>
                  <a:srgbClr val="1F2937"/>
                </a:solidFill>
                <a:latin typeface="Aptos"/>
                <a:ea typeface="Aptos"/>
                <a:cs typeface="Dubai"/>
              </a:rPr>
              <a:t>50 nearby cameras for 2 hours</a:t>
            </a:r>
            <a:r>
              <a:rPr sz="1500" b="0" i="0" lang="en-GB">
                <a:solidFill>
                  <a:srgbClr val="1F2937"/>
                </a:solidFill>
                <a:latin typeface="Aptos"/>
                <a:ea typeface="Aptos"/>
                <a:cs typeface="Dubai"/>
              </a:rPr>
              <a:t> is </a:t>
            </a:r>
            <a:r>
              <a:rPr sz="1500" b="1" i="0" lang="en-GB">
                <a:solidFill>
                  <a:srgbClr val="0E7C7B"/>
                </a:solidFill>
                <a:latin typeface="Aptos"/>
                <a:ea typeface="Aptos"/>
                <a:cs typeface="Dubai"/>
              </a:rPr>
              <a:t>100 hours of video</a:t>
            </a:r>
            <a:r>
              <a:rPr sz="1500" b="0" i="0" lang="en-GB">
                <a:solidFill>
                  <a:srgbClr val="1F2937"/>
                </a:solidFill>
                <a:latin typeface="Aptos"/>
                <a:ea typeface="Aptos"/>
                <a:cs typeface="Dubai"/>
              </a:rPr>
              <a:t> to watch.</a:t>
            </a:r>
          </a:p>
        </p:txBody>
      </p:sp>
      <p:sp>
        <p:nvSpPr>
          <p:cNvPr id="95" name="Oval 94"/>
          <p:cNvSpPr/>
          <p:nvPr/>
        </p:nvSpPr>
        <p:spPr>
          <a:xfrm>
            <a:off x="6263640" y="43616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96" name="TextBox 95"/>
          <p:cNvSpPr txBox="1"/>
          <p:nvPr/>
        </p:nvSpPr>
        <p:spPr>
          <a:xfrm>
            <a:off x="6812279" y="434340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tools that understand descriptions work in English</a:t>
            </a:r>
          </a:p>
          <a:p>
            <a:pPr algn="l">
              <a:spcBef>
                <a:spcPts val="0"/>
              </a:spcBef>
              <a:spcAft>
                <a:spcPts val="0"/>
              </a:spcAft>
            </a:pPr>
            <a:r>
              <a:rPr sz="1500" b="0" i="0" lang="en-GB">
                <a:solidFill>
                  <a:srgbClr val="1F2937"/>
                </a:solidFill>
                <a:latin typeface="Aptos"/>
                <a:ea typeface="Aptos"/>
                <a:cs typeface="Dubai"/>
              </a:rPr>
              <a:t>The closest open design, NVIDIA's video-search blueprint, works in English only, and no public test covers Jordanian Arabic.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3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WHAT THE SYSTEM DOES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ماذا يفعل النظام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Type a description in Arabic. Get the matching clips, with camera, place and time.</a:t>
            </a:r>
          </a:p>
        </p:txBody>
      </p:sp>
      <p:sp>
        <p:nvSpPr>
          <p:cNvPr id="9" name="Oval 8"/>
          <p:cNvSpPr/>
          <p:nvPr/>
        </p:nvSpPr>
        <p:spPr>
          <a:xfrm>
            <a:off x="54864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6070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Type</a:t>
            </a:r>
          </a:p>
        </p:txBody>
      </p:sp>
      <p:sp>
        <p:nvSpPr>
          <p:cNvPr id="11" name="TextBox 10"/>
          <p:cNvSpPr txBox="1"/>
          <p:nvPr/>
        </p:nvSpPr>
        <p:spPr>
          <a:xfrm>
            <a:off x="106070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اكتب الوصف</a:t>
            </a:r>
          </a:p>
        </p:txBody>
      </p:sp>
      <p:sp>
        <p:nvSpPr>
          <p:cNvPr id="12" name="Chevron 11"/>
          <p:cNvSpPr/>
          <p:nvPr/>
        </p:nvSpPr>
        <p:spPr>
          <a:xfrm>
            <a:off x="249631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8036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4" name="TextBox 13"/>
          <p:cNvSpPr txBox="1"/>
          <p:nvPr/>
        </p:nvSpPr>
        <p:spPr>
          <a:xfrm>
            <a:off x="339242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Understand</a:t>
            </a:r>
          </a:p>
        </p:txBody>
      </p:sp>
      <p:sp>
        <p:nvSpPr>
          <p:cNvPr id="15" name="TextBox 14"/>
          <p:cNvSpPr txBox="1"/>
          <p:nvPr/>
        </p:nvSpPr>
        <p:spPr>
          <a:xfrm>
            <a:off x="339242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فهم الوصف</a:t>
            </a:r>
          </a:p>
        </p:txBody>
      </p:sp>
      <p:sp>
        <p:nvSpPr>
          <p:cNvPr id="16" name="Chevron 15"/>
          <p:cNvSpPr/>
          <p:nvPr/>
        </p:nvSpPr>
        <p:spPr>
          <a:xfrm>
            <a:off x="482803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1208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8" name="TextBox 17"/>
          <p:cNvSpPr txBox="1"/>
          <p:nvPr/>
        </p:nvSpPr>
        <p:spPr>
          <a:xfrm>
            <a:off x="572414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Search</a:t>
            </a:r>
          </a:p>
        </p:txBody>
      </p:sp>
      <p:sp>
        <p:nvSpPr>
          <p:cNvPr id="19" name="TextBox 18"/>
          <p:cNvSpPr txBox="1"/>
          <p:nvPr/>
        </p:nvSpPr>
        <p:spPr>
          <a:xfrm>
            <a:off x="572414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البحث</a:t>
            </a:r>
          </a:p>
        </p:txBody>
      </p:sp>
      <p:sp>
        <p:nvSpPr>
          <p:cNvPr id="20" name="Chevron 19"/>
          <p:cNvSpPr/>
          <p:nvPr/>
        </p:nvSpPr>
        <p:spPr>
          <a:xfrm>
            <a:off x="715975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4380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22" name="TextBox 21"/>
          <p:cNvSpPr txBox="1"/>
          <p:nvPr/>
        </p:nvSpPr>
        <p:spPr>
          <a:xfrm>
            <a:off x="805586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Results</a:t>
            </a:r>
          </a:p>
        </p:txBody>
      </p:sp>
      <p:sp>
        <p:nvSpPr>
          <p:cNvPr id="23" name="TextBox 22"/>
          <p:cNvSpPr txBox="1"/>
          <p:nvPr/>
        </p:nvSpPr>
        <p:spPr>
          <a:xfrm>
            <a:off x="805586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النتائج</a:t>
            </a:r>
          </a:p>
        </p:txBody>
      </p:sp>
      <p:sp>
        <p:nvSpPr>
          <p:cNvPr id="24" name="Chevron 23"/>
          <p:cNvSpPr/>
          <p:nvPr/>
        </p:nvSpPr>
        <p:spPr>
          <a:xfrm>
            <a:off x="949147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75520" y="1828800"/>
            <a:ext cx="420624" cy="420624"/>
          </a:xfrm>
          <a:prstGeom prst="ellipse">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5</a:t>
            </a:r>
          </a:p>
        </p:txBody>
      </p:sp>
      <p:sp>
        <p:nvSpPr>
          <p:cNvPr id="26" name="TextBox 25"/>
          <p:cNvSpPr txBox="1"/>
          <p:nvPr/>
        </p:nvSpPr>
        <p:spPr>
          <a:xfrm>
            <a:off x="1038758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Confirm</a:t>
            </a:r>
          </a:p>
        </p:txBody>
      </p:sp>
      <p:sp>
        <p:nvSpPr>
          <p:cNvPr id="27" name="TextBox 26"/>
          <p:cNvSpPr txBox="1"/>
          <p:nvPr/>
        </p:nvSpPr>
        <p:spPr>
          <a:xfrm>
            <a:off x="1038758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التأكيد</a:t>
            </a:r>
          </a:p>
        </p:txBody>
      </p:sp>
      <p:sp>
        <p:nvSpPr>
          <p:cNvPr id="28" name="Rounded Rectangle 27"/>
          <p:cNvSpPr/>
          <p:nvPr/>
        </p:nvSpPr>
        <p:spPr>
          <a:xfrm>
            <a:off x="548640" y="2514600"/>
            <a:ext cx="1920240" cy="1005840"/>
          </a:xfrm>
          <a:prstGeom prst="roundRect">
            <a:avLst>
              <a:gd name="adj" fmla="val 15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rtl="1">
              <a:spcBef>
                <a:spcPts val="0"/>
              </a:spcBef>
              <a:spcAft>
                <a:spcPts val="0"/>
              </a:spcAft>
            </a:pPr>
            <a:r>
              <a:rPr sz="1400" b="1" i="0" lang="ar-JO">
                <a:solidFill>
                  <a:srgbClr val="0F2A44"/>
                </a:solidFill>
                <a:latin typeface="Aptos"/>
                <a:ea typeface="Aptos"/>
                <a:cs typeface="Dubai"/>
              </a:rPr>
              <a:t>رجل يرتدي قميص أحمر</a:t>
            </a:r>
          </a:p>
        </p:txBody>
      </p:sp>
      <p:sp>
        <p:nvSpPr>
          <p:cNvPr id="29" name="TextBox 28"/>
          <p:cNvSpPr txBox="1"/>
          <p:nvPr/>
        </p:nvSpPr>
        <p:spPr>
          <a:xfrm>
            <a:off x="548640" y="3593591"/>
            <a:ext cx="1920240" cy="54864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"a man wearing a red shirt", in formal Arabic or dialect</a:t>
            </a:r>
          </a:p>
        </p:txBody>
      </p:sp>
      <p:sp>
        <p:nvSpPr>
          <p:cNvPr id="30" name="Rounded Rectangle 29"/>
          <p:cNvSpPr/>
          <p:nvPr/>
        </p:nvSpPr>
        <p:spPr>
          <a:xfrm>
            <a:off x="2880360" y="2514600"/>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رجل</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man</a:t>
            </a:r>
          </a:p>
        </p:txBody>
      </p:sp>
      <p:sp>
        <p:nvSpPr>
          <p:cNvPr id="31" name="Rounded Rectangle 30"/>
          <p:cNvSpPr/>
          <p:nvPr/>
        </p:nvSpPr>
        <p:spPr>
          <a:xfrm>
            <a:off x="2880360" y="3081528"/>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قميص أحمر</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red shirt</a:t>
            </a:r>
          </a:p>
        </p:txBody>
      </p:sp>
      <p:sp>
        <p:nvSpPr>
          <p:cNvPr id="32" name="TextBox 31"/>
          <p:cNvSpPr txBox="1"/>
          <p:nvPr/>
        </p:nvSpPr>
        <p:spPr>
          <a:xfrm>
            <a:off x="288036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local language model turns the words, including dialect, into clear fields and plain English.</a:t>
            </a:r>
          </a:p>
        </p:txBody>
      </p:sp>
      <p:sp>
        <p:nvSpPr>
          <p:cNvPr id="33" name="Rectangle 32"/>
          <p:cNvSpPr/>
          <p:nvPr/>
        </p:nvSpPr>
        <p:spPr>
          <a:xfrm>
            <a:off x="5298033"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57800"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rapezoid 34"/>
          <p:cNvSpPr/>
          <p:nvPr/>
        </p:nvSpPr>
        <p:spPr>
          <a:xfrm rot="5400000">
            <a:off x="5629960"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19825"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879592"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rapezoid 37"/>
          <p:cNvSpPr/>
          <p:nvPr/>
        </p:nvSpPr>
        <p:spPr>
          <a:xfrm rot="5400000">
            <a:off x="6251752"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41617" y="2624328"/>
            <a:ext cx="50292" cy="160934"/>
          </a:xfrm>
          <a:prstGeom prst="rect">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501384" y="2755087"/>
            <a:ext cx="392277" cy="191109"/>
          </a:xfrm>
          <a:prstGeom prst="roundRect">
            <a:avLst>
              <a:gd name="adj" fmla="val 25000"/>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rapezoid 40"/>
          <p:cNvSpPr/>
          <p:nvPr/>
        </p:nvSpPr>
        <p:spPr>
          <a:xfrm rot="5400000">
            <a:off x="6873544" y="2765145"/>
            <a:ext cx="130759" cy="170992"/>
          </a:xfrm>
          <a:prstGeom prst="trapezoid">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0" y="3200400"/>
            <a:ext cx="1920240" cy="438912"/>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200" b="0" i="0" lang="en-GB">
                <a:solidFill>
                  <a:srgbClr val="0F2A44"/>
                </a:solidFill>
                <a:latin typeface="Aptos"/>
                <a:ea typeface="Aptos"/>
                <a:cs typeface="Dubai"/>
              </a:rPr>
              <a:t>8 cameras · 13:00-15:00</a:t>
            </a:r>
          </a:p>
        </p:txBody>
      </p:sp>
      <p:sp>
        <p:nvSpPr>
          <p:cNvPr id="43" name="TextBox 42"/>
          <p:cNvSpPr txBox="1"/>
          <p:nvPr/>
        </p:nvSpPr>
        <p:spPr>
          <a:xfrm>
            <a:off x="521208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Only the cameras and hours that matter are searched, in a catalogue of every person already seen.</a:t>
            </a:r>
          </a:p>
        </p:txBody>
      </p:sp>
      <p:sp>
        <p:nvSpPr>
          <p:cNvPr id="44" name="Rectangle 43"/>
          <p:cNvSpPr/>
          <p:nvPr/>
        </p:nvSpPr>
        <p:spPr>
          <a:xfrm>
            <a:off x="7543800" y="251460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43800" y="285475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827446" y="258043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781361" y="267260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03306" y="283500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63876" y="287889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94192" y="253288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CAM-03</a:t>
            </a:r>
          </a:p>
          <a:p>
            <a:pPr algn="l">
              <a:spcBef>
                <a:spcPts val="0"/>
              </a:spcBef>
              <a:spcAft>
                <a:spcPts val="0"/>
              </a:spcAft>
            </a:pPr>
            <a:r>
              <a:rPr sz="1100" b="0" i="0" lang="en-GB">
                <a:solidFill>
                  <a:srgbClr val="5B6573"/>
                </a:solidFill>
                <a:latin typeface="Aptos"/>
                <a:ea typeface="Aptos"/>
                <a:cs typeface="Dubai"/>
              </a:rPr>
              <a:t>Entrance · 14:02</a:t>
            </a:r>
          </a:p>
        </p:txBody>
      </p:sp>
      <p:sp>
        <p:nvSpPr>
          <p:cNvPr id="51" name="Rectangle 50"/>
          <p:cNvSpPr/>
          <p:nvPr/>
        </p:nvSpPr>
        <p:spPr>
          <a:xfrm>
            <a:off x="7543800" y="315468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43800" y="349483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827446" y="322051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7781361" y="331268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803306" y="347508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76" y="351897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94192" y="317296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CAM-07</a:t>
            </a:r>
          </a:p>
          <a:p>
            <a:pPr algn="l">
              <a:spcBef>
                <a:spcPts val="0"/>
              </a:spcBef>
              <a:spcAft>
                <a:spcPts val="0"/>
              </a:spcAft>
            </a:pPr>
            <a:r>
              <a:rPr sz="1100" b="0" i="0" lang="en-GB">
                <a:solidFill>
                  <a:srgbClr val="5B6573"/>
                </a:solidFill>
                <a:latin typeface="Aptos"/>
                <a:ea typeface="Aptos"/>
                <a:cs typeface="Dubai"/>
              </a:rPr>
              <a:t>Food court · 14:05</a:t>
            </a:r>
          </a:p>
        </p:txBody>
      </p:sp>
      <p:sp>
        <p:nvSpPr>
          <p:cNvPr id="58" name="TextBox 57"/>
          <p:cNvSpPr txBox="1"/>
          <p:nvPr/>
        </p:nvSpPr>
        <p:spPr>
          <a:xfrm>
            <a:off x="7543800" y="385876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Short clips, ranked, each with camera, place, time and why it matched.</a:t>
            </a:r>
          </a:p>
        </p:txBody>
      </p:sp>
      <p:sp>
        <p:nvSpPr>
          <p:cNvPr id="59" name="Rounded Rectangle 58"/>
          <p:cNvSpPr/>
          <p:nvPr/>
        </p:nvSpPr>
        <p:spPr>
          <a:xfrm>
            <a:off x="9875520" y="2514600"/>
            <a:ext cx="178308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0E7C7B"/>
                </a:solidFill>
                <a:latin typeface="Aptos"/>
                <a:ea typeface="Aptos"/>
                <a:cs typeface="Dubai"/>
              </a:rPr>
              <a:t>✓  Confirm</a:t>
            </a:r>
          </a:p>
        </p:txBody>
      </p:sp>
      <p:sp>
        <p:nvSpPr>
          <p:cNvPr id="60" name="Rounded Rectangle 59"/>
          <p:cNvSpPr/>
          <p:nvPr/>
        </p:nvSpPr>
        <p:spPr>
          <a:xfrm>
            <a:off x="9875520" y="3081528"/>
            <a:ext cx="1783080" cy="45720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B45F06"/>
                </a:solidFill>
                <a:latin typeface="Aptos"/>
                <a:ea typeface="Aptos"/>
                <a:cs typeface="Dubai"/>
              </a:rPr>
              <a:t>✕  Reject</a:t>
            </a:r>
          </a:p>
        </p:txBody>
      </p:sp>
      <p:sp>
        <p:nvSpPr>
          <p:cNvPr id="61" name="TextBox 60"/>
          <p:cNvSpPr txBox="1"/>
          <p:nvPr/>
        </p:nvSpPr>
        <p:spPr>
          <a:xfrm>
            <a:off x="9875520" y="3721608"/>
            <a:ext cx="178308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person decides. Every result is a lead, not proof, and every search is logged.</a:t>
            </a:r>
          </a:p>
        </p:txBody>
      </p:sp>
      <p:sp>
        <p:nvSpPr>
          <p:cNvPr id="62" name="Rounded Rectangle 61"/>
          <p:cNvSpPr/>
          <p:nvPr/>
        </p:nvSpPr>
        <p:spPr>
          <a:xfrm>
            <a:off x="548640" y="4892040"/>
            <a:ext cx="11091672" cy="777240"/>
          </a:xfrm>
          <a:prstGeom prst="roundRect">
            <a:avLst>
              <a:gd name="adj" fmla="val 1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l">
              <a:spcBef>
                <a:spcPts val="0"/>
              </a:spcBef>
              <a:spcAft>
                <a:spcPts val="0"/>
              </a:spcAft>
            </a:pPr>
            <a:r>
              <a:rPr sz="1400" b="1" i="0" lang="en-GB">
                <a:solidFill>
                  <a:srgbClr val="0F2A44"/>
                </a:solidFill>
                <a:latin typeface="Aptos"/>
                <a:ea typeface="Aptos"/>
                <a:cs typeface="Dubai"/>
              </a:rPr>
              <a:t>Underneath: </a:t>
            </a:r>
            <a:r>
              <a:rPr sz="1400" b="0" i="0" lang="en-GB">
                <a:solidFill>
                  <a:srgbClr val="1F2937"/>
                </a:solidFill>
                <a:latin typeface="Aptos"/>
                <a:ea typeface="Aptos"/>
                <a:cs typeface="Dubai"/>
              </a:rPr>
              <a:t>each recording is first turned into a catalogue of every person seen, with clothing, colours and bags, camera, place and time. A query searches that catalogue and jumps to the right second of video.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4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THREE STORIES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ثلاث حالات استخدام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One search engine, three ways a security team would use it</a:t>
            </a:r>
          </a:p>
        </p:txBody>
      </p:sp>
      <p:sp>
        <p:nvSpPr>
          <p:cNvPr id="9" name="Rounded Rectangle 8"/>
          <p:cNvSpPr/>
          <p:nvPr/>
        </p:nvSpPr>
        <p:spPr>
          <a:xfrm>
            <a:off x="548640"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56171"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28187" y="2124087"/>
            <a:ext cx="487558" cy="48755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89132"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57339"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1367" y="2477566"/>
            <a:ext cx="207212" cy="243779"/>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3"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1</a:t>
            </a:r>
          </a:p>
        </p:txBody>
      </p:sp>
      <p:sp>
        <p:nvSpPr>
          <p:cNvPr id="18" name="TextBox 17"/>
          <p:cNvSpPr txBox="1"/>
          <p:nvPr/>
        </p:nvSpPr>
        <p:spPr>
          <a:xfrm>
            <a:off x="777240"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suspect</a:t>
            </a:r>
          </a:p>
        </p:txBody>
      </p:sp>
      <p:sp>
        <p:nvSpPr>
          <p:cNvPr id="19" name="TextBox 18"/>
          <p:cNvSpPr txBox="1"/>
          <p:nvPr/>
        </p:nvSpPr>
        <p:spPr>
          <a:xfrm>
            <a:off x="777240"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مشتبه به</a:t>
            </a:r>
          </a:p>
        </p:txBody>
      </p:sp>
      <p:sp>
        <p:nvSpPr>
          <p:cNvPr id="20" name="TextBox 19"/>
          <p:cNvSpPr txBox="1"/>
          <p:nvPr/>
        </p:nvSpPr>
        <p:spPr>
          <a:xfrm>
            <a:off x="777240"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witness description, find the person across a site's cameras.</a:t>
            </a:r>
          </a:p>
        </p:txBody>
      </p:sp>
      <p:sp>
        <p:nvSpPr>
          <p:cNvPr id="21" name="Rounded Rectangle 20"/>
          <p:cNvSpPr/>
          <p:nvPr/>
        </p:nvSpPr>
        <p:spPr>
          <a:xfrm>
            <a:off x="777240"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زلمة لابس بلوزة حمرا ومعه شنطة سودا</a:t>
            </a:r>
          </a:p>
        </p:txBody>
      </p:sp>
      <p:sp>
        <p:nvSpPr>
          <p:cNvPr id="22" name="TextBox 21"/>
          <p:cNvSpPr txBox="1"/>
          <p:nvPr/>
        </p:nvSpPr>
        <p:spPr>
          <a:xfrm>
            <a:off x="777240"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Investigations · malls · tourist areas</a:t>
            </a:r>
          </a:p>
        </p:txBody>
      </p:sp>
      <p:sp>
        <p:nvSpPr>
          <p:cNvPr id="23" name="Rounded Rectangle 22"/>
          <p:cNvSpPr/>
          <p:nvPr/>
        </p:nvSpPr>
        <p:spPr>
          <a:xfrm>
            <a:off x="4334255"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5"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5"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175257" y="1896465"/>
            <a:ext cx="226204" cy="22620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50249" y="2146480"/>
            <a:ext cx="476219" cy="476219"/>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09776" y="2586983"/>
            <a:ext cx="357164" cy="500030"/>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74072" y="2706038"/>
            <a:ext cx="28573" cy="3809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612535" y="2576779"/>
            <a:ext cx="107557" cy="86739"/>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16928" y="2644243"/>
            <a:ext cx="298771" cy="41442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19"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2</a:t>
            </a:r>
          </a:p>
        </p:txBody>
      </p:sp>
      <p:sp>
        <p:nvSpPr>
          <p:cNvPr id="33" name="TextBox 32"/>
          <p:cNvSpPr txBox="1"/>
          <p:nvPr/>
        </p:nvSpPr>
        <p:spPr>
          <a:xfrm>
            <a:off x="4562855"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who left a bag</a:t>
            </a:r>
          </a:p>
        </p:txBody>
      </p:sp>
      <p:sp>
        <p:nvSpPr>
          <p:cNvPr id="34" name="TextBox 33"/>
          <p:cNvSpPr txBox="1"/>
          <p:nvPr/>
        </p:nvSpPr>
        <p:spPr>
          <a:xfrm>
            <a:off x="4562855"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من ترك الحقيبة؟</a:t>
            </a:r>
          </a:p>
        </p:txBody>
      </p:sp>
      <p:sp>
        <p:nvSpPr>
          <p:cNvPr id="35" name="TextBox 34"/>
          <p:cNvSpPr txBox="1"/>
          <p:nvPr/>
        </p:nvSpPr>
        <p:spPr>
          <a:xfrm>
            <a:off x="4562855"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Find the moment an unattended bag appeared, then the person who brought it.</a:t>
            </a:r>
          </a:p>
        </p:txBody>
      </p:sp>
      <p:sp>
        <p:nvSpPr>
          <p:cNvPr id="36" name="Rounded Rectangle 35"/>
          <p:cNvSpPr/>
          <p:nvPr/>
        </p:nvSpPr>
        <p:spPr>
          <a:xfrm>
            <a:off x="4562855"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حقيبة سفر سوداء</a:t>
            </a:r>
          </a:p>
        </p:txBody>
      </p:sp>
      <p:sp>
        <p:nvSpPr>
          <p:cNvPr id="37" name="TextBox 36"/>
          <p:cNvSpPr txBox="1"/>
          <p:nvPr/>
        </p:nvSpPr>
        <p:spPr>
          <a:xfrm>
            <a:off x="4562855"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Airports · government buildings</a:t>
            </a:r>
          </a:p>
        </p:txBody>
      </p:sp>
      <p:sp>
        <p:nvSpPr>
          <p:cNvPr id="38" name="Rounded Rectangle 37"/>
          <p:cNvSpPr/>
          <p:nvPr/>
        </p:nvSpPr>
        <p:spPr>
          <a:xfrm>
            <a:off x="8119871"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19871"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9871"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93724"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765740" y="2124087"/>
            <a:ext cx="487558" cy="48755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26684"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994892"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246482" y="2350008"/>
            <a:ext cx="140031" cy="1400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169097" y="2504779"/>
            <a:ext cx="294802" cy="29480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05947" y="2777471"/>
            <a:ext cx="221101" cy="30954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07654" y="2851172"/>
            <a:ext cx="17688" cy="23584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74736"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3</a:t>
            </a:r>
          </a:p>
        </p:txBody>
      </p:sp>
      <p:sp>
        <p:nvSpPr>
          <p:cNvPr id="50" name="TextBox 49"/>
          <p:cNvSpPr txBox="1"/>
          <p:nvPr/>
        </p:nvSpPr>
        <p:spPr>
          <a:xfrm>
            <a:off x="8348471"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lost child</a:t>
            </a:r>
          </a:p>
        </p:txBody>
      </p:sp>
      <p:sp>
        <p:nvSpPr>
          <p:cNvPr id="51" name="TextBox 50"/>
          <p:cNvSpPr txBox="1"/>
          <p:nvPr/>
        </p:nvSpPr>
        <p:spPr>
          <a:xfrm>
            <a:off x="8348471"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طفل مفقود</a:t>
            </a:r>
          </a:p>
        </p:txBody>
      </p:sp>
      <p:sp>
        <p:nvSpPr>
          <p:cNvPr id="52" name="TextBox 51"/>
          <p:cNvSpPr txBox="1"/>
          <p:nvPr/>
        </p:nvSpPr>
        <p:spPr>
          <a:xfrm>
            <a:off x="8348471"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parent's description, find the most recent sightings near where the child was lost.</a:t>
            </a:r>
          </a:p>
        </p:txBody>
      </p:sp>
      <p:sp>
        <p:nvSpPr>
          <p:cNvPr id="53" name="Rounded Rectangle 52"/>
          <p:cNvSpPr/>
          <p:nvPr/>
        </p:nvSpPr>
        <p:spPr>
          <a:xfrm>
            <a:off x="8348471"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طفل صغير لابس جاكيت أزرق</a:t>
            </a:r>
          </a:p>
        </p:txBody>
      </p:sp>
      <p:sp>
        <p:nvSpPr>
          <p:cNvPr id="54" name="TextBox 53"/>
          <p:cNvSpPr txBox="1"/>
          <p:nvPr/>
        </p:nvSpPr>
        <p:spPr>
          <a:xfrm>
            <a:off x="8348471"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Malls · airports · tourist areas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5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1 · SUSPECT FROM A WITNESS DESCRIPTION</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مشتبه به من وصف شاهد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witness saw a man in a red top with a black bag. Where is he on our cameras?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what the witness said</a:t>
            </a:r>
          </a:p>
          <a:p>
            <a:pPr algn="l">
              <a:spcBef>
                <a:spcPts val="0"/>
              </a:spcBef>
              <a:spcAft>
                <a:spcPts val="0"/>
              </a:spcAft>
            </a:pPr>
            <a:r>
              <a:rPr sz="1400" b="0" i="0" lang="en-GB">
                <a:solidFill>
                  <a:srgbClr val="1F2937"/>
                </a:solidFill>
                <a:latin typeface="Aptos"/>
                <a:ea typeface="Aptos"/>
                <a:cs typeface="Dubai"/>
              </a:rPr>
              <a:t>In the witness's own words and dialect, with no form to fill.</a:t>
            </a:r>
          </a:p>
        </p:txBody>
      </p:sp>
      <p:sp>
        <p:nvSpPr>
          <p:cNvPr id="11" name="Oval 10"/>
          <p:cNvSpPr/>
          <p:nvPr/>
        </p:nvSpPr>
        <p:spPr>
          <a:xfrm>
            <a:off x="548640" y="267919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60904"/>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system reads the dialect</a:t>
            </a:r>
          </a:p>
          <a:p>
            <a:pPr algn="l">
              <a:spcBef>
                <a:spcPts val="0"/>
              </a:spcBef>
              <a:spcAft>
                <a:spcPts val="0"/>
              </a:spcAft>
            </a:pPr>
            <a:r>
              <a:rPr sz="1400" b="0" i="0" lang="en-GB">
                <a:solidFill>
                  <a:srgbClr val="1F2937"/>
                </a:solidFill>
                <a:latin typeface="Aptos"/>
                <a:ea typeface="Aptos"/>
                <a:cs typeface="Dubai"/>
              </a:rPr>
              <a:t>man · red top · black bag. It searches only the site's cameras for the afternoon of the incident.</a:t>
            </a:r>
          </a:p>
        </p:txBody>
      </p:sp>
      <p:sp>
        <p:nvSpPr>
          <p:cNvPr id="13" name="Oval 12"/>
          <p:cNvSpPr/>
          <p:nvPr/>
        </p:nvSpPr>
        <p:spPr>
          <a:xfrm>
            <a:off x="548640" y="3739896"/>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721608"/>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Ranked clips appear</a:t>
            </a:r>
          </a:p>
          <a:p>
            <a:pPr algn="l">
              <a:spcBef>
                <a:spcPts val="0"/>
              </a:spcBef>
              <a:spcAft>
                <a:spcPts val="0"/>
              </a:spcAft>
            </a:pPr>
            <a:r>
              <a:rPr sz="1400" b="0" i="0" lang="en-GB">
                <a:solidFill>
                  <a:srgbClr val="1F2937"/>
                </a:solidFill>
                <a:latin typeface="Aptos"/>
                <a:ea typeface="Aptos"/>
                <a:cs typeface="Dubai"/>
              </a:rPr>
              <a:t>Each shows camera, place, time and why it matched. Near-misses are flagged for a closer look.</a:t>
            </a:r>
          </a:p>
        </p:txBody>
      </p:sp>
      <p:sp>
        <p:nvSpPr>
          <p:cNvPr id="15" name="Oval 14"/>
          <p:cNvSpPr/>
          <p:nvPr/>
        </p:nvSpPr>
        <p:spPr>
          <a:xfrm>
            <a:off x="548640" y="480060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78231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A person confirms, then follows him</a:t>
            </a:r>
          </a:p>
          <a:p>
            <a:pPr algn="l">
              <a:spcBef>
                <a:spcPts val="0"/>
              </a:spcBef>
              <a:spcAft>
                <a:spcPts val="0"/>
              </a:spcAft>
            </a:pPr>
            <a:r>
              <a:rPr sz="1400" b="0" i="0" lang="en-GB">
                <a:solidFill>
                  <a:srgbClr val="1F2937"/>
                </a:solidFill>
                <a:latin typeface="Aptos"/>
                <a:ea typeface="Aptos"/>
                <a:cs typeface="Dubai"/>
              </a:rPr>
              <a:t>The confirmed clip starts a timeline of where he appeared next, each step confirmed.</a:t>
            </a:r>
          </a:p>
        </p:txBody>
      </p:sp>
      <p:sp>
        <p:nvSpPr>
          <p:cNvPr id="17" name="TextBox 16"/>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1984248"/>
            <a:ext cx="5285232" cy="91440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زلمة لابس بلوزة حمرا ومعه شنطة سودا</a:t>
            </a:r>
          </a:p>
          <a:p>
            <a:pPr algn="r">
              <a:spcBef>
                <a:spcPts val="0"/>
              </a:spcBef>
              <a:spcAft>
                <a:spcPts val="0"/>
              </a:spcAft>
            </a:pPr>
            <a:r>
              <a:rPr sz="1300" b="0" i="1" lang="en-GB">
                <a:solidFill>
                  <a:srgbClr val="5B6573"/>
                </a:solidFill>
                <a:latin typeface="Aptos"/>
                <a:ea typeface="Aptos"/>
                <a:cs typeface="Dubai"/>
              </a:rPr>
              <a:t>"a guy wearing a red top, with a black bag" (Jordanian dialect)</a:t>
            </a:r>
          </a:p>
        </p:txBody>
      </p:sp>
      <p:sp>
        <p:nvSpPr>
          <p:cNvPr id="19" name="TextBox 18"/>
          <p:cNvSpPr txBox="1"/>
          <p:nvPr/>
        </p:nvSpPr>
        <p:spPr>
          <a:xfrm>
            <a:off x="6355080" y="303580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WHAT THE OFFICER SEES  (ILLUSTRATION)</a:t>
            </a:r>
          </a:p>
        </p:txBody>
      </p:sp>
      <p:sp>
        <p:nvSpPr>
          <p:cNvPr id="20" name="Rectangle 19"/>
          <p:cNvSpPr/>
          <p:nvPr/>
        </p:nvSpPr>
        <p:spPr>
          <a:xfrm>
            <a:off x="6355080" y="3337560"/>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3666378"/>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4245" y="3390595"/>
            <a:ext cx="82628" cy="8262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628582" y="3481921"/>
            <a:ext cx="173955" cy="17395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0326" y="3642830"/>
            <a:ext cx="130466" cy="18265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10341" y="3686319"/>
            <a:ext cx="10437" cy="13916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793840" y="3608039"/>
            <a:ext cx="73931" cy="8697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197242" y="3337560"/>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28" name="Rectangle 27"/>
          <p:cNvSpPr/>
          <p:nvPr/>
        </p:nvSpPr>
        <p:spPr>
          <a:xfrm>
            <a:off x="6355080" y="3941063"/>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5080" y="4269882"/>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68575" y="4110776"/>
            <a:ext cx="60460" cy="6046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35163" y="4177600"/>
            <a:ext cx="127284" cy="127284"/>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51073" y="4295339"/>
            <a:ext cx="95463" cy="1336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94986" y="4327160"/>
            <a:ext cx="7637" cy="10182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87157" y="4015313"/>
            <a:ext cx="78598" cy="7859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743721" y="4102184"/>
            <a:ext cx="165469" cy="165469"/>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764405" y="4255244"/>
            <a:ext cx="124102" cy="1737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21492" y="4296611"/>
            <a:ext cx="9928" cy="1323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900918" y="4222150"/>
            <a:ext cx="70324" cy="82734"/>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97242" y="3941063"/>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0" name="Rectangle 39"/>
          <p:cNvSpPr/>
          <p:nvPr/>
        </p:nvSpPr>
        <p:spPr>
          <a:xfrm>
            <a:off x="6355080" y="4544568"/>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55080" y="4873386"/>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711476" y="4608210"/>
            <a:ext cx="80613" cy="8061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666926" y="4697309"/>
            <a:ext cx="169712" cy="169712"/>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88141" y="4854293"/>
            <a:ext cx="127284" cy="1781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46691" y="4896721"/>
            <a:ext cx="10182" cy="135770"/>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828153" y="4820351"/>
            <a:ext cx="72127" cy="84856"/>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197242" y="4544568"/>
            <a:ext cx="4443069" cy="53035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48" name="Rounded Rectangle 47"/>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50" name="TextBox 49"/>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every camera for the afternoon, played back one by one.</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the target in under 2 minutes (PoC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6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2 · FINDING WHO LEFT A BAG</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حقيبة متروكة: من تركها؟</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An unattended suitcase is found in a lobby. Who brought it, and where did they go?</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for the bag itself</a:t>
            </a:r>
          </a:p>
          <a:p>
            <a:pPr algn="l">
              <a:spcBef>
                <a:spcPts val="0"/>
              </a:spcBef>
              <a:spcAft>
                <a:spcPts val="0"/>
              </a:spcAft>
            </a:pPr>
            <a:r>
              <a:rPr sz="1400" b="0" i="0" lang="en-GB">
                <a:solidFill>
                  <a:srgbClr val="1F2937"/>
                </a:solidFill>
                <a:latin typeface="Aptos"/>
                <a:ea typeface="Aptos"/>
                <a:cs typeface="Dubai"/>
              </a:rPr>
              <a:t>The officer types the bag's description and searches the lobby cameras for the last hour.</a:t>
            </a:r>
          </a:p>
        </p:txBody>
      </p:sp>
      <p:sp>
        <p:nvSpPr>
          <p:cNvPr id="11" name="Oval 10"/>
          <p:cNvSpPr/>
          <p:nvPr/>
        </p:nvSpPr>
        <p:spPr>
          <a:xfrm>
            <a:off x="548640" y="26974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79191"/>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Jump to the moment it appeared</a:t>
            </a:r>
          </a:p>
          <a:p>
            <a:pPr algn="l">
              <a:spcBef>
                <a:spcPts val="0"/>
              </a:spcBef>
              <a:spcAft>
                <a:spcPts val="0"/>
              </a:spcAft>
            </a:pPr>
            <a:r>
              <a:rPr sz="1400" b="0" i="0" lang="en-GB">
                <a:solidFill>
                  <a:srgbClr val="1F2937"/>
                </a:solidFill>
                <a:latin typeface="Aptos"/>
                <a:ea typeface="Aptos"/>
                <a:cs typeface="Dubai"/>
              </a:rPr>
              <a:t>The clip shows the bag arriving with a person, and being put down.</a:t>
            </a:r>
          </a:p>
        </p:txBody>
      </p:sp>
      <p:sp>
        <p:nvSpPr>
          <p:cNvPr id="13" name="Oval 12"/>
          <p:cNvSpPr/>
          <p:nvPr/>
        </p:nvSpPr>
        <p:spPr>
          <a:xfrm>
            <a:off x="548640" y="3593591"/>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575303"/>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Describe that person and search again</a:t>
            </a:r>
          </a:p>
          <a:p>
            <a:pPr algn="l">
              <a:spcBef>
                <a:spcPts val="0"/>
              </a:spcBef>
              <a:spcAft>
                <a:spcPts val="0"/>
              </a:spcAft>
            </a:pPr>
            <a:r>
              <a:rPr sz="1400" b="0" i="0" lang="en-GB">
                <a:solidFill>
                  <a:srgbClr val="1F2937"/>
                </a:solidFill>
                <a:latin typeface="Aptos"/>
                <a:ea typeface="Aptos"/>
                <a:cs typeface="Dubai"/>
              </a:rPr>
              <a:t>Their clothing becomes the next query, across the site's other cameras.</a:t>
            </a:r>
          </a:p>
        </p:txBody>
      </p:sp>
      <p:sp>
        <p:nvSpPr>
          <p:cNvPr id="15" name="Oval 14"/>
          <p:cNvSpPr/>
          <p:nvPr/>
        </p:nvSpPr>
        <p:spPr>
          <a:xfrm>
            <a:off x="548640" y="448970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471416"/>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Follow them camera to camera</a:t>
            </a:r>
          </a:p>
          <a:p>
            <a:pPr algn="l">
              <a:spcBef>
                <a:spcPts val="0"/>
              </a:spcBef>
              <a:spcAft>
                <a:spcPts val="0"/>
              </a:spcAft>
            </a:pPr>
            <a:r>
              <a:rPr sz="1400" b="0" i="0" lang="en-GB">
                <a:solidFill>
                  <a:srgbClr val="1F2937"/>
                </a:solidFill>
                <a:latin typeface="Aptos"/>
                <a:ea typeface="Aptos"/>
                <a:cs typeface="Dubai"/>
              </a:rPr>
              <a:t>Each sighting is confirmed by an officer before the next one is used.</a:t>
            </a:r>
          </a:p>
        </p:txBody>
      </p:sp>
      <p:sp>
        <p:nvSpPr>
          <p:cNvPr id="17" name="Rounded Rectangle 16"/>
          <p:cNvSpPr/>
          <p:nvPr/>
        </p:nvSpPr>
        <p:spPr>
          <a:xfrm>
            <a:off x="548640" y="5349240"/>
            <a:ext cx="5486400" cy="7772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A search the officer starts. </a:t>
            </a:r>
            <a:r>
              <a:rPr sz="1300" b="0" i="0" lang="en-GB">
                <a:solidFill>
                  <a:srgbClr val="1F2937"/>
                </a:solidFill>
                <a:latin typeface="Aptos"/>
                <a:ea typeface="Aptos"/>
                <a:cs typeface="Dubai"/>
              </a:rPr>
              <a:t>An automatic left-bag alarm is a separate feature and is not part of the PoC.</a:t>
            </a:r>
          </a:p>
        </p:txBody>
      </p:sp>
      <p:sp>
        <p:nvSpPr>
          <p:cNvPr id="18" name="TextBox 17"/>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9" name="Rounded Rectangle 18"/>
          <p:cNvSpPr/>
          <p:nvPr/>
        </p:nvSpPr>
        <p:spPr>
          <a:xfrm>
            <a:off x="6355080" y="19842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حقيبة سفر سوداء</a:t>
            </a:r>
          </a:p>
          <a:p>
            <a:pPr algn="r">
              <a:spcBef>
                <a:spcPts val="0"/>
              </a:spcBef>
              <a:spcAft>
                <a:spcPts val="0"/>
              </a:spcAft>
            </a:pPr>
            <a:r>
              <a:rPr sz="1300" b="0" i="1" lang="en-GB">
                <a:solidFill>
                  <a:srgbClr val="5B6573"/>
                </a:solidFill>
                <a:latin typeface="Aptos"/>
                <a:ea typeface="Aptos"/>
                <a:cs typeface="Dubai"/>
              </a:rPr>
              <a:t>"a black suitcase"</a:t>
            </a:r>
          </a:p>
        </p:txBody>
      </p:sp>
      <p:sp>
        <p:nvSpPr>
          <p:cNvPr id="20" name="TextBox 19"/>
          <p:cNvSpPr txBox="1"/>
          <p:nvPr/>
        </p:nvSpPr>
        <p:spPr>
          <a:xfrm>
            <a:off x="6355080" y="289864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LOBBY CAMERA, REWOUND  (ILLUSTRATION)</a:t>
            </a:r>
          </a:p>
        </p:txBody>
      </p:sp>
      <p:sp>
        <p:nvSpPr>
          <p:cNvPr id="21" name="Rectangle 20"/>
          <p:cNvSpPr/>
          <p:nvPr/>
        </p:nvSpPr>
        <p:spPr>
          <a:xfrm>
            <a:off x="6355080"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25899" y="3641598"/>
            <a:ext cx="119443" cy="11944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59891" y="3773614"/>
            <a:ext cx="251460" cy="25146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91323" y="4006214"/>
            <a:ext cx="188595" cy="26403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8077" y="4069080"/>
            <a:ext cx="15087" cy="20116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13:41</a:t>
            </a:r>
          </a:p>
        </p:txBody>
      </p:sp>
      <p:sp>
        <p:nvSpPr>
          <p:cNvPr id="28" name="TextBox 27"/>
          <p:cNvSpPr txBox="1"/>
          <p:nvPr/>
        </p:nvSpPr>
        <p:spPr>
          <a:xfrm>
            <a:off x="6355080"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Lobby empty</a:t>
            </a:r>
          </a:p>
        </p:txBody>
      </p:sp>
      <p:sp>
        <p:nvSpPr>
          <p:cNvPr id="29" name="Rectangle 28"/>
          <p:cNvSpPr/>
          <p:nvPr/>
        </p:nvSpPr>
        <p:spPr>
          <a:xfrm>
            <a:off x="8165592"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65592"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86800" y="3355848"/>
            <a:ext cx="173736" cy="173736"/>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90788" y="3547872"/>
            <a:ext cx="365760" cy="365760"/>
          </a:xfrm>
          <a:prstGeom prst="roundRect">
            <a:avLst>
              <a:gd name="adj" fmla="val 3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36508" y="3886200"/>
            <a:ext cx="274320" cy="3840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762695" y="3977639"/>
            <a:ext cx="21945" cy="29260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265432"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97400"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13:47</a:t>
            </a:r>
          </a:p>
        </p:txBody>
      </p:sp>
      <p:sp>
        <p:nvSpPr>
          <p:cNvPr id="38" name="TextBox 37"/>
          <p:cNvSpPr txBox="1"/>
          <p:nvPr/>
        </p:nvSpPr>
        <p:spPr>
          <a:xfrm>
            <a:off x="8165592" y="4407407"/>
            <a:ext cx="1664208" cy="27432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Arrives with bag</a:t>
            </a:r>
          </a:p>
        </p:txBody>
      </p:sp>
      <p:sp>
        <p:nvSpPr>
          <p:cNvPr id="39" name="Rectangle 38"/>
          <p:cNvSpPr/>
          <p:nvPr/>
        </p:nvSpPr>
        <p:spPr>
          <a:xfrm>
            <a:off x="9976104"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76104"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1075944"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007912"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13:49</a:t>
            </a:r>
          </a:p>
        </p:txBody>
      </p:sp>
      <p:sp>
        <p:nvSpPr>
          <p:cNvPr id="44" name="TextBox 43"/>
          <p:cNvSpPr txBox="1"/>
          <p:nvPr/>
        </p:nvSpPr>
        <p:spPr>
          <a:xfrm>
            <a:off x="9976104"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Bag left alone</a:t>
            </a:r>
          </a:p>
        </p:txBody>
      </p:sp>
      <p:sp>
        <p:nvSpPr>
          <p:cNvPr id="45" name="Rectangle 44"/>
          <p:cNvSpPr/>
          <p:nvPr/>
        </p:nvSpPr>
        <p:spPr>
          <a:xfrm>
            <a:off x="8129016" y="3182112"/>
            <a:ext cx="1737360" cy="1216152"/>
          </a:xfrm>
          <a:prstGeom prst="rect">
            <a:avLst/>
          </a:prstGeom>
          <a:noFill/>
          <a:ln w="28575">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55080" y="4773168"/>
            <a:ext cx="5285232" cy="566928"/>
          </a:xfrm>
          <a:prstGeom prst="roundRect">
            <a:avLst>
              <a:gd name="adj" fmla="val 15000"/>
            </a:avLst>
          </a:prstGeom>
          <a:solidFill>
            <a:srgbClr val="FFFFFF"/>
          </a:solid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ctr">
              <a:spcBef>
                <a:spcPts val="0"/>
              </a:spcBef>
              <a:spcAft>
                <a:spcPts val="0"/>
              </a:spcAft>
            </a:pPr>
            <a:r>
              <a:rPr sz="1200" b="0" i="0" lang="en-GB">
                <a:solidFill>
                  <a:srgbClr val="5B6573"/>
                </a:solidFill>
                <a:latin typeface="Aptos"/>
                <a:ea typeface="Aptos"/>
                <a:cs typeface="Dubai"/>
              </a:rPr>
              <a:t>Next search:  </a:t>
            </a:r>
            <a:r>
              <a:rPr sz="1700" b="1" i="0" lang="ar-JO">
                <a:solidFill>
                  <a:srgbClr val="0F2A44"/>
                </a:solidFill>
                <a:latin typeface="Aptos"/>
                <a:ea typeface="Aptos"/>
                <a:cs typeface="Dubai"/>
              </a:rPr>
              <a:t>رجل يرتدي هودي أسود</a:t>
            </a:r>
            <a:r>
              <a:rPr sz="1200" b="0" i="1" lang="en-GB">
                <a:solidFill>
                  <a:srgbClr val="5B6573"/>
                </a:solidFill>
                <a:latin typeface="Aptos"/>
                <a:ea typeface="Aptos"/>
                <a:cs typeface="Dubai"/>
              </a:rPr>
              <a:t>  "a man in a black hoodie"</a:t>
            </a:r>
          </a:p>
        </p:txBody>
      </p:sp>
      <p:sp>
        <p:nvSpPr>
          <p:cNvPr id="47" name="Rounded Rectangle 46"/>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49" name="TextBox 48"/>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rewind every lobby camera until the bag first appears.</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straight to that moment; under 2 minutes (PoC target).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7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3 · FINDING A LOST CHILD</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طفل مفقود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parent has lost a small child in a blue jacket near Gate 3</a:t>
            </a:r>
          </a:p>
        </p:txBody>
      </p:sp>
      <p:sp>
        <p:nvSpPr>
          <p:cNvPr id="9" name="Rounded Rectangle 8"/>
          <p:cNvSpPr/>
          <p:nvPr/>
        </p:nvSpPr>
        <p:spPr>
          <a:xfrm>
            <a:off x="548640" y="1691640"/>
            <a:ext cx="11091672" cy="50292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a:spcBef>
                <a:spcPts val="0"/>
              </a:spcBef>
              <a:spcAft>
                <a:spcPts val="0"/>
              </a:spcAft>
            </a:pPr>
            <a:r>
              <a:rPr sz="1500" b="1" i="0" lang="en-GB">
                <a:solidFill>
                  <a:srgbClr val="B45F06"/>
                </a:solidFill>
                <a:latin typeface="Aptos"/>
                <a:ea typeface="Aptos"/>
                <a:cs typeface="Dubai"/>
              </a:rPr>
              <a:t>Appearance search only: </a:t>
            </a:r>
            <a:r>
              <a:rPr sz="1500" b="0" i="0" lang="en-GB">
                <a:solidFill>
                  <a:srgbClr val="1F2937"/>
                </a:solidFill>
                <a:latin typeface="Aptos"/>
                <a:ea typeface="Aptos"/>
                <a:cs typeface="Dubai"/>
              </a:rPr>
              <a:t>clothing, colours and size. </a:t>
            </a:r>
            <a:r>
              <a:rPr sz="1500" b="1" i="0" lang="en-GB">
                <a:solidFill>
                  <a:srgbClr val="0F2A44"/>
                </a:solidFill>
                <a:latin typeface="Aptos"/>
                <a:ea typeface="Aptos"/>
                <a:cs typeface="Dubai"/>
              </a:rPr>
              <a:t>Never face recognition.</a:t>
            </a:r>
          </a:p>
        </p:txBody>
      </p:sp>
      <p:sp>
        <p:nvSpPr>
          <p:cNvPr id="10" name="Oval 9"/>
          <p:cNvSpPr/>
          <p:nvPr/>
        </p:nvSpPr>
        <p:spPr>
          <a:xfrm>
            <a:off x="548640" y="24871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1" name="TextBox 10"/>
          <p:cNvSpPr txBox="1"/>
          <p:nvPr/>
        </p:nvSpPr>
        <p:spPr>
          <a:xfrm>
            <a:off x="1097280" y="2468880"/>
            <a:ext cx="4937760" cy="77724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the parent's description</a:t>
            </a:r>
          </a:p>
          <a:p>
            <a:pPr algn="l">
              <a:spcBef>
                <a:spcPts val="0"/>
              </a:spcBef>
              <a:spcAft>
                <a:spcPts val="0"/>
              </a:spcAft>
            </a:pPr>
            <a:r>
              <a:rPr sz="1400" b="0" i="0" lang="en-GB">
                <a:solidFill>
                  <a:srgbClr val="1F2937"/>
                </a:solidFill>
                <a:latin typeface="Aptos"/>
                <a:ea typeface="Aptos"/>
                <a:cs typeface="Dubai"/>
              </a:rPr>
              <a:t>Search starts at the cameras nearest Gate 3, for the last hour, newest first.</a:t>
            </a:r>
          </a:p>
        </p:txBody>
      </p:sp>
      <p:sp>
        <p:nvSpPr>
          <p:cNvPr id="12" name="Oval 11"/>
          <p:cNvSpPr/>
          <p:nvPr/>
        </p:nvSpPr>
        <p:spPr>
          <a:xfrm>
            <a:off x="548640" y="34472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3" name="TextBox 12"/>
          <p:cNvSpPr txBox="1"/>
          <p:nvPr/>
        </p:nvSpPr>
        <p:spPr>
          <a:xfrm>
            <a:off x="1097280" y="3429000"/>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Candidates, not answers</a:t>
            </a:r>
          </a:p>
          <a:p>
            <a:pPr algn="l">
              <a:spcBef>
                <a:spcPts val="0"/>
              </a:spcBef>
              <a:spcAft>
                <a:spcPts val="0"/>
              </a:spcAft>
            </a:pPr>
            <a:r>
              <a:rPr sz="1400" b="0" i="0" lang="en-GB">
                <a:solidFill>
                  <a:srgbClr val="1F2937"/>
                </a:solidFill>
                <a:latin typeface="Aptos"/>
                <a:ea typeface="Aptos"/>
                <a:cs typeface="Dubai"/>
              </a:rPr>
              <a:t>Telling a child from an adult by body is hard, so a model check and a height cue flag likely children for review.</a:t>
            </a:r>
          </a:p>
        </p:txBody>
      </p:sp>
      <p:sp>
        <p:nvSpPr>
          <p:cNvPr id="14" name="Oval 13"/>
          <p:cNvSpPr/>
          <p:nvPr/>
        </p:nvSpPr>
        <p:spPr>
          <a:xfrm>
            <a:off x="548640" y="45262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5" name="TextBox 14"/>
          <p:cNvSpPr txBox="1"/>
          <p:nvPr/>
        </p:nvSpPr>
        <p:spPr>
          <a:xfrm>
            <a:off x="1097280" y="450799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Each confirmed sighting moves the search</a:t>
            </a:r>
          </a:p>
          <a:p>
            <a:pPr algn="l">
              <a:spcBef>
                <a:spcPts val="0"/>
              </a:spcBef>
              <a:spcAft>
                <a:spcPts val="0"/>
              </a:spcAft>
            </a:pPr>
            <a:r>
              <a:rPr sz="1400" b="0" i="0" lang="en-GB">
                <a:solidFill>
                  <a:srgbClr val="1F2937"/>
                </a:solidFill>
                <a:latin typeface="Aptos"/>
                <a:ea typeface="Aptos"/>
                <a:cs typeface="Dubai"/>
              </a:rPr>
              <a:t>It becomes the new starting point; the search widens ring by ring only if nothing is found.</a:t>
            </a:r>
          </a:p>
        </p:txBody>
      </p:sp>
      <p:sp>
        <p:nvSpPr>
          <p:cNvPr id="16" name="TextBox 15"/>
          <p:cNvSpPr txBox="1"/>
          <p:nvPr/>
        </p:nvSpPr>
        <p:spPr>
          <a:xfrm>
            <a:off x="548640" y="5440680"/>
            <a:ext cx="5486400" cy="82296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In the demo an adult stands in for the child: public CCTV footage contains no children, and a consented recording comes later only if needed.</a:t>
            </a:r>
          </a:p>
        </p:txBody>
      </p:sp>
      <p:sp>
        <p:nvSpPr>
          <p:cNvPr id="17" name="TextBox 16"/>
          <p:cNvSpPr txBox="1"/>
          <p:nvPr/>
        </p:nvSpPr>
        <p:spPr>
          <a:xfrm>
            <a:off x="6355080" y="23774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26700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طفل صغير لابس جاكيت أزرق</a:t>
            </a:r>
          </a:p>
          <a:p>
            <a:pPr algn="r">
              <a:spcBef>
                <a:spcPts val="0"/>
              </a:spcBef>
              <a:spcAft>
                <a:spcPts val="0"/>
              </a:spcAft>
            </a:pPr>
            <a:r>
              <a:rPr sz="1300" b="0" i="1" lang="en-GB">
                <a:solidFill>
                  <a:srgbClr val="5B6573"/>
                </a:solidFill>
                <a:latin typeface="Aptos"/>
                <a:ea typeface="Aptos"/>
                <a:cs typeface="Dubai"/>
              </a:rPr>
              <a:t>"a small child wearing a blue jacket"</a:t>
            </a:r>
          </a:p>
        </p:txBody>
      </p:sp>
      <p:sp>
        <p:nvSpPr>
          <p:cNvPr id="19" name="Rectangle 18"/>
          <p:cNvSpPr/>
          <p:nvPr/>
        </p:nvSpPr>
        <p:spPr>
          <a:xfrm>
            <a:off x="6355080" y="3630168"/>
            <a:ext cx="1828800" cy="12344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5080" y="4395520"/>
            <a:ext cx="1828800" cy="469087"/>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88104" y="3778300"/>
            <a:ext cx="187634" cy="1876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4411" y="3985686"/>
            <a:ext cx="395020" cy="39502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33789" y="4351080"/>
            <a:ext cx="296265" cy="41477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70071" y="4449836"/>
            <a:ext cx="23701" cy="31601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9061" y="4173321"/>
            <a:ext cx="112580" cy="11258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66845" y="4297753"/>
            <a:ext cx="237012" cy="23701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96471" y="4516989"/>
            <a:ext cx="177759" cy="24886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78241" y="4576242"/>
            <a:ext cx="14220" cy="18960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3666744"/>
            <a:ext cx="171907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CAM-14  15:31</a:t>
            </a:r>
          </a:p>
        </p:txBody>
      </p:sp>
      <p:sp>
        <p:nvSpPr>
          <p:cNvPr id="30" name="Rounded Rectangle 29"/>
          <p:cNvSpPr/>
          <p:nvPr/>
        </p:nvSpPr>
        <p:spPr>
          <a:xfrm>
            <a:off x="8293608" y="3630168"/>
            <a:ext cx="3346704" cy="123444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17043" rIns="146304" bIns="117043">
            <a:noAutofit/>
          </a:bodyPr>
          <a:lstStyle/>
          <a:p>
            <a:pPr algn="l">
              <a:spcBef>
                <a:spcPts val="0"/>
              </a:spcBef>
              <a:spcAft>
                <a:spcPts val="200"/>
              </a:spcAft>
            </a:pPr>
            <a:r>
              <a:rPr sz="1300" b="1" i="0" lang="en-GB">
                <a:solidFill>
                  <a:srgbClr val="0F2A44"/>
                </a:solidFill>
                <a:latin typeface="Aptos"/>
                <a:ea typeface="Aptos"/>
                <a:cs typeface="Dubai"/>
              </a:rPr>
              <a:t>Cam 14 · Gate 3 corridor</a:t>
            </a:r>
            <a:r>
              <a:rPr sz="1300" b="0" i="0" lang="en-GB">
                <a:solidFill>
                  <a:srgbClr val="1F2937"/>
                </a:solidFill>
                <a:latin typeface="Aptos"/>
                <a:ea typeface="Aptos"/>
                <a:cs typeface="Dubai"/>
              </a:rPr>
              <a:t>  15:31</a:t>
            </a:r>
          </a:p>
          <a:p>
            <a:pPr algn="l">
              <a:spcBef>
                <a:spcPts val="0"/>
              </a:spcBef>
              <a:spcAft>
                <a:spcPts val="200"/>
              </a:spcAft>
            </a:pPr>
            <a:r>
              <a:rPr sz="1200" b="1" i="0" lang="en-GB">
                <a:solidFill>
                  <a:srgbClr val="0E7C7B"/>
                </a:solidFill>
                <a:latin typeface="Aptos"/>
                <a:ea typeface="Aptos"/>
                <a:cs typeface="Dubai"/>
              </a:rPr>
              <a:t>blue jacket ✓  small ✓</a:t>
            </a:r>
          </a:p>
          <a:p>
            <a:pPr algn="l">
              <a:spcBef>
                <a:spcPts val="0"/>
              </a:spcBef>
              <a:spcAft>
                <a:spcPts val="200"/>
              </a:spcAft>
            </a:pPr>
            <a:r>
              <a:rPr sz="1200" b="0" i="0" lang="en-GB">
                <a:solidFill>
                  <a:srgbClr val="B45F06"/>
                </a:solidFill>
                <a:latin typeface="Aptos"/>
                <a:ea typeface="Aptos"/>
                <a:cs typeface="Dubai"/>
              </a:rPr>
              <a:t>Likely a child: an officer checks the clip.</a:t>
            </a:r>
          </a:p>
          <a:p>
            <a:pPr algn="l">
              <a:spcBef>
                <a:spcPts val="0"/>
              </a:spcBef>
              <a:spcAft>
                <a:spcPts val="0"/>
              </a:spcAft>
            </a:pPr>
            <a:r>
              <a:rPr sz="1000" b="0" i="1" lang="en-GB">
                <a:solidFill>
                  <a:srgbClr val="5B6573"/>
                </a:solidFill>
                <a:latin typeface="Aptos"/>
                <a:ea typeface="Aptos"/>
                <a:cs typeface="Dubai"/>
              </a:rPr>
              <a:t>Illustration</a:t>
            </a:r>
          </a:p>
        </p:txBody>
      </p:sp>
      <p:sp>
        <p:nvSpPr>
          <p:cNvPr id="31" name="Rounded Rectangle 30"/>
          <p:cNvSpPr/>
          <p:nvPr/>
        </p:nvSpPr>
        <p:spPr>
          <a:xfrm>
            <a:off x="6355080" y="5001768"/>
            <a:ext cx="5285232" cy="1307592"/>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129783"/>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33" name="TextBox 32"/>
          <p:cNvSpPr txBox="1"/>
          <p:nvPr/>
        </p:nvSpPr>
        <p:spPr>
          <a:xfrm>
            <a:off x="6537960" y="5404104"/>
            <a:ext cx="4919472" cy="850392"/>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50 nearby cameras for 2 hours is 100 hours of video.</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those cameras indexed in about 22 min on one data-centre GPU, 6 on four.</a:t>
            </a:r>
          </a:p>
          <a:p>
            <a:pPr algn="l">
              <a:spcBef>
                <a:spcPts val="400"/>
              </a:spcBef>
              <a:spcAft>
                <a:spcPts val="0"/>
              </a:spcAft>
            </a:pPr>
            <a:r>
              <a:rPr sz="1050" b="0" i="1" lang="en-GB">
                <a:solidFill>
                  <a:srgbClr val="5B6573"/>
                </a:solidFill>
                <a:latin typeface="Aptos"/>
                <a:ea typeface="Aptos"/>
                <a:cs typeface="Dubai"/>
              </a:rPr>
              <a:t>Our arithmetic from the plan's example, for a production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8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ACROSS MANY CAMERAS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من عدة كاميرات إلى مدينة كاملة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search never starts with "all of Amman": it starts from a place and a time</a:t>
            </a:r>
          </a:p>
        </p:txBody>
      </p:sp>
      <p:sp>
        <p:nvSpPr>
          <p:cNvPr id="9" name="Oval 8"/>
          <p:cNvSpPr/>
          <p:nvPr/>
        </p:nvSpPr>
        <p:spPr>
          <a:xfrm>
            <a:off x="1280160" y="1965960"/>
            <a:ext cx="3749039" cy="3749039"/>
          </a:xfrm>
          <a:prstGeom prst="ellipse">
            <a:avLst/>
          </a:prstGeom>
          <a:noFill/>
          <a:ln w="19050">
            <a:solidFill>
              <a:srgbClr val="D5DBE1"/>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057400" y="2743200"/>
            <a:ext cx="2194560" cy="2194560"/>
          </a:xfrm>
          <a:prstGeom prst="ellipse">
            <a:avLst/>
          </a:prstGeom>
          <a:noFill/>
          <a:ln w="19050">
            <a:solidFill>
              <a:srgbClr val="0E7C7B"/>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3154680" y="1994438"/>
            <a:ext cx="325506" cy="1846042"/>
          </a:xfrm>
          <a:prstGeom prst="line">
            <a:avLst/>
          </a:prstGeom>
          <a:ln w="12700">
            <a:solidFill>
              <a:srgbClr val="D5DBE1"/>
            </a:solidFill>
          </a:ln>
        </p:spPr>
      </p:cxnSp>
      <p:cxnSp>
        <p:nvCxnSpPr>
          <p:cNvPr id="12" name="Connector 11"/>
          <p:cNvCxnSpPr/>
          <p:nvPr/>
        </p:nvCxnSpPr>
        <p:spPr>
          <a:xfrm flipH="1" flipV="1">
            <a:off x="1308638" y="3514973"/>
            <a:ext cx="1846042" cy="325507"/>
          </a:xfrm>
          <a:prstGeom prst="line">
            <a:avLst/>
          </a:prstGeom>
          <a:ln w="12700">
            <a:solidFill>
              <a:srgbClr val="D5DBE1"/>
            </a:solidFill>
          </a:ln>
        </p:spPr>
      </p:cxnSp>
      <p:cxnSp>
        <p:nvCxnSpPr>
          <p:cNvPr id="13" name="Connector 12"/>
          <p:cNvCxnSpPr/>
          <p:nvPr/>
        </p:nvCxnSpPr>
        <p:spPr>
          <a:xfrm flipH="1">
            <a:off x="2829173" y="3840480"/>
            <a:ext cx="325507" cy="1846041"/>
          </a:xfrm>
          <a:prstGeom prst="line">
            <a:avLst/>
          </a:prstGeom>
          <a:ln w="12700">
            <a:solidFill>
              <a:srgbClr val="D5DBE1"/>
            </a:solidFill>
          </a:ln>
        </p:spPr>
      </p:cxnSp>
      <p:cxnSp>
        <p:nvCxnSpPr>
          <p:cNvPr id="14" name="Connector 13"/>
          <p:cNvCxnSpPr/>
          <p:nvPr/>
        </p:nvCxnSpPr>
        <p:spPr>
          <a:xfrm>
            <a:off x="3154680" y="3840480"/>
            <a:ext cx="1846041" cy="325506"/>
          </a:xfrm>
          <a:prstGeom prst="line">
            <a:avLst/>
          </a:prstGeom>
          <a:ln w="12700">
            <a:solidFill>
              <a:srgbClr val="D5DBE1"/>
            </a:solidFill>
          </a:ln>
        </p:spPr>
      </p:cxnSp>
      <p:cxnSp>
        <p:nvCxnSpPr>
          <p:cNvPr id="15" name="Connector 14"/>
          <p:cNvCxnSpPr/>
          <p:nvPr/>
        </p:nvCxnSpPr>
        <p:spPr>
          <a:xfrm flipV="1">
            <a:off x="3154680" y="3211106"/>
            <a:ext cx="898839" cy="629374"/>
          </a:xfrm>
          <a:prstGeom prst="line">
            <a:avLst/>
          </a:prstGeom>
          <a:ln w="15875">
            <a:solidFill>
              <a:srgbClr val="0E7C7B"/>
            </a:solidFill>
          </a:ln>
        </p:spPr>
      </p:cxnSp>
      <p:cxnSp>
        <p:nvCxnSpPr>
          <p:cNvPr id="16" name="Connector 15"/>
          <p:cNvCxnSpPr/>
          <p:nvPr/>
        </p:nvCxnSpPr>
        <p:spPr>
          <a:xfrm flipH="1" flipV="1">
            <a:off x="2525306" y="2941640"/>
            <a:ext cx="629374" cy="898840"/>
          </a:xfrm>
          <a:prstGeom prst="line">
            <a:avLst/>
          </a:prstGeom>
          <a:ln w="15875">
            <a:solidFill>
              <a:srgbClr val="0E7C7B"/>
            </a:solidFill>
          </a:ln>
        </p:spPr>
      </p:cxnSp>
      <p:cxnSp>
        <p:nvCxnSpPr>
          <p:cNvPr id="17" name="Connector 16"/>
          <p:cNvCxnSpPr/>
          <p:nvPr/>
        </p:nvCxnSpPr>
        <p:spPr>
          <a:xfrm flipH="1">
            <a:off x="2255840" y="3840480"/>
            <a:ext cx="898840" cy="629373"/>
          </a:xfrm>
          <a:prstGeom prst="line">
            <a:avLst/>
          </a:prstGeom>
          <a:ln w="15875">
            <a:solidFill>
              <a:srgbClr val="0E7C7B"/>
            </a:solidFill>
          </a:ln>
        </p:spPr>
      </p:cxnSp>
      <p:cxnSp>
        <p:nvCxnSpPr>
          <p:cNvPr id="18" name="Connector 17"/>
          <p:cNvCxnSpPr/>
          <p:nvPr/>
        </p:nvCxnSpPr>
        <p:spPr>
          <a:xfrm>
            <a:off x="3154680" y="3840480"/>
            <a:ext cx="629373" cy="898839"/>
          </a:xfrm>
          <a:prstGeom prst="line">
            <a:avLst/>
          </a:prstGeom>
          <a:ln w="15875">
            <a:solidFill>
              <a:srgbClr val="0E7C7B"/>
            </a:solidFill>
          </a:ln>
        </p:spPr>
      </p:cxnSp>
      <p:sp>
        <p:nvSpPr>
          <p:cNvPr id="19" name="Oval 18"/>
          <p:cNvSpPr/>
          <p:nvPr/>
        </p:nvSpPr>
        <p:spPr>
          <a:xfrm>
            <a:off x="3224154" y="1738406"/>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a:t>
            </a:r>
          </a:p>
        </p:txBody>
      </p:sp>
      <p:sp>
        <p:nvSpPr>
          <p:cNvPr id="20" name="Oval 19"/>
          <p:cNvSpPr/>
          <p:nvPr/>
        </p:nvSpPr>
        <p:spPr>
          <a:xfrm>
            <a:off x="1052606" y="3258941"/>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C21</a:t>
            </a:r>
          </a:p>
        </p:txBody>
      </p:sp>
      <p:sp>
        <p:nvSpPr>
          <p:cNvPr id="21" name="Oval 20"/>
          <p:cNvSpPr/>
          <p:nvPr/>
        </p:nvSpPr>
        <p:spPr>
          <a:xfrm>
            <a:off x="2573141" y="5430489"/>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C30</a:t>
            </a:r>
          </a:p>
        </p:txBody>
      </p:sp>
      <p:sp>
        <p:nvSpPr>
          <p:cNvPr id="22" name="Oval 21"/>
          <p:cNvSpPr/>
          <p:nvPr/>
        </p:nvSpPr>
        <p:spPr>
          <a:xfrm>
            <a:off x="4744689" y="3909954"/>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C4</a:t>
            </a:r>
          </a:p>
        </p:txBody>
      </p:sp>
      <p:sp>
        <p:nvSpPr>
          <p:cNvPr id="23" name="Oval 22"/>
          <p:cNvSpPr/>
          <p:nvPr/>
        </p:nvSpPr>
        <p:spPr>
          <a:xfrm>
            <a:off x="3779199" y="2936786"/>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C9</a:t>
            </a:r>
          </a:p>
        </p:txBody>
      </p:sp>
      <p:sp>
        <p:nvSpPr>
          <p:cNvPr id="24" name="Oval 23"/>
          <p:cNvSpPr/>
          <p:nvPr/>
        </p:nvSpPr>
        <p:spPr>
          <a:xfrm>
            <a:off x="2250986" y="2667320"/>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C13</a:t>
            </a:r>
          </a:p>
        </p:txBody>
      </p:sp>
      <p:sp>
        <p:nvSpPr>
          <p:cNvPr id="25" name="Oval 24"/>
          <p:cNvSpPr/>
          <p:nvPr/>
        </p:nvSpPr>
        <p:spPr>
          <a:xfrm>
            <a:off x="1981520" y="4195533"/>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C15</a:t>
            </a:r>
          </a:p>
        </p:txBody>
      </p:sp>
      <p:sp>
        <p:nvSpPr>
          <p:cNvPr id="26" name="Oval 25"/>
          <p:cNvSpPr/>
          <p:nvPr/>
        </p:nvSpPr>
        <p:spPr>
          <a:xfrm>
            <a:off x="3509733" y="4464999"/>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C7</a:t>
            </a:r>
          </a:p>
        </p:txBody>
      </p:sp>
      <p:sp>
        <p:nvSpPr>
          <p:cNvPr id="27" name="Oval 26"/>
          <p:cNvSpPr/>
          <p:nvPr/>
        </p:nvSpPr>
        <p:spPr>
          <a:xfrm>
            <a:off x="2770632" y="3456432"/>
            <a:ext cx="768096" cy="768096"/>
          </a:xfrm>
          <a:prstGeom prst="ellipse">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C12</a:t>
            </a:r>
          </a:p>
        </p:txBody>
      </p:sp>
      <p:sp>
        <p:nvSpPr>
          <p:cNvPr id="28" name="TextBox 27"/>
          <p:cNvSpPr txBox="1"/>
          <p:nvPr/>
        </p:nvSpPr>
        <p:spPr>
          <a:xfrm>
            <a:off x="2057400" y="4251960"/>
            <a:ext cx="2194560" cy="274320"/>
          </a:xfrm>
          <a:prstGeom prst="rect">
            <a:avLst/>
          </a:prstGeom>
          <a:noFill/>
        </p:spPr>
        <p:txBody>
          <a:bodyPr wrap="square" lIns="0" tIns="0" rIns="0" bIns="0" anchor="t">
            <a:noAutofit/>
          </a:bodyPr>
          <a:lstStyle/>
          <a:p>
            <a:pPr algn="ctr">
              <a:spcBef>
                <a:spcPts val="0"/>
              </a:spcBef>
              <a:spcAft>
                <a:spcPts val="0"/>
              </a:spcAft>
            </a:pPr>
            <a:r>
              <a:rPr sz="1100" b="1" i="0" lang="en-GB">
                <a:solidFill>
                  <a:srgbClr val="0F2A44"/>
                </a:solidFill>
                <a:latin typeface="Aptos"/>
                <a:ea typeface="Aptos"/>
                <a:cs typeface="Dubai"/>
              </a:rPr>
              <a:t>last seen 14:05</a:t>
            </a:r>
          </a:p>
        </p:txBody>
      </p:sp>
      <p:sp>
        <p:nvSpPr>
          <p:cNvPr id="29" name="TextBox 28"/>
          <p:cNvSpPr txBox="1"/>
          <p:nvPr/>
        </p:nvSpPr>
        <p:spPr>
          <a:xfrm>
            <a:off x="548640" y="6053328"/>
            <a:ext cx="5486400" cy="274320"/>
          </a:xfrm>
          <a:prstGeom prst="rect">
            <a:avLst/>
          </a:prstGeom>
          <a:noFill/>
        </p:spPr>
        <p:txBody>
          <a:bodyPr wrap="square" lIns="0" tIns="0" rIns="0" bIns="0" anchor="t">
            <a:noAutofit/>
          </a:bodyPr>
          <a:lstStyle/>
          <a:p>
            <a:pPr algn="l">
              <a:spcBef>
                <a:spcPts val="0"/>
              </a:spcBef>
              <a:spcAft>
                <a:spcPts val="0"/>
              </a:spcAft>
            </a:pPr>
            <a:r>
              <a:rPr sz="1100" b="0" i="0" lang="en-GB">
                <a:solidFill>
                  <a:srgbClr val="0E7C7B"/>
                </a:solidFill>
                <a:latin typeface="Aptos"/>
                <a:ea typeface="Aptos"/>
                <a:cs typeface="Dubai"/>
              </a:rPr>
              <a:t>●  </a:t>
            </a:r>
            <a:r>
              <a:rPr sz="1100" b="0" i="0" lang="en-GB">
                <a:solidFill>
                  <a:srgbClr val="5B6573"/>
                </a:solidFill>
                <a:latin typeface="Aptos"/>
                <a:ea typeface="Aptos"/>
                <a:cs typeface="Dubai"/>
              </a:rPr>
              <a:t>searched first: under 5 min walk      </a:t>
            </a:r>
            <a:r>
              <a:rPr sz="1100" b="0" i="0" lang="en-GB">
                <a:solidFill>
                  <a:srgbClr val="B8C2CC"/>
                </a:solidFill>
                <a:latin typeface="Aptos"/>
                <a:ea typeface="Aptos"/>
                <a:cs typeface="Dubai"/>
              </a:rPr>
              <a:t>●  </a:t>
            </a:r>
            <a:r>
              <a:rPr sz="1100" b="0" i="0" lang="en-GB">
                <a:solidFill>
                  <a:srgbClr val="5B6573"/>
                </a:solidFill>
                <a:latin typeface="Aptos"/>
                <a:ea typeface="Aptos"/>
                <a:cs typeface="Dubai"/>
              </a:rPr>
              <a:t>next ring: 5-15 min      illustrative</a:t>
            </a:r>
          </a:p>
        </p:txBody>
      </p:sp>
      <p:sp>
        <p:nvSpPr>
          <p:cNvPr id="30" name="Oval 29"/>
          <p:cNvSpPr/>
          <p:nvPr/>
        </p:nvSpPr>
        <p:spPr>
          <a:xfrm>
            <a:off x="6263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31" name="TextBox 30"/>
          <p:cNvSpPr txBox="1"/>
          <p:nvPr/>
        </p:nvSpPr>
        <p:spPr>
          <a:xfrm>
            <a:off x="6812279" y="1783080"/>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Start from the last sighting</a:t>
            </a:r>
          </a:p>
          <a:p>
            <a:pPr algn="l">
              <a:spcBef>
                <a:spcPts val="0"/>
              </a:spcBef>
              <a:spcAft>
                <a:spcPts val="0"/>
              </a:spcAft>
            </a:pPr>
            <a:r>
              <a:rPr sz="1400" b="0" i="0" lang="en-GB">
                <a:solidFill>
                  <a:srgbClr val="1F2937"/>
                </a:solidFill>
                <a:latin typeface="Aptos"/>
                <a:ea typeface="Aptos"/>
                <a:cs typeface="Dubai"/>
              </a:rPr>
              <a:t>The report, or the first confirmed match: one camera, one time.</a:t>
            </a:r>
          </a:p>
        </p:txBody>
      </p:sp>
      <p:sp>
        <p:nvSpPr>
          <p:cNvPr id="32" name="Oval 31"/>
          <p:cNvSpPr/>
          <p:nvPr/>
        </p:nvSpPr>
        <p:spPr>
          <a:xfrm>
            <a:off x="6263640" y="260604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33" name="TextBox 32"/>
          <p:cNvSpPr txBox="1"/>
          <p:nvPr/>
        </p:nvSpPr>
        <p:spPr>
          <a:xfrm>
            <a:off x="6812279" y="2587752"/>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the nearest cameras first</a:t>
            </a:r>
          </a:p>
          <a:p>
            <a:pPr algn="l">
              <a:spcBef>
                <a:spcPts val="0"/>
              </a:spcBef>
              <a:spcAft>
                <a:spcPts val="0"/>
              </a:spcAft>
            </a:pPr>
            <a:r>
              <a:rPr sz="1400" b="0" i="0" lang="en-GB">
                <a:solidFill>
                  <a:srgbClr val="1F2937"/>
                </a:solidFill>
                <a:latin typeface="Aptos"/>
                <a:ea typeface="Aptos"/>
                <a:cs typeface="Dubai"/>
              </a:rPr>
              <a:t>A map of which cameras lead to which, with walking times, sets the order.</a:t>
            </a:r>
          </a:p>
        </p:txBody>
      </p:sp>
      <p:sp>
        <p:nvSpPr>
          <p:cNvPr id="34" name="Oval 33"/>
          <p:cNvSpPr/>
          <p:nvPr/>
        </p:nvSpPr>
        <p:spPr>
          <a:xfrm>
            <a:off x="6263640" y="341071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35" name="TextBox 34"/>
          <p:cNvSpPr txBox="1"/>
          <p:nvPr/>
        </p:nvSpPr>
        <p:spPr>
          <a:xfrm>
            <a:off x="6812279" y="3392424"/>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Widen ring by ring</a:t>
            </a:r>
          </a:p>
          <a:p>
            <a:pPr algn="l">
              <a:spcBef>
                <a:spcPts val="0"/>
              </a:spcBef>
              <a:spcAft>
                <a:spcPts val="0"/>
              </a:spcAft>
            </a:pPr>
            <a:r>
              <a:rPr sz="1400" b="0" i="0" lang="en-GB">
                <a:solidFill>
                  <a:srgbClr val="1F2937"/>
                </a:solidFill>
                <a:latin typeface="Aptos"/>
                <a:ea typeface="Aptos"/>
                <a:cs typeface="Dubai"/>
              </a:rPr>
              <a:t>Only if nothing is found. Each confirmed match becomes the new starting point.</a:t>
            </a:r>
          </a:p>
        </p:txBody>
      </p:sp>
      <p:sp>
        <p:nvSpPr>
          <p:cNvPr id="36" name="Oval 35"/>
          <p:cNvSpPr/>
          <p:nvPr/>
        </p:nvSpPr>
        <p:spPr>
          <a:xfrm>
            <a:off x="6263640" y="421538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37" name="TextBox 36"/>
          <p:cNvSpPr txBox="1"/>
          <p:nvPr/>
        </p:nvSpPr>
        <p:spPr>
          <a:xfrm>
            <a:off x="6812279" y="4197096"/>
            <a:ext cx="4828032" cy="107899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"Where did they go next?" is assisted</a:t>
            </a:r>
          </a:p>
          <a:p>
            <a:pPr algn="l">
              <a:spcBef>
                <a:spcPts val="0"/>
              </a:spcBef>
              <a:spcAft>
                <a:spcPts val="0"/>
              </a:spcAft>
            </a:pPr>
            <a:r>
              <a:rPr sz="1400" b="0" i="0" lang="en-GB">
                <a:solidFill>
                  <a:srgbClr val="1F2937"/>
                </a:solidFill>
                <a:latin typeface="Aptos"/>
                <a:ea typeface="Aptos"/>
                <a:cs typeface="Dubai"/>
              </a:rPr>
              <a:t>Live tracking across a city is unsolved: the best live system scored </a:t>
            </a:r>
            <a:r>
              <a:rPr sz="1400" b="1" i="0" lang="en-GB">
                <a:solidFill>
                  <a:srgbClr val="1F2937"/>
                </a:solidFill>
                <a:latin typeface="Aptos"/>
                <a:ea typeface="Aptos"/>
                <a:cs typeface="Dubai"/>
              </a:rPr>
              <a:t>28.8</a:t>
            </a:r>
            <a:r>
              <a:rPr sz="1400" b="0" i="0" lang="en-GB">
                <a:solidFill>
                  <a:srgbClr val="1F2937"/>
                </a:solidFill>
                <a:latin typeface="Aptos"/>
                <a:ea typeface="Aptos"/>
                <a:cs typeface="Dubai"/>
              </a:rPr>
              <a:t>, against about </a:t>
            </a:r>
            <a:r>
              <a:rPr sz="1400" b="1" i="0" lang="en-GB">
                <a:solidFill>
                  <a:srgbClr val="1F2937"/>
                </a:solidFill>
                <a:latin typeface="Aptos"/>
                <a:ea typeface="Aptos"/>
                <a:cs typeface="Dubai"/>
              </a:rPr>
              <a:t>70</a:t>
            </a:r>
            <a:r>
              <a:rPr sz="1400" b="0" i="0" lang="en-GB">
                <a:solidFill>
                  <a:srgbClr val="1F2937"/>
                </a:solidFill>
                <a:latin typeface="Aptos"/>
                <a:ea typeface="Aptos"/>
                <a:cs typeface="Dubai"/>
              </a:rPr>
              <a:t> after the fact (2025 benchmark). So a person confirms each step.</a:t>
            </a:r>
          </a:p>
        </p:txBody>
      </p:sp>
      <p:sp>
        <p:nvSpPr>
          <p:cNvPr id="38" name="Rounded Rectangle 37"/>
          <p:cNvSpPr/>
          <p:nvPr/>
        </p:nvSpPr>
        <p:spPr>
          <a:xfrm>
            <a:off x="6263640" y="5349240"/>
            <a:ext cx="5376672" cy="86868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Video stays where it was recorded. </a:t>
            </a:r>
            <a:r>
              <a:rPr sz="1300" b="0" i="0" lang="en-GB">
                <a:solidFill>
                  <a:srgbClr val="1F2937"/>
                </a:solidFill>
                <a:latin typeface="Aptos"/>
                <a:ea typeface="Aptos"/>
                <a:cs typeface="Dubai"/>
              </a:rPr>
              <a:t>Only a small index travels: for 1,000 cameras over 30 days, about 2.6 TB of index against about 650 TB of video.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9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FROM ONE SITE TO A CITY</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 هو الواقعي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site pilot is realistic; a whole city is a government programme we plug into</a:t>
            </a:r>
          </a:p>
        </p:txBody>
      </p:sp>
      <p:sp>
        <p:nvSpPr>
          <p:cNvPr id="9" name="Rounded Rectangle 8"/>
          <p:cNvSpPr/>
          <p:nvPr/>
        </p:nvSpPr>
        <p:spPr>
          <a:xfrm>
            <a:off x="548640" y="1783080"/>
            <a:ext cx="12710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Scale</a:t>
            </a:r>
          </a:p>
        </p:txBody>
      </p:sp>
      <p:sp>
        <p:nvSpPr>
          <p:cNvPr id="10" name="Rounded Rectangle 9"/>
          <p:cNvSpPr/>
          <p:nvPr/>
        </p:nvSpPr>
        <p:spPr>
          <a:xfrm>
            <a:off x="1874519" y="1783080"/>
            <a:ext cx="20939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Example</a:t>
            </a:r>
          </a:p>
        </p:txBody>
      </p:sp>
      <p:sp>
        <p:nvSpPr>
          <p:cNvPr id="11" name="Rounded Rectangle 10"/>
          <p:cNvSpPr/>
          <p:nvPr/>
        </p:nvSpPr>
        <p:spPr>
          <a:xfrm>
            <a:off x="4023360" y="1783080"/>
            <a:ext cx="28712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What it takes</a:t>
            </a:r>
          </a:p>
        </p:txBody>
      </p:sp>
      <p:sp>
        <p:nvSpPr>
          <p:cNvPr id="12" name="Rounded Rectangle 11"/>
          <p:cNvSpPr/>
          <p:nvPr/>
        </p:nvSpPr>
        <p:spPr>
          <a:xfrm>
            <a:off x="6949440" y="1783080"/>
            <a:ext cx="14081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Realistic for us?</a:t>
            </a:r>
          </a:p>
        </p:txBody>
      </p:sp>
      <p:sp>
        <p:nvSpPr>
          <p:cNvPr id="13" name="Rounded Rectangle 12"/>
          <p:cNvSpPr/>
          <p:nvPr/>
        </p:nvSpPr>
        <p:spPr>
          <a:xfrm>
            <a:off x="548640" y="2249424"/>
            <a:ext cx="12710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PoC</a:t>
            </a:r>
          </a:p>
        </p:txBody>
      </p:sp>
      <p:sp>
        <p:nvSpPr>
          <p:cNvPr id="14" name="Rounded Rectangle 13"/>
          <p:cNvSpPr/>
          <p:nvPr/>
        </p:nvSpPr>
        <p:spPr>
          <a:xfrm>
            <a:off x="1874519" y="2249424"/>
            <a:ext cx="209397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few cameras, uploaded recordings</a:t>
            </a:r>
          </a:p>
        </p:txBody>
      </p:sp>
      <p:sp>
        <p:nvSpPr>
          <p:cNvPr id="15" name="Rounded Rectangle 14"/>
          <p:cNvSpPr/>
          <p:nvPr/>
        </p:nvSpPr>
        <p:spPr>
          <a:xfrm>
            <a:off x="4023360" y="2249424"/>
            <a:ext cx="28712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This plan, on one computer</a:t>
            </a:r>
          </a:p>
        </p:txBody>
      </p:sp>
      <p:sp>
        <p:nvSpPr>
          <p:cNvPr id="16" name="Rounded Rectangle 15"/>
          <p:cNvSpPr/>
          <p:nvPr/>
        </p:nvSpPr>
        <p:spPr>
          <a:xfrm>
            <a:off x="6949440" y="2249424"/>
            <a:ext cx="1408176" cy="566928"/>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this plan</a:t>
            </a:r>
          </a:p>
        </p:txBody>
      </p:sp>
      <p:sp>
        <p:nvSpPr>
          <p:cNvPr id="17" name="Rounded Rectangle 16"/>
          <p:cNvSpPr/>
          <p:nvPr/>
        </p:nvSpPr>
        <p:spPr>
          <a:xfrm>
            <a:off x="548640" y="287121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Site pilot</a:t>
            </a:r>
          </a:p>
        </p:txBody>
      </p:sp>
      <p:sp>
        <p:nvSpPr>
          <p:cNvPr id="18" name="Rounded Rectangle 17"/>
          <p:cNvSpPr/>
          <p:nvPr/>
        </p:nvSpPr>
        <p:spPr>
          <a:xfrm>
            <a:off x="1874519" y="287121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One mall, airport terminal or ministry</a:t>
            </a:r>
          </a:p>
        </p:txBody>
      </p:sp>
      <p:sp>
        <p:nvSpPr>
          <p:cNvPr id="19" name="Rounded Rectangle 18"/>
          <p:cNvSpPr/>
          <p:nvPr/>
        </p:nvSpPr>
        <p:spPr>
          <a:xfrm>
            <a:off x="4023360" y="287121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On-site GPU server, the site's video system, the owner as data controller, an impact assessment</a:t>
            </a:r>
          </a:p>
        </p:txBody>
      </p:sp>
      <p:sp>
        <p:nvSpPr>
          <p:cNvPr id="20" name="Rounded Rectangle 19"/>
          <p:cNvSpPr/>
          <p:nvPr/>
        </p:nvSpPr>
        <p:spPr>
          <a:xfrm>
            <a:off x="6949440" y="2871215"/>
            <a:ext cx="1408176"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with a partner</a:t>
            </a:r>
          </a:p>
        </p:txBody>
      </p:sp>
      <p:sp>
        <p:nvSpPr>
          <p:cNvPr id="21" name="Rounded Rectangle 20"/>
          <p:cNvSpPr/>
          <p:nvPr/>
        </p:nvSpPr>
        <p:spPr>
          <a:xfrm>
            <a:off x="548640" y="3794759"/>
            <a:ext cx="12710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District</a:t>
            </a:r>
          </a:p>
        </p:txBody>
      </p:sp>
      <p:sp>
        <p:nvSpPr>
          <p:cNvPr id="22" name="Rounded Rectangle 21"/>
          <p:cNvSpPr/>
          <p:nvPr/>
        </p:nvSpPr>
        <p:spPr>
          <a:xfrm>
            <a:off x="1874519" y="3794759"/>
            <a:ext cx="209397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About 1,000 cameras, many owners</a:t>
            </a:r>
          </a:p>
        </p:txBody>
      </p:sp>
      <p:sp>
        <p:nvSpPr>
          <p:cNvPr id="23" name="Rounded Rectangle 22"/>
          <p:cNvSpPr/>
          <p:nvPr/>
        </p:nvSpPr>
        <p:spPr>
          <a:xfrm>
            <a:off x="4023360" y="3794759"/>
            <a:ext cx="28712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box at each site, a central index, data-sharing agreements</a:t>
            </a:r>
          </a:p>
        </p:txBody>
      </p:sp>
      <p:sp>
        <p:nvSpPr>
          <p:cNvPr id="24" name="Rounded Rectangle 23"/>
          <p:cNvSpPr/>
          <p:nvPr/>
        </p:nvSpPr>
        <p:spPr>
          <a:xfrm>
            <a:off x="6949440" y="3794759"/>
            <a:ext cx="1408176" cy="71323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B45F06"/>
                </a:solidFill>
                <a:latin typeface="Aptos"/>
                <a:ea typeface="Aptos"/>
                <a:cs typeface="Dubai"/>
              </a:rPr>
              <a:t>Needs a public-sector sponsor</a:t>
            </a:r>
          </a:p>
        </p:txBody>
      </p:sp>
      <p:sp>
        <p:nvSpPr>
          <p:cNvPr id="25" name="Rounded Rectangle 24"/>
          <p:cNvSpPr/>
          <p:nvPr/>
        </p:nvSpPr>
        <p:spPr>
          <a:xfrm>
            <a:off x="548640" y="456285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Whole city</a:t>
            </a:r>
          </a:p>
        </p:txBody>
      </p:sp>
      <p:sp>
        <p:nvSpPr>
          <p:cNvPr id="26" name="Rounded Rectangle 25"/>
          <p:cNvSpPr/>
          <p:nvPr/>
        </p:nvSpPr>
        <p:spPr>
          <a:xfrm>
            <a:off x="1874519" y="456285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Tens of thousands of cameras, thousands of owners</a:t>
            </a:r>
          </a:p>
        </p:txBody>
      </p:sp>
      <p:sp>
        <p:nvSpPr>
          <p:cNvPr id="27" name="Rounded Rectangle 26"/>
          <p:cNvSpPr/>
          <p:nvPr/>
        </p:nvSpPr>
        <p:spPr>
          <a:xfrm>
            <a:off x="4023360" y="456285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legal mandate, camera standards, a secure network, an operations centre, oversight</a:t>
            </a:r>
          </a:p>
        </p:txBody>
      </p:sp>
      <p:sp>
        <p:nvSpPr>
          <p:cNvPr id="28" name="Rounded Rectangle 27"/>
          <p:cNvSpPr/>
          <p:nvPr/>
        </p:nvSpPr>
        <p:spPr>
          <a:xfrm>
            <a:off x="6949440" y="4562855"/>
            <a:ext cx="1408176" cy="868680"/>
          </a:xfrm>
          <a:prstGeom prst="roundRect">
            <a:avLst>
              <a:gd name="adj" fmla="val 6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Only as a government programme</a:t>
            </a:r>
          </a:p>
        </p:txBody>
      </p:sp>
      <p:sp>
        <p:nvSpPr>
          <p:cNvPr id="29" name="Rounded Rectangle 28"/>
          <p:cNvSpPr/>
          <p:nvPr/>
        </p:nvSpPr>
        <p:spPr>
          <a:xfrm>
            <a:off x="8686800" y="1783080"/>
            <a:ext cx="2953512" cy="4526280"/>
          </a:xfrm>
          <a:prstGeom prst="roundRect">
            <a:avLst>
              <a:gd name="adj" fmla="val 4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7968" y="1920240"/>
            <a:ext cx="2551176" cy="32004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AMMAN TODAY</a:t>
            </a:r>
          </a:p>
        </p:txBody>
      </p:sp>
      <p:sp>
        <p:nvSpPr>
          <p:cNvPr id="31" name="TextBox 30"/>
          <p:cNvSpPr txBox="1"/>
          <p:nvPr/>
        </p:nvSpPr>
        <p:spPr>
          <a:xfrm>
            <a:off x="8887968" y="224028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5,600</a:t>
            </a:r>
          </a:p>
          <a:p>
            <a:pPr algn="l">
              <a:spcBef>
                <a:spcPts val="0"/>
              </a:spcBef>
              <a:spcAft>
                <a:spcPts val="0"/>
              </a:spcAft>
            </a:pPr>
            <a:r>
              <a:rPr sz="1200" b="0" i="0" lang="en-GB">
                <a:solidFill>
                  <a:srgbClr val="1F2937"/>
                </a:solidFill>
                <a:latin typeface="Aptos"/>
                <a:ea typeface="Aptos"/>
                <a:cs typeface="Dubai"/>
              </a:rPr>
              <a:t>traffic cameras run by the Greater Amman Municipality</a:t>
            </a:r>
          </a:p>
        </p:txBody>
      </p:sp>
      <p:sp>
        <p:nvSpPr>
          <p:cNvPr id="32" name="TextBox 31"/>
          <p:cNvSpPr txBox="1"/>
          <p:nvPr/>
        </p:nvSpPr>
        <p:spPr>
          <a:xfrm>
            <a:off x="8887968" y="310896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3,100</a:t>
            </a:r>
          </a:p>
          <a:p>
            <a:pPr algn="l">
              <a:spcBef>
                <a:spcPts val="0"/>
              </a:spcBef>
              <a:spcAft>
                <a:spcPts val="0"/>
              </a:spcAft>
            </a:pPr>
            <a:r>
              <a:rPr sz="1200" b="0" i="0" lang="en-GB">
                <a:solidFill>
                  <a:srgbClr val="1F2937"/>
                </a:solidFill>
                <a:latin typeface="Aptos"/>
                <a:ea typeface="Aptos"/>
                <a:cs typeface="Dubai"/>
              </a:rPr>
              <a:t>more tendered in February 2026</a:t>
            </a:r>
          </a:p>
        </p:txBody>
      </p:sp>
      <p:sp>
        <p:nvSpPr>
          <p:cNvPr id="33" name="TextBox 32"/>
          <p:cNvSpPr txBox="1"/>
          <p:nvPr/>
        </p:nvSpPr>
        <p:spPr>
          <a:xfrm>
            <a:off x="8887968" y="397764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no count</a:t>
            </a:r>
          </a:p>
          <a:p>
            <a:pPr algn="l">
              <a:spcBef>
                <a:spcPts val="0"/>
              </a:spcBef>
              <a:spcAft>
                <a:spcPts val="0"/>
              </a:spcAft>
            </a:pPr>
            <a:r>
              <a:rPr sz="1200" b="0" i="0" lang="en-GB">
                <a:solidFill>
                  <a:srgbClr val="1F2937"/>
                </a:solidFill>
                <a:latin typeface="Aptos"/>
                <a:ea typeface="Aptos"/>
                <a:cs typeface="Dubai"/>
              </a:rPr>
              <a:t>has been published of all public and private cameras</a:t>
            </a:r>
          </a:p>
        </p:txBody>
      </p:sp>
      <p:cxnSp>
        <p:nvCxnSpPr>
          <p:cNvPr id="34" name="Connector 33"/>
          <p:cNvCxnSpPr/>
          <p:nvPr/>
        </p:nvCxnSpPr>
        <p:spPr>
          <a:xfrm>
            <a:off x="8887968" y="4864608"/>
            <a:ext cx="2551176" cy="0"/>
          </a:xfrm>
          <a:prstGeom prst="line">
            <a:avLst/>
          </a:prstGeom>
          <a:ln w="12700">
            <a:solidFill>
              <a:srgbClr val="B9DDDA"/>
            </a:solidFill>
          </a:ln>
        </p:spPr>
      </p:cxnSp>
      <p:sp>
        <p:nvSpPr>
          <p:cNvPr id="35" name="TextBox 34"/>
          <p:cNvSpPr txBox="1"/>
          <p:nvPr/>
        </p:nvSpPr>
        <p:spPr>
          <a:xfrm>
            <a:off x="8887968" y="4956048"/>
            <a:ext cx="2551176" cy="1097280"/>
          </a:xfrm>
          <a:prstGeom prst="rect">
            <a:avLst/>
          </a:prstGeom>
          <a:noFill/>
        </p:spPr>
        <p:txBody>
          <a:bodyPr wrap="square" lIns="0" tIns="0" rIns="0" bIns="0" anchor="t">
            <a:noAutofit/>
          </a:bodyPr>
          <a:lstStyle/>
          <a:p>
            <a:pPr algn="l">
              <a:spcBef>
                <a:spcPts val="0"/>
              </a:spcBef>
              <a:spcAft>
                <a:spcPts val="200"/>
              </a:spcAft>
            </a:pPr>
            <a:r>
              <a:rPr sz="1100" b="1" i="0" lang="en-GB">
                <a:solidFill>
                  <a:srgbClr val="0E7C7B"/>
                </a:solidFill>
                <a:latin typeface="Aptos"/>
                <a:ea typeface="Aptos"/>
                <a:cs typeface="Dubai"/>
              </a:rPr>
              <a:t>For comparison</a:t>
            </a:r>
          </a:p>
          <a:p>
            <a:pPr algn="l">
              <a:spcBef>
                <a:spcPts val="0"/>
              </a:spcBef>
              <a:spcAft>
                <a:spcPts val="0"/>
              </a:spcAft>
            </a:pPr>
            <a:r>
              <a:rPr sz="1200" b="0" i="0" lang="en-GB">
                <a:solidFill>
                  <a:srgbClr val="1F2937"/>
                </a:solidFill>
                <a:latin typeface="Aptos"/>
                <a:ea typeface="Aptos"/>
                <a:cs typeface="Dubai"/>
              </a:rPr>
              <a:t>Dubai's Oyoon links more than 300,000 cameras; Singapore has more than 100,000 police cameras.</a:t>
            </a:r>
          </a:p>
        </p:txBody>
      </p:sp>
      <p:sp>
        <p:nvSpPr>
          <p:cNvPr id="36" name="Rounded Rectangle 35"/>
          <p:cNvSpPr/>
          <p:nvPr/>
        </p:nvSpPr>
        <p:spPr>
          <a:xfrm>
            <a:off x="548640" y="5532120"/>
            <a:ext cx="7918704" cy="731520"/>
          </a:xfrm>
          <a:prstGeom prst="roundRect">
            <a:avLst>
              <a:gd name="adj" fmla="val 1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500" b="1" i="0" lang="en-GB">
                <a:solidFill>
                  <a:srgbClr val="0E7C7B"/>
                </a:solidFill>
                <a:latin typeface="Aptos"/>
                <a:ea typeface="Aptos"/>
                <a:cs typeface="Dubai"/>
              </a:rPr>
              <a:t>Our part: </a:t>
            </a:r>
            <a:r>
              <a:rPr sz="1500" b="0" i="0" lang="en-GB">
                <a:solidFill>
                  <a:srgbClr val="1F2937"/>
                </a:solidFill>
                <a:latin typeface="Aptos"/>
                <a:ea typeface="Aptos"/>
                <a:cs typeface="Dubai"/>
              </a:rPr>
              <a:t>the Arabic search layer, built so it can plug into a city programme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10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SAFEGUARDS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الضمانات والخصوصية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Built in from day one: appearance only, people decide, every search on record</a:t>
            </a:r>
          </a:p>
        </p:txBody>
      </p:sp>
      <p:sp>
        <p:nvSpPr>
          <p:cNvPr id="9" name="Rounded Rectangle 8"/>
          <p:cNvSpPr/>
          <p:nvPr/>
        </p:nvSpPr>
        <p:spPr>
          <a:xfrm>
            <a:off x="548640"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2093976" cy="7315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quot;No&quot; Symbol 10"/>
          <p:cNvSpPr/>
          <p:nvPr/>
        </p:nvSpPr>
        <p:spPr>
          <a:xfrm>
            <a:off x="749808" y="2057400"/>
            <a:ext cx="502920" cy="502920"/>
          </a:xfrm>
          <a:prstGeom prst="noSmoking">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No face recognition</a:t>
            </a:r>
          </a:p>
        </p:txBody>
      </p:sp>
      <p:sp>
        <p:nvSpPr>
          <p:cNvPr id="13" name="TextBox 12"/>
          <p:cNvSpPr txBox="1"/>
          <p:nvPr/>
        </p:nvSpPr>
        <p:spPr>
          <a:xfrm>
            <a:off x="749808"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لا للتعرف على الوجوه</a:t>
            </a:r>
          </a:p>
        </p:txBody>
      </p:sp>
      <p:sp>
        <p:nvSpPr>
          <p:cNvPr id="14" name="TextBox 13"/>
          <p:cNvSpPr txBox="1"/>
          <p:nvPr/>
        </p:nvSpPr>
        <p:spPr>
          <a:xfrm>
            <a:off x="749808"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Searches clothing, colours, bags and size. It never identifies who someone is.</a:t>
            </a:r>
          </a:p>
        </p:txBody>
      </p:sp>
      <p:sp>
        <p:nvSpPr>
          <p:cNvPr id="15" name="Rounded Rectangle 14"/>
          <p:cNvSpPr/>
          <p:nvPr/>
        </p:nvSpPr>
        <p:spPr>
          <a:xfrm>
            <a:off x="2798064"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98064"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99232"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2</a:t>
            </a:r>
          </a:p>
        </p:txBody>
      </p:sp>
      <p:sp>
        <p:nvSpPr>
          <p:cNvPr id="18" name="TextBox 17"/>
          <p:cNvSpPr txBox="1"/>
          <p:nvPr/>
        </p:nvSpPr>
        <p:spPr>
          <a:xfrm>
            <a:off x="2999232"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A lead, not proof</a:t>
            </a:r>
          </a:p>
        </p:txBody>
      </p:sp>
      <p:sp>
        <p:nvSpPr>
          <p:cNvPr id="19" name="TextBox 18"/>
          <p:cNvSpPr txBox="1"/>
          <p:nvPr/>
        </p:nvSpPr>
        <p:spPr>
          <a:xfrm>
            <a:off x="2999232"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نتيجة للتحقق لا دليل</a:t>
            </a:r>
          </a:p>
        </p:txBody>
      </p:sp>
      <p:sp>
        <p:nvSpPr>
          <p:cNvPr id="20" name="TextBox 19"/>
          <p:cNvSpPr txBox="1"/>
          <p:nvPr/>
        </p:nvSpPr>
        <p:spPr>
          <a:xfrm>
            <a:off x="2999232"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Each result shows its confidence and why it matched. A person confirms; two people before any action.</a:t>
            </a:r>
          </a:p>
        </p:txBody>
      </p:sp>
      <p:sp>
        <p:nvSpPr>
          <p:cNvPr id="21" name="Rounded Rectangle 20"/>
          <p:cNvSpPr/>
          <p:nvPr/>
        </p:nvSpPr>
        <p:spPr>
          <a:xfrm>
            <a:off x="5047488"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47488"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48655"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3</a:t>
            </a:r>
          </a:p>
        </p:txBody>
      </p:sp>
      <p:sp>
        <p:nvSpPr>
          <p:cNvPr id="24" name="TextBox 23"/>
          <p:cNvSpPr txBox="1"/>
          <p:nvPr/>
        </p:nvSpPr>
        <p:spPr>
          <a:xfrm>
            <a:off x="5248655"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Every search on record</a:t>
            </a:r>
          </a:p>
        </p:txBody>
      </p:sp>
      <p:sp>
        <p:nvSpPr>
          <p:cNvPr id="25" name="TextBox 24"/>
          <p:cNvSpPr txBox="1"/>
          <p:nvPr/>
        </p:nvSpPr>
        <p:spPr>
          <a:xfrm>
            <a:off x="5248655"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سجل تدقيق</a:t>
            </a:r>
          </a:p>
        </p:txBody>
      </p:sp>
      <p:sp>
        <p:nvSpPr>
          <p:cNvPr id="26" name="TextBox 25"/>
          <p:cNvSpPr txBox="1"/>
          <p:nvPr/>
        </p:nvSpPr>
        <p:spPr>
          <a:xfrm>
            <a:off x="5248655"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A case number for each search and an append-only log: who searched, the exact query, what they opened.</a:t>
            </a:r>
          </a:p>
        </p:txBody>
      </p:sp>
      <p:sp>
        <p:nvSpPr>
          <p:cNvPr id="27" name="Rounded Rectangle 26"/>
          <p:cNvSpPr/>
          <p:nvPr/>
        </p:nvSpPr>
        <p:spPr>
          <a:xfrm>
            <a:off x="7296912"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96912"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498079"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4</a:t>
            </a:r>
          </a:p>
        </p:txBody>
      </p:sp>
      <p:sp>
        <p:nvSpPr>
          <p:cNvPr id="30" name="TextBox 29"/>
          <p:cNvSpPr txBox="1"/>
          <p:nvPr/>
        </p:nvSpPr>
        <p:spPr>
          <a:xfrm>
            <a:off x="7498079"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Data stays in Jordan</a:t>
            </a:r>
          </a:p>
        </p:txBody>
      </p:sp>
      <p:sp>
        <p:nvSpPr>
          <p:cNvPr id="31" name="TextBox 30"/>
          <p:cNvSpPr txBox="1"/>
          <p:nvPr/>
        </p:nvSpPr>
        <p:spPr>
          <a:xfrm>
            <a:off x="7498079"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البيانات داخل الأردن</a:t>
            </a:r>
          </a:p>
        </p:txBody>
      </p:sp>
      <p:sp>
        <p:nvSpPr>
          <p:cNvPr id="32" name="TextBox 31"/>
          <p:cNvSpPr txBox="1"/>
          <p:nvPr/>
        </p:nvSpPr>
        <p:spPr>
          <a:xfrm>
            <a:off x="7498079"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Models run locally. The PoC sends nothing to any cloud AI service.</a:t>
            </a:r>
          </a:p>
        </p:txBody>
      </p:sp>
      <p:sp>
        <p:nvSpPr>
          <p:cNvPr id="33" name="Rounded Rectangle 32"/>
          <p:cNvSpPr/>
          <p:nvPr/>
        </p:nvSpPr>
        <p:spPr>
          <a:xfrm>
            <a:off x="9546336"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6336"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47504"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5</a:t>
            </a:r>
          </a:p>
        </p:txBody>
      </p:sp>
      <p:sp>
        <p:nvSpPr>
          <p:cNvPr id="36" name="TextBox 35"/>
          <p:cNvSpPr txBox="1"/>
          <p:nvPr/>
        </p:nvSpPr>
        <p:spPr>
          <a:xfrm>
            <a:off x="9747504"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Jordan's data law (PDPL)</a:t>
            </a:r>
          </a:p>
        </p:txBody>
      </p:sp>
      <p:sp>
        <p:nvSpPr>
          <p:cNvPr id="37" name="TextBox 36"/>
          <p:cNvSpPr txBox="1"/>
          <p:nvPr/>
        </p:nvSpPr>
        <p:spPr>
          <a:xfrm>
            <a:off x="9747504"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قانون حماية البيانات الشخصية</a:t>
            </a:r>
          </a:p>
        </p:txBody>
      </p:sp>
      <p:sp>
        <p:nvSpPr>
          <p:cNvPr id="38" name="TextBox 37"/>
          <p:cNvSpPr txBox="1"/>
          <p:nvPr/>
        </p:nvSpPr>
        <p:spPr>
          <a:xfrm>
            <a:off x="9747504"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Law No. 24 of 2023: CCTV is personal data; consent or a legal exception; transfers abroad restricted; breaches reported within 72 hours.</a:t>
            </a:r>
          </a:p>
        </p:txBody>
      </p:sp>
      <p:sp>
        <p:nvSpPr>
          <p:cNvPr id="39" name="Rounded Rectangle 38"/>
          <p:cNvSpPr/>
          <p:nvPr/>
        </p:nvSpPr>
        <p:spPr>
          <a:xfrm>
            <a:off x="548640" y="5559552"/>
            <a:ext cx="11091672" cy="71323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B45F06"/>
                </a:solidFill>
                <a:latin typeface="Aptos"/>
                <a:ea typeface="Aptos"/>
                <a:cs typeface="Dubai"/>
              </a:rPr>
              <a:t>Also: </a:t>
            </a:r>
            <a:r>
              <a:rPr sz="1300" b="0" i="0" lang="en-GB">
                <a:solidFill>
                  <a:srgbClr val="1F2937"/>
                </a:solidFill>
                <a:latin typeface="Aptos"/>
                <a:ea typeface="Aptos"/>
                <a:cs typeface="Dubai"/>
              </a:rPr>
              <a:t>the search index is deleted with the footage, other people's faces are blurred in exports, and an impact assessment comes before any pilot on real footage. Not legal advice: a Jordanian lawyer reviews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11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MVP DEMO</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العرض التجريبي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Upload recordings, search in Arabic, and get clips with timestamps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Upload</a:t>
            </a:r>
          </a:p>
          <a:p>
            <a:pPr algn="l">
              <a:spcBef>
                <a:spcPts val="0"/>
              </a:spcBef>
              <a:spcAft>
                <a:spcPts val="0"/>
              </a:spcAft>
            </a:pPr>
            <a:r>
              <a:rPr sz="1400" b="0" i="0" lang="en-GB">
                <a:solidFill>
                  <a:srgbClr val="1F2937"/>
                </a:solidFill>
                <a:latin typeface="Aptos"/>
                <a:ea typeface="Aptos"/>
                <a:cs typeface="Dubai"/>
              </a:rPr>
              <a:t>About 10 short recordings, each tagged with camera, place and start time.</a:t>
            </a:r>
          </a:p>
        </p:txBody>
      </p:sp>
      <p:sp>
        <p:nvSpPr>
          <p:cNvPr id="11" name="Oval 10"/>
          <p:cNvSpPr/>
          <p:nvPr/>
        </p:nvSpPr>
        <p:spPr>
          <a:xfrm>
            <a:off x="548640" y="265176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33472"/>
            <a:ext cx="4297680" cy="5029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in Arabic</a:t>
            </a:r>
          </a:p>
          <a:p>
            <a:pPr algn="l">
              <a:spcBef>
                <a:spcPts val="0"/>
              </a:spcBef>
              <a:spcAft>
                <a:spcPts val="0"/>
              </a:spcAft>
            </a:pPr>
            <a:r>
              <a:rPr sz="1400" b="0" i="0" lang="en-GB">
                <a:solidFill>
                  <a:srgbClr val="1F2937"/>
                </a:solidFill>
                <a:latin typeface="Aptos"/>
                <a:ea typeface="Aptos"/>
                <a:cs typeface="Dubai"/>
              </a:rPr>
              <a:t>Formal Arabic, Jordanian or Gulf phrasing.</a:t>
            </a:r>
          </a:p>
        </p:txBody>
      </p:sp>
      <p:sp>
        <p:nvSpPr>
          <p:cNvPr id="13" name="Oval 12"/>
          <p:cNvSpPr/>
          <p:nvPr/>
        </p:nvSpPr>
        <p:spPr>
          <a:xfrm>
            <a:off x="548640" y="331927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300984"/>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See the clips</a:t>
            </a:r>
          </a:p>
          <a:p>
            <a:pPr algn="l">
              <a:spcBef>
                <a:spcPts val="0"/>
              </a:spcBef>
              <a:spcAft>
                <a:spcPts val="0"/>
              </a:spcAft>
            </a:pPr>
            <a:r>
              <a:rPr sz="1400" b="0" i="0" lang="en-GB">
                <a:solidFill>
                  <a:srgbClr val="1F2937"/>
                </a:solidFill>
                <a:latin typeface="Aptos"/>
                <a:ea typeface="Aptos"/>
                <a:cs typeface="Dubai"/>
              </a:rPr>
              <a:t>Ranked, with camera, place, time and why each matched.</a:t>
            </a:r>
          </a:p>
        </p:txBody>
      </p:sp>
      <p:sp>
        <p:nvSpPr>
          <p:cNvPr id="15" name="Oval 14"/>
          <p:cNvSpPr/>
          <p:nvPr/>
        </p:nvSpPr>
        <p:spPr>
          <a:xfrm>
            <a:off x="548640" y="416966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151376"/>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Confirm</a:t>
            </a:r>
          </a:p>
          <a:p>
            <a:pPr algn="l">
              <a:spcBef>
                <a:spcPts val="0"/>
              </a:spcBef>
              <a:spcAft>
                <a:spcPts val="0"/>
              </a:spcAft>
            </a:pPr>
            <a:r>
              <a:rPr sz="1400" b="0" i="0" lang="en-GB">
                <a:solidFill>
                  <a:srgbClr val="1F2937"/>
                </a:solidFill>
                <a:latin typeface="Aptos"/>
                <a:ea typeface="Aptos"/>
                <a:cs typeface="Dubai"/>
              </a:rPr>
              <a:t>The timeline shows where the person appeared next. Every search is logged.</a:t>
            </a:r>
          </a:p>
        </p:txBody>
      </p:sp>
      <p:sp>
        <p:nvSpPr>
          <p:cNvPr id="17" name="Rounded Rectangle 16"/>
          <p:cNvSpPr/>
          <p:nvPr/>
        </p:nvSpPr>
        <p:spPr>
          <a:xfrm>
            <a:off x="5760720" y="1737360"/>
            <a:ext cx="5879592" cy="3657600"/>
          </a:xfrm>
          <a:prstGeom prst="roundRect">
            <a:avLst>
              <a:gd name="adj" fmla="val 3000"/>
            </a:avLst>
          </a:prstGeom>
          <a:solidFill>
            <a:srgbClr val="EEF1F4"/>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60720" y="1737360"/>
            <a:ext cx="5879592" cy="292608"/>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7880" y="1764792"/>
            <a:ext cx="5605272" cy="237744"/>
          </a:xfrm>
          <a:prstGeom prst="rect">
            <a:avLst/>
          </a:prstGeom>
          <a:noFill/>
        </p:spPr>
        <p:txBody>
          <a:bodyPr wrap="square" lIns="0" tIns="0" rIns="0" bIns="0" anchor="t">
            <a:noAutofit/>
          </a:bodyPr>
          <a:lstStyle/>
          <a:p>
            <a:pPr algn="l">
              <a:spcBef>
                <a:spcPts val="0"/>
              </a:spcBef>
              <a:spcAft>
                <a:spcPts val="0"/>
              </a:spcAft>
            </a:pPr>
            <a:r>
              <a:rPr sz="1100" b="1" i="0" lang="en-GB">
                <a:solidFill>
                  <a:srgbClr val="FFFFFF"/>
                </a:solidFill>
                <a:latin typeface="Aptos"/>
                <a:ea typeface="Aptos"/>
                <a:cs typeface="Dubai"/>
              </a:rPr>
              <a:t>Video search  ·  </a:t>
            </a:r>
            <a:r>
              <a:rPr sz="1100" b="1" i="0" lang="ar-JO">
                <a:solidFill>
                  <a:srgbClr val="FFFFFF"/>
                </a:solidFill>
                <a:latin typeface="Aptos"/>
                <a:ea typeface="Aptos"/>
                <a:cs typeface="Dubai"/>
              </a:rPr>
              <a:t>البحث في الفيديو</a:t>
            </a:r>
          </a:p>
        </p:txBody>
      </p:sp>
      <p:sp>
        <p:nvSpPr>
          <p:cNvPr id="20" name="Rounded Rectangle 19"/>
          <p:cNvSpPr/>
          <p:nvPr/>
        </p:nvSpPr>
        <p:spPr>
          <a:xfrm>
            <a:off x="5943600" y="2176272"/>
            <a:ext cx="4553712" cy="502920"/>
          </a:xfrm>
          <a:prstGeom prst="roundRect">
            <a:avLst>
              <a:gd name="adj" fmla="val 2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600" b="1" i="0" lang="ar-JO">
                <a:solidFill>
                  <a:srgbClr val="0F2A44"/>
                </a:solidFill>
                <a:latin typeface="Aptos"/>
                <a:ea typeface="Aptos"/>
                <a:cs typeface="Dubai"/>
              </a:rPr>
              <a:t>زلمة لابس بلوزة حمرا ومعه شنطة سودا</a:t>
            </a:r>
          </a:p>
        </p:txBody>
      </p:sp>
      <p:sp>
        <p:nvSpPr>
          <p:cNvPr id="21" name="Rounded Rectangle 20"/>
          <p:cNvSpPr/>
          <p:nvPr/>
        </p:nvSpPr>
        <p:spPr>
          <a:xfrm>
            <a:off x="10588752" y="2176272"/>
            <a:ext cx="868680" cy="502920"/>
          </a:xfrm>
          <a:prstGeom prst="roundRect">
            <a:avLst>
              <a:gd name="adj" fmla="val 2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rtl="1">
              <a:spcBef>
                <a:spcPts val="0"/>
              </a:spcBef>
              <a:spcAft>
                <a:spcPts val="0"/>
              </a:spcAft>
            </a:pPr>
            <a:r>
              <a:rPr sz="1500" b="1" i="0" lang="ar-JO">
                <a:solidFill>
                  <a:srgbClr val="FFFFFF"/>
                </a:solidFill>
                <a:latin typeface="Aptos"/>
                <a:ea typeface="Aptos"/>
                <a:cs typeface="Dubai"/>
              </a:rPr>
              <a:t>بحث</a:t>
            </a:r>
          </a:p>
        </p:txBody>
      </p:sp>
      <p:sp>
        <p:nvSpPr>
          <p:cNvPr id="22" name="Rounded Rectangle 21"/>
          <p:cNvSpPr/>
          <p:nvPr/>
        </p:nvSpPr>
        <p:spPr>
          <a:xfrm>
            <a:off x="5943600" y="2788920"/>
            <a:ext cx="86868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رجل</a:t>
            </a:r>
            <a:r>
              <a:rPr sz="1000" b="0" i="0" lang="en-GB">
                <a:solidFill>
                  <a:srgbClr val="0F2A44"/>
                </a:solidFill>
                <a:latin typeface="Aptos"/>
                <a:ea typeface="Aptos"/>
                <a:cs typeface="Dubai"/>
              </a:rPr>
              <a:t> · man</a:t>
            </a:r>
          </a:p>
        </p:txBody>
      </p:sp>
      <p:sp>
        <p:nvSpPr>
          <p:cNvPr id="23" name="Rounded Rectangle 22"/>
          <p:cNvSpPr/>
          <p:nvPr/>
        </p:nvSpPr>
        <p:spPr>
          <a:xfrm>
            <a:off x="6885432" y="2788920"/>
            <a:ext cx="128016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بلوزة حمرا</a:t>
            </a:r>
            <a:r>
              <a:rPr sz="1000" b="0" i="0" lang="en-GB">
                <a:solidFill>
                  <a:srgbClr val="0F2A44"/>
                </a:solidFill>
                <a:latin typeface="Aptos"/>
                <a:ea typeface="Aptos"/>
                <a:cs typeface="Dubai"/>
              </a:rPr>
              <a:t> · red top</a:t>
            </a:r>
          </a:p>
        </p:txBody>
      </p:sp>
      <p:sp>
        <p:nvSpPr>
          <p:cNvPr id="24" name="Rounded Rectangle 23"/>
          <p:cNvSpPr/>
          <p:nvPr/>
        </p:nvSpPr>
        <p:spPr>
          <a:xfrm>
            <a:off x="8238744" y="2788920"/>
            <a:ext cx="141732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شنطة سودا</a:t>
            </a:r>
            <a:r>
              <a:rPr sz="1000" b="0" i="0" lang="en-GB">
                <a:solidFill>
                  <a:srgbClr val="0F2A44"/>
                </a:solidFill>
                <a:latin typeface="Aptos"/>
                <a:ea typeface="Aptos"/>
                <a:cs typeface="Dubai"/>
              </a:rPr>
              <a:t> · black bag</a:t>
            </a:r>
          </a:p>
        </p:txBody>
      </p:sp>
      <p:sp>
        <p:nvSpPr>
          <p:cNvPr id="25" name="Rounded Rectangle 24"/>
          <p:cNvSpPr/>
          <p:nvPr/>
        </p:nvSpPr>
        <p:spPr>
          <a:xfrm>
            <a:off x="9729216" y="2788920"/>
            <a:ext cx="1600200" cy="329184"/>
          </a:xfrm>
          <a:prstGeom prst="roundRect">
            <a:avLst>
              <a:gd name="adj" fmla="val 50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en-GB">
                <a:solidFill>
                  <a:srgbClr val="0F2A44"/>
                </a:solidFill>
                <a:latin typeface="Aptos"/>
                <a:ea typeface="Aptos"/>
                <a:cs typeface="Dubai"/>
              </a:rPr>
              <a:t>8 cameras · 13:00-15:00</a:t>
            </a:r>
          </a:p>
        </p:txBody>
      </p:sp>
      <p:sp>
        <p:nvSpPr>
          <p:cNvPr id="26" name="Rectangle 25"/>
          <p:cNvSpPr/>
          <p:nvPr/>
        </p:nvSpPr>
        <p:spPr>
          <a:xfrm>
            <a:off x="5943600" y="3246120"/>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0" y="3529584"/>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8742" y="3291839"/>
            <a:ext cx="71231" cy="712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9378" y="3370569"/>
            <a:ext cx="149961" cy="149961"/>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8123" y="3509284"/>
            <a:ext cx="112471" cy="1574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9859" y="3546774"/>
            <a:ext cx="8997" cy="11996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21841" y="3479291"/>
            <a:ext cx="63733" cy="7498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79692" y="3246120"/>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34" name="Rectangle 33"/>
          <p:cNvSpPr/>
          <p:nvPr/>
        </p:nvSpPr>
        <p:spPr>
          <a:xfrm>
            <a:off x="5943600" y="3767328"/>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0" y="4050791"/>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16080" y="3831336"/>
            <a:ext cx="67757" cy="6775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78636" y="3906225"/>
            <a:ext cx="142646" cy="142646"/>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96466" y="4038173"/>
            <a:ext cx="106984" cy="14977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45679" y="4073834"/>
            <a:ext cx="8558" cy="11411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414150" y="4009644"/>
            <a:ext cx="60624" cy="71323"/>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79692" y="3767328"/>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2" name="Rectangle 41"/>
          <p:cNvSpPr/>
          <p:nvPr/>
        </p:nvSpPr>
        <p:spPr>
          <a:xfrm>
            <a:off x="5943600" y="4288536"/>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43600" y="4571999"/>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179286" y="4389120"/>
            <a:ext cx="60807" cy="6080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45682" y="4456328"/>
            <a:ext cx="128015" cy="12801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61684" y="4574743"/>
            <a:ext cx="96012" cy="134416"/>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5849" y="4606747"/>
            <a:ext cx="7680" cy="10241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67297" y="4549140"/>
            <a:ext cx="54406" cy="6400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679692" y="4288536"/>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12 · Car park B  </a:t>
            </a:r>
            <a:r>
              <a:rPr sz="1300" b="0" i="0" lang="en-GB">
                <a:solidFill>
                  <a:srgbClr val="1F2937"/>
                </a:solidFill>
                <a:latin typeface="Aptos"/>
                <a:ea typeface="Aptos"/>
                <a:cs typeface="Dubai"/>
              </a:rPr>
              <a:t>14:11:03</a:t>
            </a:r>
          </a:p>
          <a:p>
            <a:pPr algn="l">
              <a:spcBef>
                <a:spcPts val="0"/>
              </a:spcBef>
              <a:spcAft>
                <a:spcPts val="0"/>
              </a:spcAft>
            </a:pPr>
            <a:r>
              <a:rPr sz="1200" b="0" i="0" lang="en-GB">
                <a:solidFill>
                  <a:srgbClr val="5B6573"/>
                </a:solidFill>
                <a:latin typeface="Aptos"/>
                <a:ea typeface="Aptos"/>
                <a:cs typeface="Dubai"/>
              </a:rPr>
              <a:t>match 0.81   </a:t>
            </a:r>
            <a:r>
              <a:rPr sz="1200" b="1" i="0" lang="en-GB">
                <a:solidFill>
                  <a:srgbClr val="0E7C7B"/>
                </a:solidFill>
                <a:latin typeface="Aptos"/>
                <a:ea typeface="Aptos"/>
                <a:cs typeface="Dubai"/>
              </a:rPr>
              <a:t>red top ✓  bag ✓</a:t>
            </a:r>
          </a:p>
        </p:txBody>
      </p:sp>
      <p:sp>
        <p:nvSpPr>
          <p:cNvPr id="50" name="Rectangle 49"/>
          <p:cNvSpPr/>
          <p:nvPr/>
        </p:nvSpPr>
        <p:spPr>
          <a:xfrm>
            <a:off x="5943600" y="4809744"/>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43600" y="5093207"/>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250838" y="4864607"/>
            <a:ext cx="69494" cy="6949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2433" y="4941417"/>
            <a:ext cx="146304" cy="146304"/>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30721" y="5076748"/>
            <a:ext cx="109728" cy="15361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196" y="5113324"/>
            <a:ext cx="8778" cy="117043"/>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351422" y="5047488"/>
            <a:ext cx="62179" cy="73152"/>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679692" y="4809744"/>
            <a:ext cx="4777740" cy="457200"/>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58" name="TextBox 57"/>
          <p:cNvSpPr txBox="1"/>
          <p:nvPr/>
        </p:nvSpPr>
        <p:spPr>
          <a:xfrm>
            <a:off x="5760720" y="5431536"/>
            <a:ext cx="5879592" cy="256032"/>
          </a:xfrm>
          <a:prstGeom prst="rect">
            <a:avLst/>
          </a:prstGeom>
          <a:noFill/>
        </p:spPr>
        <p:txBody>
          <a:bodyPr wrap="square" lIns="0" tIns="0" rIns="0" bIns="0" anchor="t">
            <a:noAutofit/>
          </a:bodyPr>
          <a:lstStyle/>
          <a:p>
            <a:pPr algn="l">
              <a:spcBef>
                <a:spcPts val="0"/>
              </a:spcBef>
              <a:spcAft>
                <a:spcPts val="0"/>
              </a:spcAft>
            </a:pPr>
            <a:r>
              <a:rPr sz="1000" b="0" i="1" lang="en-GB">
                <a:solidFill>
                  <a:srgbClr val="5B6573"/>
                </a:solidFill>
                <a:latin typeface="Aptos"/>
                <a:ea typeface="Aptos"/>
                <a:cs typeface="Dubai"/>
              </a:rPr>
              <a:t>Illustration of the demo's search screen, not a screenshot.</a:t>
            </a:r>
          </a:p>
        </p:txBody>
      </p:sp>
      <p:sp>
        <p:nvSpPr>
          <p:cNvPr id="59" name="Rounded Rectangle 58"/>
          <p:cNvSpPr/>
          <p:nvPr/>
        </p:nvSpPr>
        <p:spPr>
          <a:xfrm>
            <a:off x="548640" y="5715000"/>
            <a:ext cx="11091672" cy="59436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Runs on one computer: </a:t>
            </a:r>
            <a:r>
              <a:rPr sz="1350" b="0" i="0" lang="en-GB">
                <a:solidFill>
                  <a:srgbClr val="1F2937"/>
                </a:solidFill>
                <a:latin typeface="Aptos"/>
                <a:ea typeface="Aptos"/>
                <a:cs typeface="Dubai"/>
              </a:rPr>
              <a:t>the app in Docker, the AI models on the computer itself. Recorded clips from public datasets, no live cameras, and no cloud AI.</a:t>
            </a:r>
          </a:p>
        </p:txBody>
      </p:sp>
      <p:sp>
        <p:nvSpPr>
          <p:cNvPr id="60" name="TextBox 59"/>
          <p:cNvSpPr txBox="1"/>
          <p:nvPr/>
        </p:nvSpPr>
        <p:spPr>
          <a:xfrm>
            <a:off x="548640" y="5074920"/>
            <a:ext cx="4846320" cy="548640"/>
          </a:xfrm>
          <a:prstGeom prst="rect">
            <a:avLst/>
          </a:prstGeom>
          <a:noFill/>
        </p:spPr>
        <p:txBody>
          <a:bodyPr wrap="square" lIns="0" tIns="0" rIns="0" bIns="0" anchor="t">
            <a:noAutofit/>
          </a:bodyPr>
          <a:lstStyle/>
          <a:p>
            <a:pPr algn="l">
              <a:spcBef>
                <a:spcPts val="0"/>
              </a:spcBef>
              <a:spcAft>
                <a:spcPts val="0"/>
              </a:spcAft>
            </a:pPr>
            <a:r>
              <a:rPr sz="1050" b="0" i="1" lang="en-GB">
                <a:solidFill>
                  <a:srgbClr val="5B6573"/>
                </a:solidFill>
                <a:latin typeface="Aptos"/>
                <a:ea typeface="Aptos"/>
                <a:cs typeface="Dubai"/>
              </a:rPr>
              <a:t>Footage: MEVA (Kitware, IARPA; CC BY 4.0), NVIDIA synthetic store scenes (CC BY 4.0), CAVIAR (CC BY-SA). Actors and synthetic people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12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HOW WE WILL KNOW IT WORKS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معايير النجاح</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The proposed targets against phase 2: three met, two missed, one not yet measured</a:t>
            </a:r>
          </a:p>
        </p:txBody>
      </p:sp>
      <p:sp>
        <p:nvSpPr>
          <p:cNvPr id="9" name="Rounded Rectangle 8"/>
          <p:cNvSpPr/>
          <p:nvPr/>
        </p:nvSpPr>
        <p:spPr>
          <a:xfrm>
            <a:off x="548640"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20240"/>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80%</a:t>
            </a:r>
          </a:p>
        </p:txBody>
      </p:sp>
      <p:sp>
        <p:nvSpPr>
          <p:cNvPr id="12" name="Rounded Rectangle 11"/>
          <p:cNvSpPr/>
          <p:nvPr/>
        </p:nvSpPr>
        <p:spPr>
          <a:xfrm>
            <a:off x="3063239" y="1920240"/>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13" name="TextBox 12"/>
          <p:cNvSpPr txBox="1"/>
          <p:nvPr/>
        </p:nvSpPr>
        <p:spPr>
          <a:xfrm>
            <a:off x="822959"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of test queries find the right person in the top 10</a:t>
            </a:r>
          </a:p>
        </p:txBody>
      </p:sp>
      <p:sp>
        <p:nvSpPr>
          <p:cNvPr id="14" name="TextBox 13"/>
          <p:cNvSpPr txBox="1"/>
          <p:nvPr/>
        </p:nvSpPr>
        <p:spPr>
          <a:xfrm>
            <a:off x="822959"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99% with phase 2, 91% with option A. 98% on the 63 queries written after tuning.</a:t>
            </a:r>
          </a:p>
        </p:txBody>
      </p:sp>
      <p:sp>
        <p:nvSpPr>
          <p:cNvPr id="15" name="Rounded Rectangle 14"/>
          <p:cNvSpPr/>
          <p:nvPr/>
        </p:nvSpPr>
        <p:spPr>
          <a:xfrm>
            <a:off x="4311396"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1396" y="1920240"/>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10 points</a:t>
            </a:r>
          </a:p>
        </p:txBody>
      </p:sp>
      <p:sp>
        <p:nvSpPr>
          <p:cNvPr id="18" name="Rounded Rectangle 17"/>
          <p:cNvSpPr/>
          <p:nvPr/>
        </p:nvSpPr>
        <p:spPr>
          <a:xfrm>
            <a:off x="6825996" y="1920240"/>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19" name="TextBox 18"/>
          <p:cNvSpPr txBox="1"/>
          <p:nvPr/>
        </p:nvSpPr>
        <p:spPr>
          <a:xfrm>
            <a:off x="4585716"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the largest gap allowed between dialect and formal Arabic</a:t>
            </a:r>
          </a:p>
        </p:txBody>
      </p:sp>
      <p:sp>
        <p:nvSpPr>
          <p:cNvPr id="20" name="TextBox 19"/>
          <p:cNvSpPr txBox="1"/>
          <p:nvPr/>
        </p:nvSpPr>
        <p:spPr>
          <a:xfrm>
            <a:off x="4585716"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no gap with phase 2: Jordanian, Gulf and formal all 100%. Option A: 17 points.</a:t>
            </a:r>
          </a:p>
        </p:txBody>
      </p:sp>
      <p:sp>
        <p:nvSpPr>
          <p:cNvPr id="21" name="Rounded Rectangle 20"/>
          <p:cNvSpPr/>
          <p:nvPr/>
        </p:nvSpPr>
        <p:spPr>
          <a:xfrm>
            <a:off x="8074152"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4152" y="1920240"/>
            <a:ext cx="64008" cy="135331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48472"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3 of 5</a:t>
            </a:r>
          </a:p>
        </p:txBody>
      </p:sp>
      <p:sp>
        <p:nvSpPr>
          <p:cNvPr id="24" name="Rounded Rectangle 23"/>
          <p:cNvSpPr/>
          <p:nvPr/>
        </p:nvSpPr>
        <p:spPr>
          <a:xfrm>
            <a:off x="10588752" y="1920240"/>
            <a:ext cx="868680" cy="274320"/>
          </a:xfrm>
          <a:prstGeom prst="roundRect">
            <a:avLst>
              <a:gd name="adj" fmla="val 50000"/>
            </a:avLst>
          </a:prstGeom>
          <a:solidFill>
            <a:srgbClr val="FDF1E1"/>
          </a:solidFill>
          <a:ln w="12700">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B45F06"/>
                </a:solidFill>
                <a:latin typeface="Aptos"/>
                <a:ea typeface="Aptos"/>
                <a:cs typeface="Dubai"/>
              </a:rPr>
              <a:t>MISSED</a:t>
            </a:r>
          </a:p>
        </p:txBody>
      </p:sp>
      <p:sp>
        <p:nvSpPr>
          <p:cNvPr id="25" name="TextBox 24"/>
          <p:cNvSpPr txBox="1"/>
          <p:nvPr/>
        </p:nvSpPr>
        <p:spPr>
          <a:xfrm>
            <a:off x="8348472"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top results correct, on average</a:t>
            </a:r>
          </a:p>
        </p:txBody>
      </p:sp>
      <p:sp>
        <p:nvSpPr>
          <p:cNvPr id="26" name="TextBox 25"/>
          <p:cNvSpPr txBox="1"/>
          <p:nvPr/>
        </p:nvSpPr>
        <p:spPr>
          <a:xfrm>
            <a:off x="8348472"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B45F06"/>
                </a:solidFill>
                <a:latin typeface="Aptos"/>
                <a:ea typeface="Aptos"/>
                <a:cs typeface="Dubai"/>
              </a:rPr>
              <a:t>Measured: </a:t>
            </a:r>
            <a:r>
              <a:rPr sz="1250" b="0" i="0" lang="en-GB">
                <a:solidFill>
                  <a:srgbClr val="1F2937"/>
                </a:solidFill>
                <a:latin typeface="Aptos"/>
                <a:ea typeface="Aptos"/>
                <a:cs typeface="Dubai"/>
              </a:rPr>
              <a:t>about 2.5 of 5 (0.49 after the double-check). Capped where fewer than 5 are correct.</a:t>
            </a:r>
          </a:p>
        </p:txBody>
      </p:sp>
      <p:sp>
        <p:nvSpPr>
          <p:cNvPr id="27" name="Rounded Rectangle 26"/>
          <p:cNvSpPr/>
          <p:nvPr/>
        </p:nvSpPr>
        <p:spPr>
          <a:xfrm>
            <a:off x="548640"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3785615"/>
            <a:ext cx="64008" cy="135331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59"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20 min</a:t>
            </a:r>
          </a:p>
        </p:txBody>
      </p:sp>
      <p:sp>
        <p:nvSpPr>
          <p:cNvPr id="30" name="Rounded Rectangle 29"/>
          <p:cNvSpPr/>
          <p:nvPr/>
        </p:nvSpPr>
        <p:spPr>
          <a:xfrm>
            <a:off x="3063239" y="3785615"/>
            <a:ext cx="868680" cy="274320"/>
          </a:xfrm>
          <a:prstGeom prst="roundRect">
            <a:avLst>
              <a:gd name="adj" fmla="val 50000"/>
            </a:avLst>
          </a:prstGeom>
          <a:solidFill>
            <a:srgbClr val="FDF1E1"/>
          </a:solidFill>
          <a:ln w="12700">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B45F06"/>
                </a:solidFill>
                <a:latin typeface="Aptos"/>
                <a:ea typeface="Aptos"/>
                <a:cs typeface="Dubai"/>
              </a:rPr>
              <a:t>MISSED</a:t>
            </a:r>
          </a:p>
        </p:txBody>
      </p:sp>
      <p:sp>
        <p:nvSpPr>
          <p:cNvPr id="31" name="TextBox 30"/>
          <p:cNvSpPr txBox="1"/>
          <p:nvPr/>
        </p:nvSpPr>
        <p:spPr>
          <a:xfrm>
            <a:off x="822959"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to index the demo clips</a:t>
            </a:r>
          </a:p>
        </p:txBody>
      </p:sp>
      <p:sp>
        <p:nvSpPr>
          <p:cNvPr id="32" name="TextBox 31"/>
          <p:cNvSpPr txBox="1"/>
          <p:nvPr/>
        </p:nvSpPr>
        <p:spPr>
          <a:xfrm>
            <a:off x="822959"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B45F06"/>
                </a:solidFill>
                <a:latin typeface="Aptos"/>
                <a:ea typeface="Aptos"/>
                <a:cs typeface="Dubai"/>
              </a:rPr>
              <a:t>Measured: </a:t>
            </a:r>
            <a:r>
              <a:rPr sz="1250" b="0" i="0" lang="en-GB">
                <a:solidFill>
                  <a:srgbClr val="1F2937"/>
                </a:solidFill>
                <a:latin typeface="Aptos"/>
                <a:ea typeface="Aptos"/>
                <a:cs typeface="Dubai"/>
              </a:rPr>
              <a:t>44 min for the 11 starter clips, 36.5 of them for clothing details; about 7 without.</a:t>
            </a:r>
          </a:p>
        </p:txBody>
      </p:sp>
      <p:sp>
        <p:nvSpPr>
          <p:cNvPr id="33" name="Rounded Rectangle 32"/>
          <p:cNvSpPr/>
          <p:nvPr/>
        </p:nvSpPr>
        <p:spPr>
          <a:xfrm>
            <a:off x="4311396"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11396" y="3785615"/>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85716"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5 s</a:t>
            </a:r>
          </a:p>
        </p:txBody>
      </p:sp>
      <p:sp>
        <p:nvSpPr>
          <p:cNvPr id="36" name="Rounded Rectangle 35"/>
          <p:cNvSpPr/>
          <p:nvPr/>
        </p:nvSpPr>
        <p:spPr>
          <a:xfrm>
            <a:off x="6825996" y="3785615"/>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37" name="TextBox 36"/>
          <p:cNvSpPr txBox="1"/>
          <p:nvPr/>
        </p:nvSpPr>
        <p:spPr>
          <a:xfrm>
            <a:off x="4585716"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until results appear; double-checks fill in after</a:t>
            </a:r>
          </a:p>
        </p:txBody>
      </p:sp>
      <p:sp>
        <p:nvSpPr>
          <p:cNvPr id="38" name="TextBox 37"/>
          <p:cNvSpPr txBox="1"/>
          <p:nvPr/>
        </p:nvSpPr>
        <p:spPr>
          <a:xfrm>
            <a:off x="4585716"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2.1 s median, under 5 s for 112 of 113 searches. The double-check adds about 17 s.</a:t>
            </a:r>
          </a:p>
        </p:txBody>
      </p:sp>
      <p:sp>
        <p:nvSpPr>
          <p:cNvPr id="39" name="Rounded Rectangle 38"/>
          <p:cNvSpPr/>
          <p:nvPr/>
        </p:nvSpPr>
        <p:spPr>
          <a:xfrm>
            <a:off x="8074152"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74152" y="3785615"/>
            <a:ext cx="64008" cy="1353312"/>
          </a:xfrm>
          <a:prstGeom prst="rect">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48472"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2 min</a:t>
            </a:r>
          </a:p>
        </p:txBody>
      </p:sp>
      <p:sp>
        <p:nvSpPr>
          <p:cNvPr id="42" name="Rounded Rectangle 41"/>
          <p:cNvSpPr/>
          <p:nvPr/>
        </p:nvSpPr>
        <p:spPr>
          <a:xfrm>
            <a:off x="10131552" y="3785615"/>
            <a:ext cx="1325880" cy="274320"/>
          </a:xfrm>
          <a:prstGeom prst="roundRect">
            <a:avLst>
              <a:gd name="adj" fmla="val 50000"/>
            </a:avLst>
          </a:prstGeom>
          <a:solidFill>
            <a:srgbClr val="E4E9EF"/>
          </a:solidFill>
          <a:ln w="12700">
            <a:solidFill>
              <a:srgbClr val="5B657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5B6573"/>
                </a:solidFill>
                <a:latin typeface="Aptos"/>
                <a:ea typeface="Aptos"/>
                <a:cs typeface="Dubai"/>
              </a:rPr>
              <a:t>NOT MEASURED</a:t>
            </a:r>
          </a:p>
        </p:txBody>
      </p:sp>
      <p:sp>
        <p:nvSpPr>
          <p:cNvPr id="43" name="TextBox 42"/>
          <p:cNvSpPr txBox="1"/>
          <p:nvPr/>
        </p:nvSpPr>
        <p:spPr>
          <a:xfrm>
            <a:off x="8348472"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for an officer to find the target of each story</a:t>
            </a:r>
          </a:p>
        </p:txBody>
      </p:sp>
      <p:sp>
        <p:nvSpPr>
          <p:cNvPr id="44" name="TextBox 43"/>
          <p:cNvSpPr txBox="1"/>
          <p:nvPr/>
        </p:nvSpPr>
        <p:spPr>
          <a:xfrm>
            <a:off x="8348472"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5B6573"/>
                </a:solidFill>
                <a:latin typeface="Aptos"/>
                <a:ea typeface="Aptos"/>
                <a:cs typeface="Dubai"/>
              </a:rPr>
              <a:t>Measured: </a:t>
            </a:r>
            <a:r>
              <a:rPr sz="1250" b="0" i="0" lang="en-GB">
                <a:solidFill>
                  <a:srgbClr val="1F2937"/>
                </a:solidFill>
                <a:latin typeface="Aptos"/>
                <a:ea typeface="Aptos"/>
                <a:cs typeface="Dubai"/>
              </a:rPr>
              <a:t>not yet; phase 2 had no timed run with an officer.</a:t>
            </a:r>
          </a:p>
        </p:txBody>
      </p:sp>
      <p:sp>
        <p:nvSpPr>
          <p:cNvPr id="45" name="Rounded Rectangle 44"/>
          <p:cNvSpPr/>
          <p:nvPr/>
        </p:nvSpPr>
        <p:spPr>
          <a:xfrm>
            <a:off x="548640" y="5440680"/>
            <a:ext cx="11091672" cy="80467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60934" rIns="201168" bIns="160934">
            <a:noAutofit/>
          </a:bodyPr>
          <a:lstStyle/>
          <a:p>
            <a:pPr algn="l">
              <a:spcBef>
                <a:spcPts val="0"/>
              </a:spcBef>
              <a:spcAft>
                <a:spcPts val="0"/>
              </a:spcAft>
            </a:pPr>
            <a:r>
              <a:rPr sz="1300" b="1" i="0" lang="en-GB">
                <a:solidFill>
                  <a:srgbClr val="B45F06"/>
                </a:solidFill>
                <a:latin typeface="Aptos"/>
                <a:ea typeface="Aptos"/>
                <a:cs typeface="Dubai"/>
              </a:rPr>
              <a:t>Main risk: </a:t>
            </a:r>
            <a:r>
              <a:rPr sz="1300" b="0" i="0" lang="en-GB">
                <a:solidFill>
                  <a:srgbClr val="1F2937"/>
                </a:solidFill>
                <a:latin typeface="Aptos"/>
                <a:ea typeface="Aptos"/>
                <a:cs typeface="Dubai"/>
              </a:rPr>
              <a:t>no public test exists for Jordanian or Gulf Arabic against video, so the 113 test queries are our own. Settings were tuned on the first 48; the 63 written later are the fairer check (98% top 10, option A 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
        <a:cs typeface="Dubai"/>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Dubai"/>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Arabic AI Video Search: PoC use cases</dc:title>
  <dc:subject>How security teams would use Arabic video search</dc:subject>
  <dc:creator/>
  <cp:keywords/>
  <dc:description>generated using python-pptx</dc:description>
  <cp:lastModifiedBy/>
  <cp:revision>1</cp:revision>
  <dcterms:created xsi:type="dcterms:W3CDTF">2026-10-17T00:00:00Z</dcterms:created>
  <dcterms:modified xsi:type="dcterms:W3CDTF">2026-10-17T00:00:00Z</dcterms:modified>
  <cp:category/>
</cp:coreProperties>
</file>