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a:t>
            </a:r>
          </a:p>
          <a:p>
            <a:r>
              <a:t>This deck shows how security teams would use Arabic video search, as three search stories: a suspect, a left bag, and a lost child.</a:t>
            </a:r>
          </a:p>
          <a:p>
            <a:r>
              <a:t>The technical choices behind it are settled in the PoC technical plan (decisions D1 to D7).</a:t>
            </a:r>
          </a:p>
          <a:p>
            <a:r>
              <a:t>The query on the right is the plan's headline example: "a man wearing a red shirt".</a:t>
            </a:r>
          </a:p>
          <a:p/>
          <a:p>
            <a:r>
              <a:t>Source: the Arabic AI Video Search PoC technical plan (its report and board); the decisions D1 to D7 are summarised in docs/decisions.md.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the search is manual and grows with every camera and every hour.</a:t>
            </a:r>
          </a:p>
          <a:p>
            <a:r>
              <a:t>The 100 hours figure is our arithmetic from the plan's own example: a missing-child case covering 50 nearby cameras for 2 hours (report section 4, "City scale").</a:t>
            </a:r>
          </a:p>
          <a:p>
            <a:r>
              <a:t>English-only: NVIDIA's open Video Search and Summarization blueprint uses the same search shape but works in English only (report section 1; https://docs.nvidia.com/vss/3.2.1/agent-workflow-search.html).</a:t>
            </a:r>
          </a:p>
          <a:p>
            <a:r>
              <a:t>No public benchmark covers Jordanian Arabic, and no Arabic text-to-person dataset exists (report section 2).</a:t>
            </a:r>
          </a:p>
          <a:p/>
          <a:p>
            <a:r>
              <a:t>Source: the Arabic AI Video Search PoC technical plan (its report and board); the decisions D1 to D7 are summarised in docs/decisions.md.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picture of the whole system, left to right.</a:t>
            </a:r>
          </a:p>
          <a:p>
            <a:r>
              <a:t>1. The officer types a description in Arabic, formal or dialect. Example from the plan: "رجل يرتدي قميص أحمر", a man wearing a red shirt.</a:t>
            </a:r>
          </a:p>
          <a:p>
            <a:r>
              <a:t>2. A local language model turns it into clear fields (person, clothing colours, bag) plus a clean English description (decision D1, hybrid; D4, local only).</a:t>
            </a:r>
          </a:p>
          <a:p>
            <a:r>
              <a:t>3. The search is narrowed to the chosen cameras and time window, then matched against a catalogue of every person already seen in the footage.</a:t>
            </a:r>
          </a:p>
          <a:p>
            <a:r>
              <a:t>4. Results show a short clip, camera, place, time, and why it matched.</a:t>
            </a:r>
          </a:p>
          <a:p>
            <a:r>
              <a:t>5. A person confirms or rejects every result: a result is a lead, not proof (report section 5).</a:t>
            </a:r>
          </a:p>
          <a:p>
            <a:r>
              <a:t>How it works underneath (report section 1): indexing decodes the footage, detects and tracks people, keeps a few best crops per person, describes each one, and stores it with camera, place, time and a pointer to the clip.</a:t>
            </a:r>
          </a:p>
          <a:p/>
          <a:p>
            <a:r>
              <a:t>Source: the Arabic AI Video Search PoC technical plan (its report and board); the decisions D1 to D7 are summarised in docs/decisions.md.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stories are appearance searches with the same engine; they differ in what the target looks like and how hard it is to recognise (decision D6, all three as search stories).</a:t>
            </a:r>
          </a:p>
          <a:p>
            <a:r>
              <a:t>Where they apply, from the original brief: finding missing persons or children, assisting investigations, and security in airports, tourism areas and government buildings.</a:t>
            </a:r>
          </a:p>
          <a:p>
            <a:r>
              <a:t>Suspect: the core search, no extra work. The query is the plan's Jordanian-dialect example, "a guy wearing a red top, with a black bag"; the query model must read dialect colour forms such as حمرا and سودا (report section 2).</a:t>
            </a:r>
          </a:p>
          <a:p>
            <a:r>
              <a:t>Left bag: a search the officer starts, small extra work, since backpack, handbag and suitcase are classes the detector already knows. Small bags far from the camera get missed. An automatic left-bag alarm is a separate feature and is not part of the PoC (report D6 answer).</a:t>
            </a:r>
          </a:p>
          <a:p>
            <a:r>
              <a:t>Lost child: medium extra work, because age is hard to read from a body, so the system shows candidates and an officer reviews each one. It searches clothing, colours and size, never faces (decision D5). The query is the plan's example, "a small child wearing a blue jacket".</a:t>
            </a:r>
          </a:p>
          <a:p>
            <a:r>
              <a:t>The pictures are illustrations, drawn from shapes.</a:t>
            </a:r>
          </a:p>
          <a:p/>
          <a:p>
            <a:r>
              <a:t>Source: the Arabic AI Video Search PoC technical plan (its report and board); the decisions D1 to D7 are summarised in docs/decisions.md.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 section 5, "Legal, privacy and ethics". This is not legal advice: a Jordanian lawyer should review before any pilot with real footage.</a:t>
            </a:r>
          </a:p>
          <a:p>
            <a:r>
              <a:t>No face recognition: decision D5.</a:t>
            </a:r>
          </a:p>
          <a:p>
            <a:r>
              <a:t>Lead, not proof: false matches are expected; the Robert Williams wrongful arrest and NIST's 10-100x demographic differentials in face recognition are the reasons for the design rule. Every result shows its confidence and why it matched, and is confirmed by people, two for any action.</a:t>
            </a:r>
          </a:p>
          <a:p>
            <a:r>
              <a:t>Audit: role-based access, a case number per search, an append-only audit log; the index is deleted with the footage; faces blurred in exports; a data protection impact assessment before any real-footage pilot.</a:t>
            </a:r>
          </a:p>
          <a:p>
            <a:r>
              <a:t>Data in Jordan: the PoC uses local models only, no hosted models even for testing (decision D4).</a:t>
            </a:r>
          </a:p>
          <a:p>
            <a:r>
              <a:t>Jordan PDPL No. 24 of 2023: in force since 17 Mar 2024, full compliance since 17 Mar 2025. CCTV is personal data; biometric data is sensitive; consent must be explicit and documented, or an Art. 6 exception must apply; transfers abroad are restricted (Art. 15); breaches notified within 72 hours. Official translation: https://www.modee.gov.jo/EBV4.0/Root_Storage/EN/1/PDP_Law_-_English_Version-_officail_translation.pdf</a:t>
            </a:r>
          </a:p>
          <a:p/>
          <a:p>
            <a:r>
              <a:t>Source: the Arabic AI Video Search PoC technical plan (its report and board); the decisions D1 to D7 are summarised in docs/decisions.md.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demo shows, as it runs today.</a:t>
            </a:r>
          </a:p>
          <a:p>
            <a:r>
              <a:t>The business view opens in Arabic, right to left; one button switches the whole page to English and back.</a:t>
            </a:r>
          </a:p>
          <a:p>
            <a:r>
              <a:t>The officer types a description, optionally ticks cameras and sets a time window, and the query model shows what it understood, as fields such as woman and grey or white jacket.</a:t>
            </a:r>
          </a:p>
          <a:p>
            <a:r>
              <a:t>Each result plays the clip at its moment, with camera, place and time, and shows why it matched, detail by detail.</a:t>
            </a:r>
          </a:p>
          <a:p>
            <a:r>
              <a:t>A few seconds later the vision model double-checks the top results against each detail of the query: confirmed ones move up, rejected ones move down, unsure ones stay put.</a:t>
            </a:r>
          </a:p>
          <a:p>
            <a:r>
              <a:t>The officer confirms or rejects each result; a result is a lead, not proof.</a:t>
            </a:r>
          </a:p>
          <a:p>
            <a:r>
              <a:t>Every upload, search, confirm and reject goes into an audit log that cannot be edited or deleted.</a:t>
            </a:r>
          </a:p>
          <a:p>
            <a:r>
              <a:t>A separate technical view shows the internals, step by step, for technical questions.</a:t>
            </a:r>
          </a:p>
          <a:p>
            <a:r>
              <a:t>Where it runs (D3): one local computer, with no containers. The app and the AI models all run as native processes, started by plain scripts, so the models can use the computer's GPU.</a:t>
            </a:r>
          </a:p>
          <a:p>
            <a:r>
              <a:t>Footage (D2, D7): recordings from public datasets, no live cameras: MEVA (Kitware and IARPA, CC BY 4.0, https://mevadata.org/resources/MEVA-data-license.txt), NVIDIA PhysicalAI-SmartSpaces synthetic store scenes (CC BY 4.0), and CAVIAR left-bag clips (Creative Commons BY-SA). The lost-child story uses synthetic people, so no real children appear.</a:t>
            </a:r>
          </a:p>
          <a:p>
            <a:r>
              <a:t>The screen on the right is an illustration of the business view, not a screenshot.</a:t>
            </a:r>
          </a:p>
          <a:p/>
          <a:p>
            <a:r>
              <a:t>Source: the Arabic AI Video Search PoC technical plan (its report and board); the decisions D1 to D7 are summarised in docs/decisions.md.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4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97280"/>
            <a:ext cx="6766560" cy="365760"/>
          </a:xfrm>
          <a:prstGeom prst="rect">
            <a:avLst/>
          </a:prstGeom>
          <a:noFill/>
        </p:spPr>
        <p:txBody>
          <a:bodyPr wrap="square" lIns="0" tIns="0" rIns="0" bIns="0" anchor="t">
            <a:noAutofit/>
          </a:bodyPr>
          <a:lstStyle/>
          <a:p>
            <a:pPr algn="l">
              <a:spcBef>
                <a:spcPts val="0"/>
              </a:spcBef>
              <a:spcAft>
                <a:spcPts val="0"/>
              </a:spcAft>
            </a:pPr>
            <a:r>
              <a:rPr sz="1400" b="1" i="0" lang="en-GB">
                <a:solidFill>
                  <a:srgbClr val="7FD1CC"/>
                </a:solidFill>
                <a:latin typeface="Aptos"/>
                <a:ea typeface="Aptos"/>
                <a:cs typeface="Dubai"/>
              </a:rPr>
              <a:t>PROOF OF CONCEPT  ·  USE CASES</a:t>
            </a:r>
          </a:p>
        </p:txBody>
      </p:sp>
      <p:sp>
        <p:nvSpPr>
          <p:cNvPr id="4" name="TextBox 3"/>
          <p:cNvSpPr txBox="1"/>
          <p:nvPr/>
        </p:nvSpPr>
        <p:spPr>
          <a:xfrm>
            <a:off x="822960" y="1554480"/>
            <a:ext cx="6949440" cy="1005840"/>
          </a:xfrm>
          <a:prstGeom prst="rect">
            <a:avLst/>
          </a:prstGeom>
          <a:noFill/>
        </p:spPr>
        <p:txBody>
          <a:bodyPr wrap="square" lIns="0" tIns="0" rIns="0" bIns="0" anchor="t">
            <a:noAutofit/>
          </a:bodyPr>
          <a:lstStyle/>
          <a:p>
            <a:pPr algn="l">
              <a:spcBef>
                <a:spcPts val="0"/>
              </a:spcBef>
              <a:spcAft>
                <a:spcPts val="0"/>
              </a:spcAft>
            </a:pPr>
            <a:r>
              <a:rPr sz="4800" b="1" i="0" lang="en-GB">
                <a:solidFill>
                  <a:srgbClr val="FFFFFF"/>
                </a:solidFill>
                <a:latin typeface="Aptos"/>
                <a:ea typeface="Aptos"/>
                <a:cs typeface="Dubai"/>
              </a:rPr>
              <a:t>Arabic AI Video Search</a:t>
            </a:r>
          </a:p>
        </p:txBody>
      </p:sp>
      <p:sp>
        <p:nvSpPr>
          <p:cNvPr id="5" name="TextBox 4"/>
          <p:cNvSpPr txBox="1"/>
          <p:nvPr/>
        </p:nvSpPr>
        <p:spPr>
          <a:xfrm>
            <a:off x="822960" y="2514600"/>
            <a:ext cx="6766560" cy="640080"/>
          </a:xfrm>
          <a:prstGeom prst="rect">
            <a:avLst/>
          </a:prstGeom>
          <a:noFill/>
        </p:spPr>
        <p:txBody>
          <a:bodyPr wrap="square" lIns="0" tIns="0" rIns="0" bIns="0" anchor="t">
            <a:noAutofit/>
          </a:bodyPr>
          <a:lstStyle/>
          <a:p>
            <a:pPr algn="l" rtl="1">
              <a:spcBef>
                <a:spcPts val="0"/>
              </a:spcBef>
              <a:spcAft>
                <a:spcPts val="0"/>
              </a:spcAft>
            </a:pPr>
            <a:r>
              <a:rPr sz="2400" b="0" i="0" lang="ar-JO">
                <a:solidFill>
                  <a:srgbClr val="BFE6E3"/>
                </a:solidFill>
                <a:latin typeface="Aptos"/>
                <a:ea typeface="Aptos"/>
                <a:cs typeface="Dubai"/>
              </a:rPr>
              <a:t>البحث الذكي في تسجيلات كاميرات المراقبة باللغة العربية</a:t>
            </a:r>
          </a:p>
        </p:txBody>
      </p:sp>
      <p:sp>
        <p:nvSpPr>
          <p:cNvPr id="6" name="TextBox 5"/>
          <p:cNvSpPr txBox="1"/>
          <p:nvPr/>
        </p:nvSpPr>
        <p:spPr>
          <a:xfrm>
            <a:off x="822960" y="3429000"/>
            <a:ext cx="6400800" cy="1280160"/>
          </a:xfrm>
          <a:prstGeom prst="rect">
            <a:avLst/>
          </a:prstGeom>
          <a:noFill/>
        </p:spPr>
        <p:txBody>
          <a:bodyPr wrap="square" lIns="0" tIns="0" rIns="0" bIns="0" anchor="t">
            <a:noAutofit/>
          </a:bodyPr>
          <a:lstStyle/>
          <a:p>
            <a:pPr algn="l">
              <a:spcBef>
                <a:spcPts val="0"/>
              </a:spcBef>
              <a:spcAft>
                <a:spcPts val="600"/>
              </a:spcAft>
            </a:pPr>
            <a:r>
              <a:rPr sz="2000" b="0" i="0" lang="en-GB">
                <a:solidFill>
                  <a:srgbClr val="FFFFFF"/>
                </a:solidFill>
                <a:latin typeface="Aptos"/>
                <a:ea typeface="Aptos"/>
                <a:cs typeface="Dubai"/>
              </a:rPr>
              <a:t>Search CCTV recordings by describing a person in Arabic.</a:t>
            </a:r>
          </a:p>
          <a:p>
            <a:pPr algn="l">
              <a:spcBef>
                <a:spcPts val="0"/>
              </a:spcBef>
              <a:spcAft>
                <a:spcPts val="0"/>
              </a:spcAft>
            </a:pPr>
            <a:r>
              <a:rPr sz="2000" b="0" i="0" lang="en-GB">
                <a:solidFill>
                  <a:srgbClr val="C9D3DD"/>
                </a:solidFill>
                <a:latin typeface="Aptos"/>
                <a:ea typeface="Aptos"/>
                <a:cs typeface="Dubai"/>
              </a:rPr>
              <a:t>How a security team would use it: a suspect, a left bag and a lost child.</a:t>
            </a:r>
          </a:p>
        </p:txBody>
      </p:sp>
      <p:sp>
        <p:nvSpPr>
          <p:cNvPr id="7" name="TextBox 6"/>
          <p:cNvSpPr txBox="1"/>
          <p:nvPr/>
        </p:nvSpPr>
        <p:spPr>
          <a:xfrm>
            <a:off x="822960" y="5897880"/>
            <a:ext cx="6400800" cy="365760"/>
          </a:xfrm>
          <a:prstGeom prst="rect">
            <a:avLst/>
          </a:prstGeom>
          <a:noFill/>
        </p:spPr>
        <p:txBody>
          <a:bodyPr wrap="square" lIns="0" tIns="0" rIns="0" bIns="0" anchor="t">
            <a:noAutofit/>
          </a:bodyPr>
          <a:lstStyle/>
          <a:p>
            <a:pPr algn="l">
              <a:spcBef>
                <a:spcPts val="0"/>
              </a:spcBef>
              <a:spcAft>
                <a:spcPts val="0"/>
              </a:spcAft>
            </a:pPr>
            <a:r>
              <a:rPr sz="1300" b="0" i="0" lang="en-GB">
                <a:solidFill>
                  <a:srgbClr val="9FB0C0"/>
                </a:solidFill>
                <a:latin typeface="Aptos"/>
                <a:ea typeface="Aptos"/>
                <a:cs typeface="Dubai"/>
              </a:rPr>
              <a:t>October 2026  ·  Discussion draft</a:t>
            </a:r>
          </a:p>
        </p:txBody>
      </p:sp>
      <p:sp>
        <p:nvSpPr>
          <p:cNvPr id="8" name="Rounded Rectangle 7"/>
          <p:cNvSpPr/>
          <p:nvPr/>
        </p:nvSpPr>
        <p:spPr>
          <a:xfrm>
            <a:off x="7726679" y="1417320"/>
            <a:ext cx="3886200" cy="86868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82880" rIns="228600" bIns="182880">
            <a:noAutofit/>
          </a:bodyPr>
          <a:lstStyle/>
          <a:p>
            <a:pPr algn="r" rtl="1">
              <a:spcBef>
                <a:spcPts val="0"/>
              </a:spcBef>
              <a:spcAft>
                <a:spcPts val="0"/>
              </a:spcAft>
            </a:pPr>
            <a:r>
              <a:rPr sz="2400" b="1" i="0" lang="ar-JO">
                <a:solidFill>
                  <a:srgbClr val="0F2A44"/>
                </a:solidFill>
                <a:latin typeface="Aptos"/>
                <a:ea typeface="Aptos"/>
                <a:cs typeface="Dubai"/>
              </a:rPr>
              <a:t>رجل يرتدي قميص أحمر</a:t>
            </a:r>
          </a:p>
        </p:txBody>
      </p:sp>
      <p:sp>
        <p:nvSpPr>
          <p:cNvPr id="9" name="TextBox 8"/>
          <p:cNvSpPr txBox="1"/>
          <p:nvPr/>
        </p:nvSpPr>
        <p:spPr>
          <a:xfrm>
            <a:off x="7726679" y="2350008"/>
            <a:ext cx="3886200" cy="292608"/>
          </a:xfrm>
          <a:prstGeom prst="rect">
            <a:avLst/>
          </a:prstGeom>
          <a:noFill/>
        </p:spPr>
        <p:txBody>
          <a:bodyPr wrap="square" lIns="0" tIns="0" rIns="0" bIns="0" anchor="t">
            <a:noAutofit/>
          </a:bodyPr>
          <a:lstStyle/>
          <a:p>
            <a:pPr algn="r">
              <a:spcBef>
                <a:spcPts val="0"/>
              </a:spcBef>
              <a:spcAft>
                <a:spcPts val="0"/>
              </a:spcAft>
            </a:pPr>
            <a:r>
              <a:rPr sz="1300" b="0" i="1" lang="en-GB">
                <a:solidFill>
                  <a:srgbClr val="C9D3DD"/>
                </a:solidFill>
                <a:latin typeface="Aptos"/>
                <a:ea typeface="Aptos"/>
                <a:cs typeface="Dubai"/>
              </a:rPr>
              <a:t>"a man wearing a red shirt"</a:t>
            </a:r>
          </a:p>
        </p:txBody>
      </p:sp>
      <p:sp>
        <p:nvSpPr>
          <p:cNvPr id="10" name="Rectangle 9"/>
          <p:cNvSpPr/>
          <p:nvPr/>
        </p:nvSpPr>
        <p:spPr>
          <a:xfrm>
            <a:off x="7726679" y="2880360"/>
            <a:ext cx="1874519" cy="132588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26679" y="3702405"/>
            <a:ext cx="1874519" cy="503834"/>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46157" y="3278124"/>
            <a:ext cx="156188" cy="156188"/>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59842" y="3450753"/>
            <a:ext cx="328818" cy="328818"/>
          </a:xfrm>
          <a:prstGeom prst="roundRect">
            <a:avLst>
              <a:gd name="adj" fmla="val 30000"/>
            </a:avLst>
          </a:prstGeom>
          <a:solidFill>
            <a:srgbClr val="8A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00945" y="3754910"/>
            <a:ext cx="246613" cy="345259"/>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14387" y="3837115"/>
            <a:ext cx="19729" cy="263054"/>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876597" y="3065983"/>
            <a:ext cx="196495" cy="196495"/>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768007" y="3283162"/>
            <a:ext cx="413674" cy="413674"/>
          </a:xfrm>
          <a:prstGeom prst="roundRect">
            <a:avLst>
              <a:gd name="adj" fmla="val 3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19717" y="3665811"/>
            <a:ext cx="310255" cy="434358"/>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62434" y="3769229"/>
            <a:ext cx="24820" cy="330939"/>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60998" y="3583076"/>
            <a:ext cx="175811" cy="206837"/>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81544" y="2916936"/>
            <a:ext cx="1764791" cy="237744"/>
          </a:xfrm>
          <a:prstGeom prst="rect">
            <a:avLst/>
          </a:prstGeom>
          <a:noFill/>
        </p:spPr>
        <p:txBody>
          <a:bodyPr wrap="square" lIns="0" tIns="0" rIns="0" bIns="0" anchor="t">
            <a:noAutofit/>
          </a:bodyPr>
          <a:lstStyle/>
          <a:p>
            <a:pPr algn="l">
              <a:spcBef>
                <a:spcPts val="0"/>
              </a:spcBef>
              <a:spcAft>
                <a:spcPts val="0"/>
              </a:spcAft>
            </a:pPr>
            <a:r>
              <a:rPr sz="900" b="1" i="0" lang="en-GB">
                <a:solidFill>
                  <a:srgbClr val="FFFFFF"/>
                </a:solidFill>
                <a:latin typeface="Aptos"/>
                <a:ea typeface="Aptos"/>
                <a:cs typeface="Dubai"/>
              </a:rPr>
              <a:t>CAM-03  14:02:17</a:t>
            </a:r>
          </a:p>
        </p:txBody>
      </p:sp>
      <p:sp>
        <p:nvSpPr>
          <p:cNvPr id="22" name="TextBox 21"/>
          <p:cNvSpPr txBox="1"/>
          <p:nvPr/>
        </p:nvSpPr>
        <p:spPr>
          <a:xfrm>
            <a:off x="7726679" y="4270248"/>
            <a:ext cx="1874519" cy="274320"/>
          </a:xfrm>
          <a:prstGeom prst="rect">
            <a:avLst/>
          </a:prstGeom>
          <a:noFill/>
        </p:spPr>
        <p:txBody>
          <a:bodyPr wrap="square" lIns="0" tIns="0" rIns="0" bIns="0" anchor="t">
            <a:noAutofit/>
          </a:bodyPr>
          <a:lstStyle/>
          <a:p>
            <a:pPr algn="l">
              <a:spcBef>
                <a:spcPts val="0"/>
              </a:spcBef>
              <a:spcAft>
                <a:spcPts val="0"/>
              </a:spcAft>
            </a:pPr>
            <a:r>
              <a:rPr sz="1200" b="0" i="0" lang="en-GB">
                <a:solidFill>
                  <a:srgbClr val="C9D3DD"/>
                </a:solidFill>
                <a:latin typeface="Aptos"/>
                <a:ea typeface="Aptos"/>
                <a:cs typeface="Dubai"/>
              </a:rPr>
              <a:t>Main entrance</a:t>
            </a:r>
          </a:p>
        </p:txBody>
      </p:sp>
      <p:sp>
        <p:nvSpPr>
          <p:cNvPr id="23" name="Rectangle 22"/>
          <p:cNvSpPr/>
          <p:nvPr/>
        </p:nvSpPr>
        <p:spPr>
          <a:xfrm>
            <a:off x="9738359" y="2880360"/>
            <a:ext cx="1874519" cy="132588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738359" y="3702405"/>
            <a:ext cx="1874519" cy="503834"/>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057837" y="3278124"/>
            <a:ext cx="156188" cy="156188"/>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971522" y="3450753"/>
            <a:ext cx="328818" cy="328818"/>
          </a:xfrm>
          <a:prstGeom prst="roundRect">
            <a:avLst>
              <a:gd name="adj" fmla="val 30000"/>
            </a:avLst>
          </a:prstGeom>
          <a:solidFill>
            <a:srgbClr val="8A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012625" y="3754910"/>
            <a:ext cx="246613" cy="345259"/>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126067" y="3837115"/>
            <a:ext cx="19729" cy="263054"/>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888277" y="3065983"/>
            <a:ext cx="196495" cy="196495"/>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779687" y="3283162"/>
            <a:ext cx="413674" cy="413674"/>
          </a:xfrm>
          <a:prstGeom prst="roundRect">
            <a:avLst>
              <a:gd name="adj" fmla="val 3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831397" y="3665811"/>
            <a:ext cx="310255" cy="434358"/>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974114" y="3769229"/>
            <a:ext cx="24820" cy="330939"/>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1172678" y="3583076"/>
            <a:ext cx="175811" cy="206837"/>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93224" y="2916936"/>
            <a:ext cx="1764791" cy="237744"/>
          </a:xfrm>
          <a:prstGeom prst="rect">
            <a:avLst/>
          </a:prstGeom>
          <a:noFill/>
        </p:spPr>
        <p:txBody>
          <a:bodyPr wrap="square" lIns="0" tIns="0" rIns="0" bIns="0" anchor="t">
            <a:noAutofit/>
          </a:bodyPr>
          <a:lstStyle/>
          <a:p>
            <a:pPr algn="l">
              <a:spcBef>
                <a:spcPts val="0"/>
              </a:spcBef>
              <a:spcAft>
                <a:spcPts val="0"/>
              </a:spcAft>
            </a:pPr>
            <a:r>
              <a:rPr sz="900" b="1" i="0" lang="en-GB">
                <a:solidFill>
                  <a:srgbClr val="FFFFFF"/>
                </a:solidFill>
                <a:latin typeface="Aptos"/>
                <a:ea typeface="Aptos"/>
                <a:cs typeface="Dubai"/>
              </a:rPr>
              <a:t>CAM-07  14:05:40</a:t>
            </a:r>
          </a:p>
        </p:txBody>
      </p:sp>
      <p:sp>
        <p:nvSpPr>
          <p:cNvPr id="35" name="TextBox 34"/>
          <p:cNvSpPr txBox="1"/>
          <p:nvPr/>
        </p:nvSpPr>
        <p:spPr>
          <a:xfrm>
            <a:off x="9738359" y="4270248"/>
            <a:ext cx="1874519" cy="274320"/>
          </a:xfrm>
          <a:prstGeom prst="rect">
            <a:avLst/>
          </a:prstGeom>
          <a:noFill/>
        </p:spPr>
        <p:txBody>
          <a:bodyPr wrap="square" lIns="0" tIns="0" rIns="0" bIns="0" anchor="t">
            <a:noAutofit/>
          </a:bodyPr>
          <a:lstStyle/>
          <a:p>
            <a:pPr algn="l">
              <a:spcBef>
                <a:spcPts val="0"/>
              </a:spcBef>
              <a:spcAft>
                <a:spcPts val="0"/>
              </a:spcAft>
            </a:pPr>
            <a:r>
              <a:rPr sz="1200" b="0" i="0" lang="en-GB">
                <a:solidFill>
                  <a:srgbClr val="C9D3DD"/>
                </a:solidFill>
                <a:latin typeface="Aptos"/>
                <a:ea typeface="Aptos"/>
                <a:cs typeface="Dubai"/>
              </a:rPr>
              <a:t>Food court</a:t>
            </a:r>
          </a:p>
        </p:txBody>
      </p:sp>
      <p:sp>
        <p:nvSpPr>
          <p:cNvPr id="36" name="Rounded Rectangle 35"/>
          <p:cNvSpPr/>
          <p:nvPr/>
        </p:nvSpPr>
        <p:spPr>
          <a:xfrm>
            <a:off x="7726679" y="4709160"/>
            <a:ext cx="3886200" cy="548640"/>
          </a:xfrm>
          <a:prstGeom prst="roundRect">
            <a:avLst>
              <a:gd name="adj" fmla="val 20000"/>
            </a:avLst>
          </a:prstGeom>
          <a:solidFill>
            <a:srgbClr val="15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31673" rIns="164592" bIns="131673">
            <a:noAutofit/>
          </a:bodyPr>
          <a:lstStyle/>
          <a:p>
            <a:pPr algn="ctr">
              <a:spcBef>
                <a:spcPts val="0"/>
              </a:spcBef>
              <a:spcAft>
                <a:spcPts val="0"/>
              </a:spcAft>
            </a:pPr>
            <a:r>
              <a:rPr sz="1400" b="1" i="0" lang="en-GB">
                <a:solidFill>
                  <a:srgbClr val="FFFFFF"/>
                </a:solidFill>
                <a:latin typeface="Aptos"/>
                <a:ea typeface="Aptos"/>
                <a:cs typeface="Dubai"/>
              </a:rPr>
              <a:t>A person confirms every match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548640" y="6419088"/>
            <a:ext cx="11094415" cy="0"/>
          </a:xfrm>
          <a:prstGeom prst="line">
            <a:avLst/>
          </a:prstGeom>
          <a:ln w="12700">
            <a:solidFill>
              <a:srgbClr val="D5DBE1"/>
            </a:solidFill>
          </a:ln>
        </p:spPr>
      </p:cxnSp>
      <p:sp>
        <p:nvSpPr>
          <p:cNvPr id="4" name="TextBox 3"/>
          <p:cNvSpPr txBox="1"/>
          <p:nvPr/>
        </p:nvSpPr>
        <p:spPr>
          <a:xfrm>
            <a:off x="548640" y="6473952"/>
            <a:ext cx="7315200" cy="274320"/>
          </a:xfrm>
          <a:prstGeom prst="rect">
            <a:avLst/>
          </a:prstGeom>
          <a:noFill/>
        </p:spPr>
        <p:txBody>
          <a:bodyPr wrap="square" lIns="0" tIns="0" rIns="0" bIns="0" anchor="t">
            <a:noAutofit/>
          </a:bodyPr>
          <a:lstStyle/>
          <a:p>
            <a:pPr algn="l">
              <a:spcBef>
                <a:spcPts val="0"/>
              </a:spcBef>
              <a:spcAft>
                <a:spcPts val="0"/>
              </a:spcAft>
            </a:pPr>
            <a:r>
              <a:rPr sz="1000" b="0" i="0" lang="en-GB">
                <a:solidFill>
                  <a:srgbClr val="5B6573"/>
                </a:solidFill>
                <a:latin typeface="Aptos"/>
                <a:ea typeface="Aptos"/>
                <a:cs typeface="Dubai"/>
              </a:rPr>
              <a:t>Arabic AI Video Search  ·  PoC use cases</a:t>
            </a:r>
          </a:p>
        </p:txBody>
      </p:sp>
      <p:sp>
        <p:nvSpPr>
          <p:cNvPr id="5" name="TextBox 4"/>
          <p:cNvSpPr txBox="1"/>
          <p:nvPr/>
        </p:nvSpPr>
        <p:spPr>
          <a:xfrm>
            <a:off x="9814255" y="6473952"/>
            <a:ext cx="1828800" cy="274320"/>
          </a:xfrm>
          <a:prstGeom prst="rect">
            <a:avLst/>
          </a:prstGeom>
          <a:noFill/>
        </p:spPr>
        <p:txBody>
          <a:bodyPr wrap="square" lIns="0" tIns="0" rIns="0" bIns="0" anchor="t">
            <a:noAutofit/>
          </a:bodyPr>
          <a:lstStyle/>
          <a:p>
            <a:pPr algn="r">
              <a:spcBef>
                <a:spcPts val="0"/>
              </a:spcBef>
              <a:spcAft>
                <a:spcPts val="0"/>
              </a:spcAft>
            </a:pPr>
            <a:r>
              <a:rPr sz="1000" b="0" i="0" lang="en-GB">
                <a:solidFill>
                  <a:srgbClr val="5B6573"/>
                </a:solidFill>
                <a:latin typeface="Aptos"/>
                <a:ea typeface="Aptos"/>
                <a:cs typeface="Dubai"/>
              </a:rPr>
              <a:t>1 / 5</a:t>
            </a:r>
          </a:p>
        </p:txBody>
      </p:sp>
      <p:sp>
        <p:nvSpPr>
          <p:cNvPr id="6" name="TextBox 5"/>
          <p:cNvSpPr txBox="1"/>
          <p:nvPr/>
        </p:nvSpPr>
        <p:spPr>
          <a:xfrm>
            <a:off x="548640" y="347472"/>
            <a:ext cx="7680960" cy="292608"/>
          </a:xfrm>
          <a:prstGeom prst="rect">
            <a:avLst/>
          </a:prstGeom>
          <a:noFill/>
        </p:spPr>
        <p:txBody>
          <a:bodyPr wrap="square" lIns="0" tIns="0" rIns="0" bIns="0" anchor="t">
            <a:noAutofit/>
          </a:bodyPr>
          <a:lstStyle/>
          <a:p>
            <a:pPr algn="l">
              <a:spcBef>
                <a:spcPts val="0"/>
              </a:spcBef>
              <a:spcAft>
                <a:spcPts val="0"/>
              </a:spcAft>
            </a:pPr>
            <a:r>
              <a:rPr sz="1200" b="1" i="0" lang="en-GB">
                <a:solidFill>
                  <a:srgbClr val="0E7C7B"/>
                </a:solidFill>
                <a:latin typeface="Aptos"/>
                <a:ea typeface="Aptos"/>
                <a:cs typeface="Dubai"/>
              </a:rPr>
              <a:t>THE PROBLEM</a:t>
            </a:r>
          </a:p>
        </p:txBody>
      </p:sp>
      <p:sp>
        <p:nvSpPr>
          <p:cNvPr id="7" name="TextBox 6"/>
          <p:cNvSpPr txBox="1"/>
          <p:nvPr/>
        </p:nvSpPr>
        <p:spPr>
          <a:xfrm>
            <a:off x="7802575" y="274320"/>
            <a:ext cx="3840480" cy="411480"/>
          </a:xfrm>
          <a:prstGeom prst="rect">
            <a:avLst/>
          </a:prstGeom>
          <a:noFill/>
        </p:spPr>
        <p:txBody>
          <a:bodyPr wrap="square" lIns="0" tIns="0" rIns="0" bIns="0" anchor="t">
            <a:noAutofit/>
          </a:bodyPr>
          <a:lstStyle/>
          <a:p>
            <a:pPr algn="r" rtl="1">
              <a:spcBef>
                <a:spcPts val="0"/>
              </a:spcBef>
              <a:spcAft>
                <a:spcPts val="0"/>
              </a:spcAft>
            </a:pPr>
            <a:r>
              <a:rPr sz="1800" b="1" i="0" lang="ar-JO">
                <a:solidFill>
                  <a:srgbClr val="0E7C7B"/>
                </a:solidFill>
                <a:latin typeface="Aptos"/>
                <a:ea typeface="Aptos"/>
                <a:cs typeface="Dubai"/>
              </a:rPr>
              <a:t>المشكلة</a:t>
            </a:r>
          </a:p>
        </p:txBody>
      </p:sp>
      <p:sp>
        <p:nvSpPr>
          <p:cNvPr id="8" name="TextBox 7"/>
          <p:cNvSpPr txBox="1"/>
          <p:nvPr/>
        </p:nvSpPr>
        <p:spPr>
          <a:xfrm>
            <a:off x="548640" y="658368"/>
            <a:ext cx="11064240" cy="914400"/>
          </a:xfrm>
          <a:prstGeom prst="rect">
            <a:avLst/>
          </a:prstGeom>
          <a:noFill/>
        </p:spPr>
        <p:txBody>
          <a:bodyPr wrap="square" lIns="0" tIns="0" rIns="0" bIns="0" anchor="t">
            <a:noAutofit/>
          </a:bodyPr>
          <a:lstStyle/>
          <a:p>
            <a:pPr algn="l">
              <a:lnSpc>
                <a:spcPct val="95000"/>
              </a:lnSpc>
              <a:spcBef>
                <a:spcPts val="0"/>
              </a:spcBef>
              <a:spcAft>
                <a:spcPts val="0"/>
              </a:spcAft>
            </a:pPr>
            <a:r>
              <a:rPr sz="2800" b="1" i="0" lang="en-GB">
                <a:solidFill>
                  <a:srgbClr val="0F2A44"/>
                </a:solidFill>
                <a:latin typeface="Aptos"/>
                <a:ea typeface="Aptos"/>
                <a:cs typeface="Dubai"/>
              </a:rPr>
              <a:t>After an incident, the answer sits in hours of footage from many cameras, searched by hand</a:t>
            </a:r>
          </a:p>
        </p:txBody>
      </p:sp>
      <p:sp>
        <p:nvSpPr>
          <p:cNvPr id="9" name="Rectangle 8"/>
          <p:cNvSpPr/>
          <p:nvPr/>
        </p:nvSpPr>
        <p:spPr>
          <a:xfrm>
            <a:off x="548640" y="1874519"/>
            <a:ext cx="1261872" cy="86868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413101"/>
            <a:ext cx="1261872" cy="330098"/>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60953" y="2152497"/>
            <a:ext cx="99029" cy="99029"/>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6226" y="2261951"/>
            <a:ext cx="208483" cy="208483"/>
          </a:xfrm>
          <a:prstGeom prst="roundRect">
            <a:avLst>
              <a:gd name="adj" fmla="val 30000"/>
            </a:avLst>
          </a:prstGeom>
          <a:solidFill>
            <a:srgbClr val="8A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2286" y="2454798"/>
            <a:ext cx="156362" cy="218907"/>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04213" y="2506919"/>
            <a:ext cx="12508" cy="166786"/>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3" y="1911095"/>
            <a:ext cx="1152143" cy="237744"/>
          </a:xfrm>
          <a:prstGeom prst="rect">
            <a:avLst/>
          </a:prstGeom>
          <a:noFill/>
        </p:spPr>
        <p:txBody>
          <a:bodyPr wrap="square" lIns="0" tIns="0" rIns="0" bIns="0" anchor="t">
            <a:noAutofit/>
          </a:bodyPr>
          <a:lstStyle/>
          <a:p>
            <a:pPr algn="l">
              <a:spcBef>
                <a:spcPts val="0"/>
              </a:spcBef>
              <a:spcAft>
                <a:spcPts val="0"/>
              </a:spcAft>
            </a:pPr>
            <a:r>
              <a:rPr sz="900" b="1" i="0" lang="en-GB">
                <a:solidFill>
                  <a:srgbClr val="FFFFFF"/>
                </a:solidFill>
                <a:latin typeface="Aptos"/>
                <a:ea typeface="Aptos"/>
                <a:cs typeface="Dubai"/>
              </a:rPr>
              <a:t>CAM-01</a:t>
            </a:r>
          </a:p>
        </p:txBody>
      </p:sp>
      <p:sp>
        <p:nvSpPr>
          <p:cNvPr id="16" name="Rectangle 15"/>
          <p:cNvSpPr/>
          <p:nvPr/>
        </p:nvSpPr>
        <p:spPr>
          <a:xfrm>
            <a:off x="1920240" y="1874519"/>
            <a:ext cx="1261872" cy="86868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920240" y="2413101"/>
            <a:ext cx="1261872" cy="330098"/>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621104" y="2065629"/>
            <a:ext cx="115534" cy="115534"/>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557256" y="2193325"/>
            <a:ext cx="243230" cy="243230"/>
          </a:xfrm>
          <a:prstGeom prst="roundRect">
            <a:avLst>
              <a:gd name="adj" fmla="val 30000"/>
            </a:avLst>
          </a:prstGeom>
          <a:solidFill>
            <a:srgbClr val="3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87660" y="2418313"/>
            <a:ext cx="182422" cy="255391"/>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671575" y="2479121"/>
            <a:ext cx="14593" cy="194584"/>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75104" y="1911095"/>
            <a:ext cx="1152143" cy="237744"/>
          </a:xfrm>
          <a:prstGeom prst="rect">
            <a:avLst/>
          </a:prstGeom>
          <a:noFill/>
        </p:spPr>
        <p:txBody>
          <a:bodyPr wrap="square" lIns="0" tIns="0" rIns="0" bIns="0" anchor="t">
            <a:noAutofit/>
          </a:bodyPr>
          <a:lstStyle/>
          <a:p>
            <a:pPr algn="l">
              <a:spcBef>
                <a:spcPts val="0"/>
              </a:spcBef>
              <a:spcAft>
                <a:spcPts val="0"/>
              </a:spcAft>
            </a:pPr>
            <a:r>
              <a:rPr sz="900" b="1" i="0" lang="en-GB">
                <a:solidFill>
                  <a:srgbClr val="FFFFFF"/>
                </a:solidFill>
                <a:latin typeface="Aptos"/>
                <a:ea typeface="Aptos"/>
                <a:cs typeface="Dubai"/>
              </a:rPr>
              <a:t>CAM-02</a:t>
            </a:r>
          </a:p>
        </p:txBody>
      </p:sp>
      <p:sp>
        <p:nvSpPr>
          <p:cNvPr id="23" name="Rectangle 22"/>
          <p:cNvSpPr/>
          <p:nvPr/>
        </p:nvSpPr>
        <p:spPr>
          <a:xfrm>
            <a:off x="3291840" y="1874519"/>
            <a:ext cx="1261872" cy="86868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91840" y="2413101"/>
            <a:ext cx="1261872" cy="330098"/>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46704" y="1911095"/>
            <a:ext cx="1152143" cy="237744"/>
          </a:xfrm>
          <a:prstGeom prst="rect">
            <a:avLst/>
          </a:prstGeom>
          <a:noFill/>
        </p:spPr>
        <p:txBody>
          <a:bodyPr wrap="square" lIns="0" tIns="0" rIns="0" bIns="0" anchor="t">
            <a:noAutofit/>
          </a:bodyPr>
          <a:lstStyle/>
          <a:p>
            <a:pPr algn="l">
              <a:spcBef>
                <a:spcPts val="0"/>
              </a:spcBef>
              <a:spcAft>
                <a:spcPts val="0"/>
              </a:spcAft>
            </a:pPr>
            <a:r>
              <a:rPr sz="900" b="1" i="0" lang="en-GB">
                <a:solidFill>
                  <a:srgbClr val="FFFFFF"/>
                </a:solidFill>
                <a:latin typeface="Aptos"/>
                <a:ea typeface="Aptos"/>
                <a:cs typeface="Dubai"/>
              </a:rPr>
              <a:t>CAM-03</a:t>
            </a:r>
          </a:p>
        </p:txBody>
      </p:sp>
      <p:sp>
        <p:nvSpPr>
          <p:cNvPr id="26" name="Rectangle 25"/>
          <p:cNvSpPr/>
          <p:nvPr/>
        </p:nvSpPr>
        <p:spPr>
          <a:xfrm>
            <a:off x="4663440" y="1874519"/>
            <a:ext cx="1261872" cy="86868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63440" y="2413101"/>
            <a:ext cx="1261872" cy="330098"/>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07664" y="2195931"/>
            <a:ext cx="90777" cy="90777"/>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857498" y="2296264"/>
            <a:ext cx="191109" cy="191109"/>
          </a:xfrm>
          <a:prstGeom prst="roundRect">
            <a:avLst>
              <a:gd name="adj" fmla="val 30000"/>
            </a:avLst>
          </a:prstGeom>
          <a:solidFill>
            <a:srgbClr val="7B2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881387" y="2473040"/>
            <a:ext cx="143332" cy="200665"/>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947320" y="2520817"/>
            <a:ext cx="11466" cy="152887"/>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482500" y="2135124"/>
            <a:ext cx="102330" cy="102330"/>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425949" y="2248226"/>
            <a:ext cx="215432" cy="215432"/>
          </a:xfrm>
          <a:prstGeom prst="roundRect">
            <a:avLst>
              <a:gd name="adj" fmla="val 30000"/>
            </a:avLst>
          </a:prstGeom>
          <a:solidFill>
            <a:srgbClr val="8A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52878" y="2447501"/>
            <a:ext cx="161574" cy="226204"/>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27202" y="2501359"/>
            <a:ext cx="12925" cy="172346"/>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18303" y="1911095"/>
            <a:ext cx="1152143" cy="237744"/>
          </a:xfrm>
          <a:prstGeom prst="rect">
            <a:avLst/>
          </a:prstGeom>
          <a:noFill/>
        </p:spPr>
        <p:txBody>
          <a:bodyPr wrap="square" lIns="0" tIns="0" rIns="0" bIns="0" anchor="t">
            <a:noAutofit/>
          </a:bodyPr>
          <a:lstStyle/>
          <a:p>
            <a:pPr algn="l">
              <a:spcBef>
                <a:spcPts val="0"/>
              </a:spcBef>
              <a:spcAft>
                <a:spcPts val="0"/>
              </a:spcAft>
            </a:pPr>
            <a:r>
              <a:rPr sz="900" b="1" i="0" lang="en-GB">
                <a:solidFill>
                  <a:srgbClr val="FFFFFF"/>
                </a:solidFill>
                <a:latin typeface="Aptos"/>
                <a:ea typeface="Aptos"/>
                <a:cs typeface="Dubai"/>
              </a:rPr>
              <a:t>CAM-04</a:t>
            </a:r>
          </a:p>
        </p:txBody>
      </p:sp>
      <p:sp>
        <p:nvSpPr>
          <p:cNvPr id="37" name="Rectangle 36"/>
          <p:cNvSpPr/>
          <p:nvPr/>
        </p:nvSpPr>
        <p:spPr>
          <a:xfrm>
            <a:off x="548640" y="2852927"/>
            <a:ext cx="1261872" cy="86868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3391509"/>
            <a:ext cx="1261872" cy="330098"/>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19321" y="3078784"/>
            <a:ext cx="108932" cy="108932"/>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59122" y="3199183"/>
            <a:ext cx="229331" cy="229331"/>
          </a:xfrm>
          <a:prstGeom prst="roundRect">
            <a:avLst>
              <a:gd name="adj" fmla="val 30000"/>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87788" y="3411315"/>
            <a:ext cx="171998" cy="240798"/>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166907" y="3468648"/>
            <a:ext cx="13759" cy="183465"/>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3503" y="2889503"/>
            <a:ext cx="1152143" cy="237744"/>
          </a:xfrm>
          <a:prstGeom prst="rect">
            <a:avLst/>
          </a:prstGeom>
          <a:noFill/>
        </p:spPr>
        <p:txBody>
          <a:bodyPr wrap="square" lIns="0" tIns="0" rIns="0" bIns="0" anchor="t">
            <a:noAutofit/>
          </a:bodyPr>
          <a:lstStyle/>
          <a:p>
            <a:pPr algn="l">
              <a:spcBef>
                <a:spcPts val="0"/>
              </a:spcBef>
              <a:spcAft>
                <a:spcPts val="0"/>
              </a:spcAft>
            </a:pPr>
            <a:r>
              <a:rPr sz="900" b="1" i="0" lang="en-GB">
                <a:solidFill>
                  <a:srgbClr val="FFFFFF"/>
                </a:solidFill>
                <a:latin typeface="Aptos"/>
                <a:ea typeface="Aptos"/>
                <a:cs typeface="Dubai"/>
              </a:rPr>
              <a:t>CAM-05</a:t>
            </a:r>
          </a:p>
        </p:txBody>
      </p:sp>
      <p:sp>
        <p:nvSpPr>
          <p:cNvPr id="44" name="Rectangle 43"/>
          <p:cNvSpPr/>
          <p:nvPr/>
        </p:nvSpPr>
        <p:spPr>
          <a:xfrm>
            <a:off x="1920240" y="2852927"/>
            <a:ext cx="1261872" cy="86868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920240" y="3391509"/>
            <a:ext cx="1261872" cy="330098"/>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790405" y="3217773"/>
            <a:ext cx="82524" cy="82524"/>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2744800" y="3308984"/>
            <a:ext cx="173736" cy="173736"/>
          </a:xfrm>
          <a:prstGeom prst="roundRect">
            <a:avLst>
              <a:gd name="adj" fmla="val 30000"/>
            </a:avLst>
          </a:prstGeom>
          <a:solidFill>
            <a:srgbClr val="8A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766517" y="3469690"/>
            <a:ext cx="130301" cy="182422"/>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826456" y="3513124"/>
            <a:ext cx="10424" cy="138988"/>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975104" y="2889503"/>
            <a:ext cx="1152143" cy="237744"/>
          </a:xfrm>
          <a:prstGeom prst="rect">
            <a:avLst/>
          </a:prstGeom>
          <a:noFill/>
        </p:spPr>
        <p:txBody>
          <a:bodyPr wrap="square" lIns="0" tIns="0" rIns="0" bIns="0" anchor="t">
            <a:noAutofit/>
          </a:bodyPr>
          <a:lstStyle/>
          <a:p>
            <a:pPr algn="l">
              <a:spcBef>
                <a:spcPts val="0"/>
              </a:spcBef>
              <a:spcAft>
                <a:spcPts val="0"/>
              </a:spcAft>
            </a:pPr>
            <a:r>
              <a:rPr sz="900" b="1" i="0" lang="en-GB">
                <a:solidFill>
                  <a:srgbClr val="FFFFFF"/>
                </a:solidFill>
                <a:latin typeface="Aptos"/>
                <a:ea typeface="Aptos"/>
                <a:cs typeface="Dubai"/>
              </a:rPr>
              <a:t>CAM-06</a:t>
            </a:r>
          </a:p>
        </p:txBody>
      </p:sp>
      <p:sp>
        <p:nvSpPr>
          <p:cNvPr id="51" name="Rectangle 50"/>
          <p:cNvSpPr/>
          <p:nvPr/>
        </p:nvSpPr>
        <p:spPr>
          <a:xfrm>
            <a:off x="3291840" y="2852927"/>
            <a:ext cx="1261872" cy="86868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91840" y="3391509"/>
            <a:ext cx="1261872" cy="330098"/>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740330" y="3044037"/>
            <a:ext cx="115534" cy="115534"/>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3676482" y="3171733"/>
            <a:ext cx="243230" cy="243230"/>
          </a:xfrm>
          <a:prstGeom prst="roundRect">
            <a:avLst>
              <a:gd name="adj" fmla="val 3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706886" y="3396721"/>
            <a:ext cx="182422" cy="255391"/>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790800" y="3457529"/>
            <a:ext cx="14593" cy="194584"/>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3907551" y="3348075"/>
            <a:ext cx="103372" cy="121615"/>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346704" y="2889503"/>
            <a:ext cx="1152143" cy="237744"/>
          </a:xfrm>
          <a:prstGeom prst="rect">
            <a:avLst/>
          </a:prstGeom>
          <a:noFill/>
        </p:spPr>
        <p:txBody>
          <a:bodyPr wrap="square" lIns="0" tIns="0" rIns="0" bIns="0" anchor="t">
            <a:noAutofit/>
          </a:bodyPr>
          <a:lstStyle/>
          <a:p>
            <a:pPr algn="l">
              <a:spcBef>
                <a:spcPts val="0"/>
              </a:spcBef>
              <a:spcAft>
                <a:spcPts val="0"/>
              </a:spcAft>
            </a:pPr>
            <a:r>
              <a:rPr sz="900" b="1" i="0" lang="en-GB">
                <a:solidFill>
                  <a:srgbClr val="FFFFFF"/>
                </a:solidFill>
                <a:latin typeface="Aptos"/>
                <a:ea typeface="Aptos"/>
                <a:cs typeface="Dubai"/>
              </a:rPr>
              <a:t>CAM-07</a:t>
            </a:r>
          </a:p>
        </p:txBody>
      </p:sp>
      <p:sp>
        <p:nvSpPr>
          <p:cNvPr id="59" name="Rectangle 58"/>
          <p:cNvSpPr/>
          <p:nvPr/>
        </p:nvSpPr>
        <p:spPr>
          <a:xfrm>
            <a:off x="4663440" y="2852927"/>
            <a:ext cx="1261872" cy="86868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663440" y="3391509"/>
            <a:ext cx="1261872" cy="330098"/>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718303" y="2889503"/>
            <a:ext cx="1152143" cy="237744"/>
          </a:xfrm>
          <a:prstGeom prst="rect">
            <a:avLst/>
          </a:prstGeom>
          <a:noFill/>
        </p:spPr>
        <p:txBody>
          <a:bodyPr wrap="square" lIns="0" tIns="0" rIns="0" bIns="0" anchor="t">
            <a:noAutofit/>
          </a:bodyPr>
          <a:lstStyle/>
          <a:p>
            <a:pPr algn="l">
              <a:spcBef>
                <a:spcPts val="0"/>
              </a:spcBef>
              <a:spcAft>
                <a:spcPts val="0"/>
              </a:spcAft>
            </a:pPr>
            <a:r>
              <a:rPr sz="900" b="1" i="0" lang="en-GB">
                <a:solidFill>
                  <a:srgbClr val="FFFFFF"/>
                </a:solidFill>
                <a:latin typeface="Aptos"/>
                <a:ea typeface="Aptos"/>
                <a:cs typeface="Dubai"/>
              </a:rPr>
              <a:t>CAM-08</a:t>
            </a:r>
          </a:p>
        </p:txBody>
      </p:sp>
      <p:sp>
        <p:nvSpPr>
          <p:cNvPr id="62" name="Rectangle 61"/>
          <p:cNvSpPr/>
          <p:nvPr/>
        </p:nvSpPr>
        <p:spPr>
          <a:xfrm>
            <a:off x="548640" y="3831335"/>
            <a:ext cx="1261872" cy="86868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548640" y="4369917"/>
            <a:ext cx="1261872" cy="330098"/>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734766" y="4109313"/>
            <a:ext cx="99029" cy="99029"/>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680039" y="4218767"/>
            <a:ext cx="208483" cy="208483"/>
          </a:xfrm>
          <a:prstGeom prst="roundRect">
            <a:avLst>
              <a:gd name="adj" fmla="val 30000"/>
            </a:avLst>
          </a:prstGeom>
          <a:solidFill>
            <a:srgbClr val="3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06099" y="4411614"/>
            <a:ext cx="156362" cy="218907"/>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78026" y="4463735"/>
            <a:ext cx="12508" cy="166786"/>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292618" y="4196181"/>
            <a:ext cx="82524" cy="82524"/>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1247013" y="4287393"/>
            <a:ext cx="173736" cy="173736"/>
          </a:xfrm>
          <a:prstGeom prst="roundRect">
            <a:avLst>
              <a:gd name="adj" fmla="val 30000"/>
            </a:avLst>
          </a:prstGeom>
          <a:solidFill>
            <a:srgbClr val="8A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268730" y="4448098"/>
            <a:ext cx="130301" cy="182422"/>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328668" y="4491532"/>
            <a:ext cx="10424" cy="138988"/>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03503" y="3867911"/>
            <a:ext cx="1152143" cy="237744"/>
          </a:xfrm>
          <a:prstGeom prst="rect">
            <a:avLst/>
          </a:prstGeom>
          <a:noFill/>
        </p:spPr>
        <p:txBody>
          <a:bodyPr wrap="square" lIns="0" tIns="0" rIns="0" bIns="0" anchor="t">
            <a:noAutofit/>
          </a:bodyPr>
          <a:lstStyle/>
          <a:p>
            <a:pPr algn="l">
              <a:spcBef>
                <a:spcPts val="0"/>
              </a:spcBef>
              <a:spcAft>
                <a:spcPts val="0"/>
              </a:spcAft>
            </a:pPr>
            <a:r>
              <a:rPr sz="900" b="1" i="0" lang="en-GB">
                <a:solidFill>
                  <a:srgbClr val="FFFFFF"/>
                </a:solidFill>
                <a:latin typeface="Aptos"/>
                <a:ea typeface="Aptos"/>
                <a:cs typeface="Dubai"/>
              </a:rPr>
              <a:t>CAM-09</a:t>
            </a:r>
          </a:p>
        </p:txBody>
      </p:sp>
      <p:sp>
        <p:nvSpPr>
          <p:cNvPr id="73" name="Rectangle 72"/>
          <p:cNvSpPr/>
          <p:nvPr/>
        </p:nvSpPr>
        <p:spPr>
          <a:xfrm>
            <a:off x="1920240" y="3831335"/>
            <a:ext cx="1261872" cy="86868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920240" y="4369917"/>
            <a:ext cx="1261872" cy="330098"/>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2556013" y="4039819"/>
            <a:ext cx="112233" cy="112233"/>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2493989" y="4163866"/>
            <a:ext cx="236280" cy="236280"/>
          </a:xfrm>
          <a:prstGeom prst="roundRect">
            <a:avLst>
              <a:gd name="adj" fmla="val 30000"/>
            </a:avLst>
          </a:prstGeom>
          <a:solidFill>
            <a:srgbClr val="8A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523524" y="4382426"/>
            <a:ext cx="177210" cy="248095"/>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2605041" y="4441496"/>
            <a:ext cx="14176" cy="189024"/>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975104" y="3867911"/>
            <a:ext cx="1152143" cy="237744"/>
          </a:xfrm>
          <a:prstGeom prst="rect">
            <a:avLst/>
          </a:prstGeom>
          <a:noFill/>
        </p:spPr>
        <p:txBody>
          <a:bodyPr wrap="square" lIns="0" tIns="0" rIns="0" bIns="0" anchor="t">
            <a:noAutofit/>
          </a:bodyPr>
          <a:lstStyle/>
          <a:p>
            <a:pPr algn="l">
              <a:spcBef>
                <a:spcPts val="0"/>
              </a:spcBef>
              <a:spcAft>
                <a:spcPts val="0"/>
              </a:spcAft>
            </a:pPr>
            <a:r>
              <a:rPr sz="900" b="1" i="0" lang="en-GB">
                <a:solidFill>
                  <a:srgbClr val="FFFFFF"/>
                </a:solidFill>
                <a:latin typeface="Aptos"/>
                <a:ea typeface="Aptos"/>
                <a:cs typeface="Dubai"/>
              </a:rPr>
              <a:t>CAM-10</a:t>
            </a:r>
          </a:p>
        </p:txBody>
      </p:sp>
      <p:sp>
        <p:nvSpPr>
          <p:cNvPr id="80" name="Rectangle 79"/>
          <p:cNvSpPr/>
          <p:nvPr/>
        </p:nvSpPr>
        <p:spPr>
          <a:xfrm>
            <a:off x="3291840" y="3831335"/>
            <a:ext cx="1261872" cy="86868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3291840" y="4369917"/>
            <a:ext cx="1261872" cy="330098"/>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346704" y="3867911"/>
            <a:ext cx="1152143" cy="237744"/>
          </a:xfrm>
          <a:prstGeom prst="rect">
            <a:avLst/>
          </a:prstGeom>
          <a:noFill/>
        </p:spPr>
        <p:txBody>
          <a:bodyPr wrap="square" lIns="0" tIns="0" rIns="0" bIns="0" anchor="t">
            <a:noAutofit/>
          </a:bodyPr>
          <a:lstStyle/>
          <a:p>
            <a:pPr algn="l">
              <a:spcBef>
                <a:spcPts val="0"/>
              </a:spcBef>
              <a:spcAft>
                <a:spcPts val="0"/>
              </a:spcAft>
            </a:pPr>
            <a:r>
              <a:rPr sz="900" b="1" i="0" lang="en-GB">
                <a:solidFill>
                  <a:srgbClr val="FFFFFF"/>
                </a:solidFill>
                <a:latin typeface="Aptos"/>
                <a:ea typeface="Aptos"/>
                <a:cs typeface="Dubai"/>
              </a:rPr>
              <a:t>CAM-11</a:t>
            </a:r>
          </a:p>
        </p:txBody>
      </p:sp>
      <p:sp>
        <p:nvSpPr>
          <p:cNvPr id="83" name="Rectangle 82"/>
          <p:cNvSpPr/>
          <p:nvPr/>
        </p:nvSpPr>
        <p:spPr>
          <a:xfrm>
            <a:off x="4663440" y="3831335"/>
            <a:ext cx="1261872" cy="86868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4663440" y="4369917"/>
            <a:ext cx="1261872" cy="330098"/>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5040844" y="4091939"/>
            <a:ext cx="102330" cy="102330"/>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4984293" y="4205042"/>
            <a:ext cx="215432" cy="215432"/>
          </a:xfrm>
          <a:prstGeom prst="roundRect">
            <a:avLst>
              <a:gd name="adj" fmla="val 30000"/>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011222" y="4404317"/>
            <a:ext cx="161574" cy="226204"/>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085547" y="4458175"/>
            <a:ext cx="12925" cy="172346"/>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718303" y="3867911"/>
            <a:ext cx="1152143" cy="237744"/>
          </a:xfrm>
          <a:prstGeom prst="rect">
            <a:avLst/>
          </a:prstGeom>
          <a:noFill/>
        </p:spPr>
        <p:txBody>
          <a:bodyPr wrap="square" lIns="0" tIns="0" rIns="0" bIns="0" anchor="t">
            <a:noAutofit/>
          </a:bodyPr>
          <a:lstStyle/>
          <a:p>
            <a:pPr algn="l">
              <a:spcBef>
                <a:spcPts val="0"/>
              </a:spcBef>
              <a:spcAft>
                <a:spcPts val="0"/>
              </a:spcAft>
            </a:pPr>
            <a:r>
              <a:rPr sz="900" b="1" i="0" lang="en-GB">
                <a:solidFill>
                  <a:srgbClr val="FFFFFF"/>
                </a:solidFill>
                <a:latin typeface="Aptos"/>
                <a:ea typeface="Aptos"/>
                <a:cs typeface="Dubai"/>
              </a:rPr>
              <a:t>CAM-12</a:t>
            </a:r>
          </a:p>
        </p:txBody>
      </p:sp>
      <p:sp>
        <p:nvSpPr>
          <p:cNvPr id="90" name="TextBox 89"/>
          <p:cNvSpPr txBox="1"/>
          <p:nvPr/>
        </p:nvSpPr>
        <p:spPr>
          <a:xfrm>
            <a:off x="548640" y="4855464"/>
            <a:ext cx="5376672" cy="548640"/>
          </a:xfrm>
          <a:prstGeom prst="rect">
            <a:avLst/>
          </a:prstGeom>
          <a:noFill/>
        </p:spPr>
        <p:txBody>
          <a:bodyPr wrap="square" lIns="0" tIns="0" rIns="0" bIns="0" anchor="t">
            <a:noAutofit/>
          </a:bodyPr>
          <a:lstStyle/>
          <a:p>
            <a:pPr algn="l">
              <a:spcBef>
                <a:spcPts val="0"/>
              </a:spcBef>
              <a:spcAft>
                <a:spcPts val="0"/>
              </a:spcAft>
            </a:pPr>
            <a:r>
              <a:rPr sz="1300" b="0" i="1" lang="en-GB">
                <a:solidFill>
                  <a:srgbClr val="5B6573"/>
                </a:solidFill>
                <a:latin typeface="Aptos"/>
                <a:ea typeface="Aptos"/>
                <a:cs typeface="Dubai"/>
              </a:rPr>
              <a:t>Each camera's recording is scrubbed in turn, for the whole time window.</a:t>
            </a:r>
          </a:p>
        </p:txBody>
      </p:sp>
      <p:sp>
        <p:nvSpPr>
          <p:cNvPr id="91" name="Oval 90"/>
          <p:cNvSpPr/>
          <p:nvPr/>
        </p:nvSpPr>
        <p:spPr>
          <a:xfrm>
            <a:off x="6263640" y="1892807"/>
            <a:ext cx="384048" cy="384048"/>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1400" b="1" i="0" lang="en-GB">
                <a:solidFill>
                  <a:srgbClr val="FFFFFF"/>
                </a:solidFill>
                <a:latin typeface="Aptos"/>
                <a:ea typeface="Aptos"/>
                <a:cs typeface="Dubai"/>
              </a:rPr>
              <a:t>1</a:t>
            </a:r>
          </a:p>
        </p:txBody>
      </p:sp>
      <p:sp>
        <p:nvSpPr>
          <p:cNvPr id="92" name="TextBox 91"/>
          <p:cNvSpPr txBox="1"/>
          <p:nvPr/>
        </p:nvSpPr>
        <p:spPr>
          <a:xfrm>
            <a:off x="6812279" y="1874519"/>
            <a:ext cx="4800600" cy="960120"/>
          </a:xfrm>
          <a:prstGeom prst="rect">
            <a:avLst/>
          </a:prstGeom>
          <a:noFill/>
        </p:spPr>
        <p:txBody>
          <a:bodyPr wrap="square" lIns="0" tIns="0" rIns="0" bIns="0" anchor="t">
            <a:noAutofit/>
          </a:bodyPr>
          <a:lstStyle/>
          <a:p>
            <a:pPr algn="l">
              <a:spcBef>
                <a:spcPts val="0"/>
              </a:spcBef>
              <a:spcAft>
                <a:spcPts val="200"/>
              </a:spcAft>
            </a:pPr>
            <a:r>
              <a:rPr sz="1600" b="1" i="0" lang="en-GB">
                <a:solidFill>
                  <a:srgbClr val="0F2A44"/>
                </a:solidFill>
                <a:latin typeface="Aptos"/>
                <a:ea typeface="Aptos"/>
                <a:cs typeface="Dubai"/>
              </a:rPr>
              <a:t>Many cameras, one description</a:t>
            </a:r>
          </a:p>
          <a:p>
            <a:pPr algn="l">
              <a:spcBef>
                <a:spcPts val="0"/>
              </a:spcBef>
              <a:spcAft>
                <a:spcPts val="0"/>
              </a:spcAft>
            </a:pPr>
            <a:r>
              <a:rPr sz="1500" b="0" i="0" lang="en-GB">
                <a:solidFill>
                  <a:srgbClr val="1F2937"/>
                </a:solidFill>
                <a:latin typeface="Aptos"/>
                <a:ea typeface="Aptos"/>
                <a:cs typeface="Dubai"/>
              </a:rPr>
              <a:t>A witness or a parent describes a person. Staff then play back camera after camera, looking for that person.</a:t>
            </a:r>
          </a:p>
        </p:txBody>
      </p:sp>
      <p:sp>
        <p:nvSpPr>
          <p:cNvPr id="93" name="Oval 92"/>
          <p:cNvSpPr/>
          <p:nvPr/>
        </p:nvSpPr>
        <p:spPr>
          <a:xfrm>
            <a:off x="6263640" y="3127248"/>
            <a:ext cx="384048" cy="384048"/>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1400" b="1" i="0" lang="en-GB">
                <a:solidFill>
                  <a:srgbClr val="FFFFFF"/>
                </a:solidFill>
                <a:latin typeface="Aptos"/>
                <a:ea typeface="Aptos"/>
                <a:cs typeface="Dubai"/>
              </a:rPr>
              <a:t>2</a:t>
            </a:r>
          </a:p>
        </p:txBody>
      </p:sp>
      <p:sp>
        <p:nvSpPr>
          <p:cNvPr id="94" name="TextBox 93"/>
          <p:cNvSpPr txBox="1"/>
          <p:nvPr/>
        </p:nvSpPr>
        <p:spPr>
          <a:xfrm>
            <a:off x="6812279" y="3108960"/>
            <a:ext cx="4800600" cy="960120"/>
          </a:xfrm>
          <a:prstGeom prst="rect">
            <a:avLst/>
          </a:prstGeom>
          <a:noFill/>
        </p:spPr>
        <p:txBody>
          <a:bodyPr wrap="square" lIns="0" tIns="0" rIns="0" bIns="0" anchor="t">
            <a:noAutofit/>
          </a:bodyPr>
          <a:lstStyle/>
          <a:p>
            <a:pPr algn="l">
              <a:spcBef>
                <a:spcPts val="0"/>
              </a:spcBef>
              <a:spcAft>
                <a:spcPts val="200"/>
              </a:spcAft>
            </a:pPr>
            <a:r>
              <a:rPr sz="1600" b="1" i="0" lang="en-GB">
                <a:solidFill>
                  <a:srgbClr val="0F2A44"/>
                </a:solidFill>
                <a:latin typeface="Aptos"/>
                <a:ea typeface="Aptos"/>
                <a:cs typeface="Dubai"/>
              </a:rPr>
              <a:t>The work grows with every camera and hour</a:t>
            </a:r>
          </a:p>
          <a:p>
            <a:pPr algn="l">
              <a:spcBef>
                <a:spcPts val="0"/>
              </a:spcBef>
              <a:spcAft>
                <a:spcPts val="0"/>
              </a:spcAft>
            </a:pPr>
            <a:r>
              <a:rPr sz="1500" b="0" i="0" lang="en-GB">
                <a:solidFill>
                  <a:srgbClr val="1F2937"/>
                </a:solidFill>
                <a:latin typeface="Aptos"/>
                <a:ea typeface="Aptos"/>
                <a:cs typeface="Dubai"/>
              </a:rPr>
              <a:t>A lost-child case covering </a:t>
            </a:r>
            <a:r>
              <a:rPr sz="1500" b="1" i="0" lang="en-GB">
                <a:solidFill>
                  <a:srgbClr val="1F2937"/>
                </a:solidFill>
                <a:latin typeface="Aptos"/>
                <a:ea typeface="Aptos"/>
                <a:cs typeface="Dubai"/>
              </a:rPr>
              <a:t>50 nearby cameras for 2 hours</a:t>
            </a:r>
            <a:r>
              <a:rPr sz="1500" b="0" i="0" lang="en-GB">
                <a:solidFill>
                  <a:srgbClr val="1F2937"/>
                </a:solidFill>
                <a:latin typeface="Aptos"/>
                <a:ea typeface="Aptos"/>
                <a:cs typeface="Dubai"/>
              </a:rPr>
              <a:t> is </a:t>
            </a:r>
            <a:r>
              <a:rPr sz="1500" b="1" i="0" lang="en-GB">
                <a:solidFill>
                  <a:srgbClr val="0E7C7B"/>
                </a:solidFill>
                <a:latin typeface="Aptos"/>
                <a:ea typeface="Aptos"/>
                <a:cs typeface="Dubai"/>
              </a:rPr>
              <a:t>100 hours of video</a:t>
            </a:r>
            <a:r>
              <a:rPr sz="1500" b="0" i="0" lang="en-GB">
                <a:solidFill>
                  <a:srgbClr val="1F2937"/>
                </a:solidFill>
                <a:latin typeface="Aptos"/>
                <a:ea typeface="Aptos"/>
                <a:cs typeface="Dubai"/>
              </a:rPr>
              <a:t> to watch.</a:t>
            </a:r>
          </a:p>
        </p:txBody>
      </p:sp>
      <p:sp>
        <p:nvSpPr>
          <p:cNvPr id="95" name="Oval 94"/>
          <p:cNvSpPr/>
          <p:nvPr/>
        </p:nvSpPr>
        <p:spPr>
          <a:xfrm>
            <a:off x="6263640" y="4361688"/>
            <a:ext cx="384048" cy="384048"/>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1400" b="1" i="0" lang="en-GB">
                <a:solidFill>
                  <a:srgbClr val="FFFFFF"/>
                </a:solidFill>
                <a:latin typeface="Aptos"/>
                <a:ea typeface="Aptos"/>
                <a:cs typeface="Dubai"/>
              </a:rPr>
              <a:t>3</a:t>
            </a:r>
          </a:p>
        </p:txBody>
      </p:sp>
      <p:sp>
        <p:nvSpPr>
          <p:cNvPr id="96" name="TextBox 95"/>
          <p:cNvSpPr txBox="1"/>
          <p:nvPr/>
        </p:nvSpPr>
        <p:spPr>
          <a:xfrm>
            <a:off x="6812279" y="4343400"/>
            <a:ext cx="4800600" cy="960120"/>
          </a:xfrm>
          <a:prstGeom prst="rect">
            <a:avLst/>
          </a:prstGeom>
          <a:noFill/>
        </p:spPr>
        <p:txBody>
          <a:bodyPr wrap="square" lIns="0" tIns="0" rIns="0" bIns="0" anchor="t">
            <a:noAutofit/>
          </a:bodyPr>
          <a:lstStyle/>
          <a:p>
            <a:pPr algn="l">
              <a:spcBef>
                <a:spcPts val="0"/>
              </a:spcBef>
              <a:spcAft>
                <a:spcPts val="200"/>
              </a:spcAft>
            </a:pPr>
            <a:r>
              <a:rPr sz="1600" b="1" i="0" lang="en-GB">
                <a:solidFill>
                  <a:srgbClr val="0F2A44"/>
                </a:solidFill>
                <a:latin typeface="Aptos"/>
                <a:ea typeface="Aptos"/>
                <a:cs typeface="Dubai"/>
              </a:rPr>
              <a:t>Search tools that understand descriptions work in English</a:t>
            </a:r>
          </a:p>
          <a:p>
            <a:pPr algn="l">
              <a:spcBef>
                <a:spcPts val="0"/>
              </a:spcBef>
              <a:spcAft>
                <a:spcPts val="0"/>
              </a:spcAft>
            </a:pPr>
            <a:r>
              <a:rPr sz="1500" b="0" i="0" lang="en-GB">
                <a:solidFill>
                  <a:srgbClr val="1F2937"/>
                </a:solidFill>
                <a:latin typeface="Aptos"/>
                <a:ea typeface="Aptos"/>
                <a:cs typeface="Dubai"/>
              </a:rPr>
              <a:t>The closest open design, NVIDIA's video-search blueprint, works in English only, and no public test covers Jordanian Arabic.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548640" y="6419088"/>
            <a:ext cx="11094415" cy="0"/>
          </a:xfrm>
          <a:prstGeom prst="line">
            <a:avLst/>
          </a:prstGeom>
          <a:ln w="12700">
            <a:solidFill>
              <a:srgbClr val="D5DBE1"/>
            </a:solidFill>
          </a:ln>
        </p:spPr>
      </p:cxnSp>
      <p:sp>
        <p:nvSpPr>
          <p:cNvPr id="4" name="TextBox 3"/>
          <p:cNvSpPr txBox="1"/>
          <p:nvPr/>
        </p:nvSpPr>
        <p:spPr>
          <a:xfrm>
            <a:off x="548640" y="6473952"/>
            <a:ext cx="7315200" cy="274320"/>
          </a:xfrm>
          <a:prstGeom prst="rect">
            <a:avLst/>
          </a:prstGeom>
          <a:noFill/>
        </p:spPr>
        <p:txBody>
          <a:bodyPr wrap="square" lIns="0" tIns="0" rIns="0" bIns="0" anchor="t">
            <a:noAutofit/>
          </a:bodyPr>
          <a:lstStyle/>
          <a:p>
            <a:pPr algn="l">
              <a:spcBef>
                <a:spcPts val="0"/>
              </a:spcBef>
              <a:spcAft>
                <a:spcPts val="0"/>
              </a:spcAft>
            </a:pPr>
            <a:r>
              <a:rPr sz="1000" b="0" i="0" lang="en-GB">
                <a:solidFill>
                  <a:srgbClr val="5B6573"/>
                </a:solidFill>
                <a:latin typeface="Aptos"/>
                <a:ea typeface="Aptos"/>
                <a:cs typeface="Dubai"/>
              </a:rPr>
              <a:t>Arabic AI Video Search  ·  PoC use cases</a:t>
            </a:r>
          </a:p>
        </p:txBody>
      </p:sp>
      <p:sp>
        <p:nvSpPr>
          <p:cNvPr id="5" name="TextBox 4"/>
          <p:cNvSpPr txBox="1"/>
          <p:nvPr/>
        </p:nvSpPr>
        <p:spPr>
          <a:xfrm>
            <a:off x="9814255" y="6473952"/>
            <a:ext cx="1828800" cy="274320"/>
          </a:xfrm>
          <a:prstGeom prst="rect">
            <a:avLst/>
          </a:prstGeom>
          <a:noFill/>
        </p:spPr>
        <p:txBody>
          <a:bodyPr wrap="square" lIns="0" tIns="0" rIns="0" bIns="0" anchor="t">
            <a:noAutofit/>
          </a:bodyPr>
          <a:lstStyle/>
          <a:p>
            <a:pPr algn="r">
              <a:spcBef>
                <a:spcPts val="0"/>
              </a:spcBef>
              <a:spcAft>
                <a:spcPts val="0"/>
              </a:spcAft>
            </a:pPr>
            <a:r>
              <a:rPr sz="1000" b="0" i="0" lang="en-GB">
                <a:solidFill>
                  <a:srgbClr val="5B6573"/>
                </a:solidFill>
                <a:latin typeface="Aptos"/>
                <a:ea typeface="Aptos"/>
                <a:cs typeface="Dubai"/>
              </a:rPr>
              <a:t>2 / 5</a:t>
            </a:r>
          </a:p>
        </p:txBody>
      </p:sp>
      <p:sp>
        <p:nvSpPr>
          <p:cNvPr id="6" name="TextBox 5"/>
          <p:cNvSpPr txBox="1"/>
          <p:nvPr/>
        </p:nvSpPr>
        <p:spPr>
          <a:xfrm>
            <a:off x="548640" y="347472"/>
            <a:ext cx="7680960" cy="292608"/>
          </a:xfrm>
          <a:prstGeom prst="rect">
            <a:avLst/>
          </a:prstGeom>
          <a:noFill/>
        </p:spPr>
        <p:txBody>
          <a:bodyPr wrap="square" lIns="0" tIns="0" rIns="0" bIns="0" anchor="t">
            <a:noAutofit/>
          </a:bodyPr>
          <a:lstStyle/>
          <a:p>
            <a:pPr algn="l">
              <a:spcBef>
                <a:spcPts val="0"/>
              </a:spcBef>
              <a:spcAft>
                <a:spcPts val="0"/>
              </a:spcAft>
            </a:pPr>
            <a:r>
              <a:rPr sz="1200" b="1" i="0" lang="en-GB">
                <a:solidFill>
                  <a:srgbClr val="0E7C7B"/>
                </a:solidFill>
                <a:latin typeface="Aptos"/>
                <a:ea typeface="Aptos"/>
                <a:cs typeface="Dubai"/>
              </a:rPr>
              <a:t>WHAT THE SYSTEM DOES</a:t>
            </a:r>
          </a:p>
        </p:txBody>
      </p:sp>
      <p:sp>
        <p:nvSpPr>
          <p:cNvPr id="7" name="TextBox 6"/>
          <p:cNvSpPr txBox="1"/>
          <p:nvPr/>
        </p:nvSpPr>
        <p:spPr>
          <a:xfrm>
            <a:off x="7802575" y="274320"/>
            <a:ext cx="3840480" cy="411480"/>
          </a:xfrm>
          <a:prstGeom prst="rect">
            <a:avLst/>
          </a:prstGeom>
          <a:noFill/>
        </p:spPr>
        <p:txBody>
          <a:bodyPr wrap="square" lIns="0" tIns="0" rIns="0" bIns="0" anchor="t">
            <a:noAutofit/>
          </a:bodyPr>
          <a:lstStyle/>
          <a:p>
            <a:pPr algn="r" rtl="1">
              <a:spcBef>
                <a:spcPts val="0"/>
              </a:spcBef>
              <a:spcAft>
                <a:spcPts val="0"/>
              </a:spcAft>
            </a:pPr>
            <a:r>
              <a:rPr sz="1800" b="1" i="0" lang="ar-JO">
                <a:solidFill>
                  <a:srgbClr val="0E7C7B"/>
                </a:solidFill>
                <a:latin typeface="Aptos"/>
                <a:ea typeface="Aptos"/>
                <a:cs typeface="Dubai"/>
              </a:rPr>
              <a:t>ماذا يفعل النظام</a:t>
            </a:r>
          </a:p>
        </p:txBody>
      </p:sp>
      <p:sp>
        <p:nvSpPr>
          <p:cNvPr id="8" name="TextBox 7"/>
          <p:cNvSpPr txBox="1"/>
          <p:nvPr/>
        </p:nvSpPr>
        <p:spPr>
          <a:xfrm>
            <a:off x="548640" y="658368"/>
            <a:ext cx="11064240" cy="914400"/>
          </a:xfrm>
          <a:prstGeom prst="rect">
            <a:avLst/>
          </a:prstGeom>
          <a:noFill/>
        </p:spPr>
        <p:txBody>
          <a:bodyPr wrap="square" lIns="0" tIns="0" rIns="0" bIns="0" anchor="t">
            <a:noAutofit/>
          </a:bodyPr>
          <a:lstStyle/>
          <a:p>
            <a:pPr algn="l">
              <a:lnSpc>
                <a:spcPct val="95000"/>
              </a:lnSpc>
              <a:spcBef>
                <a:spcPts val="0"/>
              </a:spcBef>
              <a:spcAft>
                <a:spcPts val="0"/>
              </a:spcAft>
            </a:pPr>
            <a:r>
              <a:rPr sz="2800" b="1" i="0" lang="en-GB">
                <a:solidFill>
                  <a:srgbClr val="0F2A44"/>
                </a:solidFill>
                <a:latin typeface="Aptos"/>
                <a:ea typeface="Aptos"/>
                <a:cs typeface="Dubai"/>
              </a:rPr>
              <a:t>Type a description in Arabic. Get the matching clips, with camera, place and time.</a:t>
            </a:r>
          </a:p>
        </p:txBody>
      </p:sp>
      <p:sp>
        <p:nvSpPr>
          <p:cNvPr id="9" name="Oval 8"/>
          <p:cNvSpPr/>
          <p:nvPr/>
        </p:nvSpPr>
        <p:spPr>
          <a:xfrm>
            <a:off x="548640" y="1828800"/>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1400" b="1" i="0" lang="en-GB">
                <a:solidFill>
                  <a:srgbClr val="FFFFFF"/>
                </a:solidFill>
                <a:latin typeface="Aptos"/>
                <a:ea typeface="Aptos"/>
                <a:cs typeface="Dubai"/>
              </a:rPr>
              <a:t>1</a:t>
            </a:r>
          </a:p>
        </p:txBody>
      </p:sp>
      <p:sp>
        <p:nvSpPr>
          <p:cNvPr id="10" name="TextBox 9"/>
          <p:cNvSpPr txBox="1"/>
          <p:nvPr/>
        </p:nvSpPr>
        <p:spPr>
          <a:xfrm>
            <a:off x="1060704" y="1810512"/>
            <a:ext cx="1783080" cy="292608"/>
          </a:xfrm>
          <a:prstGeom prst="rect">
            <a:avLst/>
          </a:prstGeom>
          <a:noFill/>
        </p:spPr>
        <p:txBody>
          <a:bodyPr wrap="square" lIns="0" tIns="0" rIns="0" bIns="0" anchor="t">
            <a:noAutofit/>
          </a:bodyPr>
          <a:lstStyle/>
          <a:p>
            <a:pPr algn="l">
              <a:spcBef>
                <a:spcPts val="0"/>
              </a:spcBef>
              <a:spcAft>
                <a:spcPts val="0"/>
              </a:spcAft>
            </a:pPr>
            <a:r>
              <a:rPr sz="1700" b="1" i="0" lang="en-GB">
                <a:solidFill>
                  <a:srgbClr val="0F2A44"/>
                </a:solidFill>
                <a:latin typeface="Aptos"/>
                <a:ea typeface="Aptos"/>
                <a:cs typeface="Dubai"/>
              </a:rPr>
              <a:t>Type</a:t>
            </a:r>
          </a:p>
        </p:txBody>
      </p:sp>
      <p:sp>
        <p:nvSpPr>
          <p:cNvPr id="11" name="TextBox 10"/>
          <p:cNvSpPr txBox="1"/>
          <p:nvPr/>
        </p:nvSpPr>
        <p:spPr>
          <a:xfrm>
            <a:off x="1060704" y="2075688"/>
            <a:ext cx="1271016" cy="274320"/>
          </a:xfrm>
          <a:prstGeom prst="rect">
            <a:avLst/>
          </a:prstGeom>
          <a:noFill/>
        </p:spPr>
        <p:txBody>
          <a:bodyPr wrap="square" lIns="0" tIns="0" rIns="0" bIns="0" anchor="t">
            <a:noAutofit/>
          </a:bodyPr>
          <a:lstStyle/>
          <a:p>
            <a:pPr algn="l" rtl="1">
              <a:spcBef>
                <a:spcPts val="0"/>
              </a:spcBef>
              <a:spcAft>
                <a:spcPts val="0"/>
              </a:spcAft>
            </a:pPr>
            <a:r>
              <a:rPr sz="1200" b="0" i="0" lang="ar-JO">
                <a:solidFill>
                  <a:srgbClr val="5B6573"/>
                </a:solidFill>
                <a:latin typeface="Aptos"/>
                <a:ea typeface="Aptos"/>
                <a:cs typeface="Dubai"/>
              </a:rPr>
              <a:t>اكتب الوصف</a:t>
            </a:r>
          </a:p>
        </p:txBody>
      </p:sp>
      <p:sp>
        <p:nvSpPr>
          <p:cNvPr id="12" name="Chevron 11"/>
          <p:cNvSpPr/>
          <p:nvPr/>
        </p:nvSpPr>
        <p:spPr>
          <a:xfrm>
            <a:off x="2496312" y="3246120"/>
            <a:ext cx="237744" cy="384048"/>
          </a:xfrm>
          <a:prstGeom prst="chevron">
            <a:avLst/>
          </a:prstGeom>
          <a:solidFill>
            <a:srgbClr val="D5DB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880360" y="1828800"/>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1400" b="1" i="0" lang="en-GB">
                <a:solidFill>
                  <a:srgbClr val="FFFFFF"/>
                </a:solidFill>
                <a:latin typeface="Aptos"/>
                <a:ea typeface="Aptos"/>
                <a:cs typeface="Dubai"/>
              </a:rPr>
              <a:t>2</a:t>
            </a:r>
          </a:p>
        </p:txBody>
      </p:sp>
      <p:sp>
        <p:nvSpPr>
          <p:cNvPr id="14" name="TextBox 13"/>
          <p:cNvSpPr txBox="1"/>
          <p:nvPr/>
        </p:nvSpPr>
        <p:spPr>
          <a:xfrm>
            <a:off x="3392424" y="1810512"/>
            <a:ext cx="1783080" cy="292608"/>
          </a:xfrm>
          <a:prstGeom prst="rect">
            <a:avLst/>
          </a:prstGeom>
          <a:noFill/>
        </p:spPr>
        <p:txBody>
          <a:bodyPr wrap="square" lIns="0" tIns="0" rIns="0" bIns="0" anchor="t">
            <a:noAutofit/>
          </a:bodyPr>
          <a:lstStyle/>
          <a:p>
            <a:pPr algn="l">
              <a:spcBef>
                <a:spcPts val="0"/>
              </a:spcBef>
              <a:spcAft>
                <a:spcPts val="0"/>
              </a:spcAft>
            </a:pPr>
            <a:r>
              <a:rPr sz="1700" b="1" i="0" lang="en-GB">
                <a:solidFill>
                  <a:srgbClr val="0F2A44"/>
                </a:solidFill>
                <a:latin typeface="Aptos"/>
                <a:ea typeface="Aptos"/>
                <a:cs typeface="Dubai"/>
              </a:rPr>
              <a:t>Understand</a:t>
            </a:r>
          </a:p>
        </p:txBody>
      </p:sp>
      <p:sp>
        <p:nvSpPr>
          <p:cNvPr id="15" name="TextBox 14"/>
          <p:cNvSpPr txBox="1"/>
          <p:nvPr/>
        </p:nvSpPr>
        <p:spPr>
          <a:xfrm>
            <a:off x="3392424" y="2075688"/>
            <a:ext cx="1271016" cy="274320"/>
          </a:xfrm>
          <a:prstGeom prst="rect">
            <a:avLst/>
          </a:prstGeom>
          <a:noFill/>
        </p:spPr>
        <p:txBody>
          <a:bodyPr wrap="square" lIns="0" tIns="0" rIns="0" bIns="0" anchor="t">
            <a:noAutofit/>
          </a:bodyPr>
          <a:lstStyle/>
          <a:p>
            <a:pPr algn="l" rtl="1">
              <a:spcBef>
                <a:spcPts val="0"/>
              </a:spcBef>
              <a:spcAft>
                <a:spcPts val="0"/>
              </a:spcAft>
            </a:pPr>
            <a:r>
              <a:rPr sz="1200" b="0" i="0" lang="ar-JO">
                <a:solidFill>
                  <a:srgbClr val="5B6573"/>
                </a:solidFill>
                <a:latin typeface="Aptos"/>
                <a:ea typeface="Aptos"/>
                <a:cs typeface="Dubai"/>
              </a:rPr>
              <a:t>فهم الوصف</a:t>
            </a:r>
          </a:p>
        </p:txBody>
      </p:sp>
      <p:sp>
        <p:nvSpPr>
          <p:cNvPr id="16" name="Chevron 15"/>
          <p:cNvSpPr/>
          <p:nvPr/>
        </p:nvSpPr>
        <p:spPr>
          <a:xfrm>
            <a:off x="4828032" y="3246120"/>
            <a:ext cx="237744" cy="384048"/>
          </a:xfrm>
          <a:prstGeom prst="chevron">
            <a:avLst/>
          </a:prstGeom>
          <a:solidFill>
            <a:srgbClr val="D5DB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212080" y="1828800"/>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1400" b="1" i="0" lang="en-GB">
                <a:solidFill>
                  <a:srgbClr val="FFFFFF"/>
                </a:solidFill>
                <a:latin typeface="Aptos"/>
                <a:ea typeface="Aptos"/>
                <a:cs typeface="Dubai"/>
              </a:rPr>
              <a:t>3</a:t>
            </a:r>
          </a:p>
        </p:txBody>
      </p:sp>
      <p:sp>
        <p:nvSpPr>
          <p:cNvPr id="18" name="TextBox 17"/>
          <p:cNvSpPr txBox="1"/>
          <p:nvPr/>
        </p:nvSpPr>
        <p:spPr>
          <a:xfrm>
            <a:off x="5724144" y="1810512"/>
            <a:ext cx="1783080" cy="292608"/>
          </a:xfrm>
          <a:prstGeom prst="rect">
            <a:avLst/>
          </a:prstGeom>
          <a:noFill/>
        </p:spPr>
        <p:txBody>
          <a:bodyPr wrap="square" lIns="0" tIns="0" rIns="0" bIns="0" anchor="t">
            <a:noAutofit/>
          </a:bodyPr>
          <a:lstStyle/>
          <a:p>
            <a:pPr algn="l">
              <a:spcBef>
                <a:spcPts val="0"/>
              </a:spcBef>
              <a:spcAft>
                <a:spcPts val="0"/>
              </a:spcAft>
            </a:pPr>
            <a:r>
              <a:rPr sz="1700" b="1" i="0" lang="en-GB">
                <a:solidFill>
                  <a:srgbClr val="0F2A44"/>
                </a:solidFill>
                <a:latin typeface="Aptos"/>
                <a:ea typeface="Aptos"/>
                <a:cs typeface="Dubai"/>
              </a:rPr>
              <a:t>Search</a:t>
            </a:r>
          </a:p>
        </p:txBody>
      </p:sp>
      <p:sp>
        <p:nvSpPr>
          <p:cNvPr id="19" name="TextBox 18"/>
          <p:cNvSpPr txBox="1"/>
          <p:nvPr/>
        </p:nvSpPr>
        <p:spPr>
          <a:xfrm>
            <a:off x="5724144" y="2075688"/>
            <a:ext cx="1271016" cy="274320"/>
          </a:xfrm>
          <a:prstGeom prst="rect">
            <a:avLst/>
          </a:prstGeom>
          <a:noFill/>
        </p:spPr>
        <p:txBody>
          <a:bodyPr wrap="square" lIns="0" tIns="0" rIns="0" bIns="0" anchor="t">
            <a:noAutofit/>
          </a:bodyPr>
          <a:lstStyle/>
          <a:p>
            <a:pPr algn="l" rtl="1">
              <a:spcBef>
                <a:spcPts val="0"/>
              </a:spcBef>
              <a:spcAft>
                <a:spcPts val="0"/>
              </a:spcAft>
            </a:pPr>
            <a:r>
              <a:rPr sz="1200" b="0" i="0" lang="ar-JO">
                <a:solidFill>
                  <a:srgbClr val="5B6573"/>
                </a:solidFill>
                <a:latin typeface="Aptos"/>
                <a:ea typeface="Aptos"/>
                <a:cs typeface="Dubai"/>
              </a:rPr>
              <a:t>البحث</a:t>
            </a:r>
          </a:p>
        </p:txBody>
      </p:sp>
      <p:sp>
        <p:nvSpPr>
          <p:cNvPr id="20" name="Chevron 19"/>
          <p:cNvSpPr/>
          <p:nvPr/>
        </p:nvSpPr>
        <p:spPr>
          <a:xfrm>
            <a:off x="7159752" y="3246120"/>
            <a:ext cx="237744" cy="384048"/>
          </a:xfrm>
          <a:prstGeom prst="chevron">
            <a:avLst/>
          </a:prstGeom>
          <a:solidFill>
            <a:srgbClr val="D5DB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43800" y="1828800"/>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1400" b="1" i="0" lang="en-GB">
                <a:solidFill>
                  <a:srgbClr val="FFFFFF"/>
                </a:solidFill>
                <a:latin typeface="Aptos"/>
                <a:ea typeface="Aptos"/>
                <a:cs typeface="Dubai"/>
              </a:rPr>
              <a:t>4</a:t>
            </a:r>
          </a:p>
        </p:txBody>
      </p:sp>
      <p:sp>
        <p:nvSpPr>
          <p:cNvPr id="22" name="TextBox 21"/>
          <p:cNvSpPr txBox="1"/>
          <p:nvPr/>
        </p:nvSpPr>
        <p:spPr>
          <a:xfrm>
            <a:off x="8055864" y="1810512"/>
            <a:ext cx="1783080" cy="292608"/>
          </a:xfrm>
          <a:prstGeom prst="rect">
            <a:avLst/>
          </a:prstGeom>
          <a:noFill/>
        </p:spPr>
        <p:txBody>
          <a:bodyPr wrap="square" lIns="0" tIns="0" rIns="0" bIns="0" anchor="t">
            <a:noAutofit/>
          </a:bodyPr>
          <a:lstStyle/>
          <a:p>
            <a:pPr algn="l">
              <a:spcBef>
                <a:spcPts val="0"/>
              </a:spcBef>
              <a:spcAft>
                <a:spcPts val="0"/>
              </a:spcAft>
            </a:pPr>
            <a:r>
              <a:rPr sz="1700" b="1" i="0" lang="en-GB">
                <a:solidFill>
                  <a:srgbClr val="0F2A44"/>
                </a:solidFill>
                <a:latin typeface="Aptos"/>
                <a:ea typeface="Aptos"/>
                <a:cs typeface="Dubai"/>
              </a:rPr>
              <a:t>Results</a:t>
            </a:r>
          </a:p>
        </p:txBody>
      </p:sp>
      <p:sp>
        <p:nvSpPr>
          <p:cNvPr id="23" name="TextBox 22"/>
          <p:cNvSpPr txBox="1"/>
          <p:nvPr/>
        </p:nvSpPr>
        <p:spPr>
          <a:xfrm>
            <a:off x="8055864" y="2075688"/>
            <a:ext cx="1271016" cy="274320"/>
          </a:xfrm>
          <a:prstGeom prst="rect">
            <a:avLst/>
          </a:prstGeom>
          <a:noFill/>
        </p:spPr>
        <p:txBody>
          <a:bodyPr wrap="square" lIns="0" tIns="0" rIns="0" bIns="0" anchor="t">
            <a:noAutofit/>
          </a:bodyPr>
          <a:lstStyle/>
          <a:p>
            <a:pPr algn="l" rtl="1">
              <a:spcBef>
                <a:spcPts val="0"/>
              </a:spcBef>
              <a:spcAft>
                <a:spcPts val="0"/>
              </a:spcAft>
            </a:pPr>
            <a:r>
              <a:rPr sz="1200" b="0" i="0" lang="ar-JO">
                <a:solidFill>
                  <a:srgbClr val="5B6573"/>
                </a:solidFill>
                <a:latin typeface="Aptos"/>
                <a:ea typeface="Aptos"/>
                <a:cs typeface="Dubai"/>
              </a:rPr>
              <a:t>النتائج</a:t>
            </a:r>
          </a:p>
        </p:txBody>
      </p:sp>
      <p:sp>
        <p:nvSpPr>
          <p:cNvPr id="24" name="Chevron 23"/>
          <p:cNvSpPr/>
          <p:nvPr/>
        </p:nvSpPr>
        <p:spPr>
          <a:xfrm>
            <a:off x="9491472" y="3246120"/>
            <a:ext cx="237744" cy="384048"/>
          </a:xfrm>
          <a:prstGeom prst="chevron">
            <a:avLst/>
          </a:prstGeom>
          <a:solidFill>
            <a:srgbClr val="D5DB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875520" y="1828800"/>
            <a:ext cx="420624" cy="420624"/>
          </a:xfrm>
          <a:prstGeom prst="ellipse">
            <a:avLst/>
          </a:prstGeom>
          <a:solidFill>
            <a:srgbClr val="B45F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1400" b="1" i="0" lang="en-GB">
                <a:solidFill>
                  <a:srgbClr val="FFFFFF"/>
                </a:solidFill>
                <a:latin typeface="Aptos"/>
                <a:ea typeface="Aptos"/>
                <a:cs typeface="Dubai"/>
              </a:rPr>
              <a:t>5</a:t>
            </a:r>
          </a:p>
        </p:txBody>
      </p:sp>
      <p:sp>
        <p:nvSpPr>
          <p:cNvPr id="26" name="TextBox 25"/>
          <p:cNvSpPr txBox="1"/>
          <p:nvPr/>
        </p:nvSpPr>
        <p:spPr>
          <a:xfrm>
            <a:off x="10387584" y="1810512"/>
            <a:ext cx="1783080" cy="292608"/>
          </a:xfrm>
          <a:prstGeom prst="rect">
            <a:avLst/>
          </a:prstGeom>
          <a:noFill/>
        </p:spPr>
        <p:txBody>
          <a:bodyPr wrap="square" lIns="0" tIns="0" rIns="0" bIns="0" anchor="t">
            <a:noAutofit/>
          </a:bodyPr>
          <a:lstStyle/>
          <a:p>
            <a:pPr algn="l">
              <a:spcBef>
                <a:spcPts val="0"/>
              </a:spcBef>
              <a:spcAft>
                <a:spcPts val="0"/>
              </a:spcAft>
            </a:pPr>
            <a:r>
              <a:rPr sz="1700" b="1" i="0" lang="en-GB">
                <a:solidFill>
                  <a:srgbClr val="0F2A44"/>
                </a:solidFill>
                <a:latin typeface="Aptos"/>
                <a:ea typeface="Aptos"/>
                <a:cs typeface="Dubai"/>
              </a:rPr>
              <a:t>Confirm</a:t>
            </a:r>
          </a:p>
        </p:txBody>
      </p:sp>
      <p:sp>
        <p:nvSpPr>
          <p:cNvPr id="27" name="TextBox 26"/>
          <p:cNvSpPr txBox="1"/>
          <p:nvPr/>
        </p:nvSpPr>
        <p:spPr>
          <a:xfrm>
            <a:off x="10387584" y="2075688"/>
            <a:ext cx="1271016" cy="274320"/>
          </a:xfrm>
          <a:prstGeom prst="rect">
            <a:avLst/>
          </a:prstGeom>
          <a:noFill/>
        </p:spPr>
        <p:txBody>
          <a:bodyPr wrap="square" lIns="0" tIns="0" rIns="0" bIns="0" anchor="t">
            <a:noAutofit/>
          </a:bodyPr>
          <a:lstStyle/>
          <a:p>
            <a:pPr algn="l" rtl="1">
              <a:spcBef>
                <a:spcPts val="0"/>
              </a:spcBef>
              <a:spcAft>
                <a:spcPts val="0"/>
              </a:spcAft>
            </a:pPr>
            <a:r>
              <a:rPr sz="1200" b="0" i="0" lang="ar-JO">
                <a:solidFill>
                  <a:srgbClr val="5B6573"/>
                </a:solidFill>
                <a:latin typeface="Aptos"/>
                <a:ea typeface="Aptos"/>
                <a:cs typeface="Dubai"/>
              </a:rPr>
              <a:t>التأكيد</a:t>
            </a:r>
          </a:p>
        </p:txBody>
      </p:sp>
      <p:sp>
        <p:nvSpPr>
          <p:cNvPr id="28" name="Rounded Rectangle 27"/>
          <p:cNvSpPr/>
          <p:nvPr/>
        </p:nvSpPr>
        <p:spPr>
          <a:xfrm>
            <a:off x="548640" y="2514600"/>
            <a:ext cx="1920240" cy="1005840"/>
          </a:xfrm>
          <a:prstGeom prst="roundRect">
            <a:avLst>
              <a:gd name="adj" fmla="val 15000"/>
            </a:avLst>
          </a:prstGeom>
          <a:solidFill>
            <a:srgbClr val="FFFFFF"/>
          </a:solidFill>
          <a:ln w="22225">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58521" rIns="73152" bIns="58521">
            <a:noAutofit/>
          </a:bodyPr>
          <a:lstStyle/>
          <a:p>
            <a:pPr algn="ctr" rtl="1">
              <a:spcBef>
                <a:spcPts val="0"/>
              </a:spcBef>
              <a:spcAft>
                <a:spcPts val="0"/>
              </a:spcAft>
            </a:pPr>
            <a:r>
              <a:rPr sz="1400" b="1" i="0" lang="ar-JO">
                <a:solidFill>
                  <a:srgbClr val="0F2A44"/>
                </a:solidFill>
                <a:latin typeface="Aptos"/>
                <a:ea typeface="Aptos"/>
                <a:cs typeface="Dubai"/>
              </a:rPr>
              <a:t>رجل يرتدي قميص أحمر</a:t>
            </a:r>
          </a:p>
        </p:txBody>
      </p:sp>
      <p:sp>
        <p:nvSpPr>
          <p:cNvPr id="29" name="TextBox 28"/>
          <p:cNvSpPr txBox="1"/>
          <p:nvPr/>
        </p:nvSpPr>
        <p:spPr>
          <a:xfrm>
            <a:off x="548640" y="3593591"/>
            <a:ext cx="1920240" cy="548640"/>
          </a:xfrm>
          <a:prstGeom prst="rect">
            <a:avLst/>
          </a:prstGeom>
          <a:noFill/>
        </p:spPr>
        <p:txBody>
          <a:bodyPr wrap="square" lIns="0" tIns="0" rIns="0" bIns="0" anchor="t">
            <a:noAutofit/>
          </a:bodyPr>
          <a:lstStyle/>
          <a:p>
            <a:pPr algn="l">
              <a:spcBef>
                <a:spcPts val="0"/>
              </a:spcBef>
              <a:spcAft>
                <a:spcPts val="0"/>
              </a:spcAft>
            </a:pPr>
            <a:r>
              <a:rPr sz="1200" b="0" i="1" lang="en-GB">
                <a:solidFill>
                  <a:srgbClr val="5B6573"/>
                </a:solidFill>
                <a:latin typeface="Aptos"/>
                <a:ea typeface="Aptos"/>
                <a:cs typeface="Dubai"/>
              </a:rPr>
              <a:t>"a man wearing a red shirt", in formal Arabic or dialect</a:t>
            </a:r>
          </a:p>
        </p:txBody>
      </p:sp>
      <p:sp>
        <p:nvSpPr>
          <p:cNvPr id="30" name="Rounded Rectangle 29"/>
          <p:cNvSpPr/>
          <p:nvPr/>
        </p:nvSpPr>
        <p:spPr>
          <a:xfrm>
            <a:off x="2880360" y="2514600"/>
            <a:ext cx="1920240" cy="457200"/>
          </a:xfrm>
          <a:prstGeom prst="roundRect">
            <a:avLst>
              <a:gd name="adj" fmla="val 50000"/>
            </a:avLst>
          </a:prstGeom>
          <a:solidFill>
            <a:srgbClr val="E3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58521" rIns="73152" bIns="58521">
            <a:noAutofit/>
          </a:bodyPr>
          <a:lstStyle/>
          <a:p>
            <a:pPr algn="ctr">
              <a:spcBef>
                <a:spcPts val="0"/>
              </a:spcBef>
              <a:spcAft>
                <a:spcPts val="0"/>
              </a:spcAft>
            </a:pPr>
            <a:r>
              <a:rPr sz="1400" b="1" i="0" lang="ar-JO">
                <a:solidFill>
                  <a:srgbClr val="0F2A44"/>
                </a:solidFill>
                <a:latin typeface="Aptos"/>
                <a:ea typeface="Aptos"/>
                <a:cs typeface="Dubai"/>
              </a:rPr>
              <a:t>رجل</a:t>
            </a:r>
            <a:r>
              <a:rPr sz="1400" b="0" i="0" lang="en-GB">
                <a:solidFill>
                  <a:srgbClr val="1F2937"/>
                </a:solidFill>
                <a:latin typeface="Aptos"/>
                <a:ea typeface="Aptos"/>
                <a:cs typeface="Dubai"/>
              </a:rPr>
              <a:t>  ·  </a:t>
            </a:r>
            <a:r>
              <a:rPr sz="1400" b="0" i="0" lang="en-GB">
                <a:solidFill>
                  <a:srgbClr val="1F2937"/>
                </a:solidFill>
                <a:latin typeface="Aptos"/>
                <a:ea typeface="Aptos"/>
                <a:cs typeface="Dubai"/>
              </a:rPr>
              <a:t>man</a:t>
            </a:r>
          </a:p>
        </p:txBody>
      </p:sp>
      <p:sp>
        <p:nvSpPr>
          <p:cNvPr id="31" name="Rounded Rectangle 30"/>
          <p:cNvSpPr/>
          <p:nvPr/>
        </p:nvSpPr>
        <p:spPr>
          <a:xfrm>
            <a:off x="2880360" y="3081528"/>
            <a:ext cx="1920240" cy="457200"/>
          </a:xfrm>
          <a:prstGeom prst="roundRect">
            <a:avLst>
              <a:gd name="adj" fmla="val 50000"/>
            </a:avLst>
          </a:prstGeom>
          <a:solidFill>
            <a:srgbClr val="E3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58521" rIns="73152" bIns="58521">
            <a:noAutofit/>
          </a:bodyPr>
          <a:lstStyle/>
          <a:p>
            <a:pPr algn="ctr">
              <a:spcBef>
                <a:spcPts val="0"/>
              </a:spcBef>
              <a:spcAft>
                <a:spcPts val="0"/>
              </a:spcAft>
            </a:pPr>
            <a:r>
              <a:rPr sz="1400" b="1" i="0" lang="ar-JO">
                <a:solidFill>
                  <a:srgbClr val="0F2A44"/>
                </a:solidFill>
                <a:latin typeface="Aptos"/>
                <a:ea typeface="Aptos"/>
                <a:cs typeface="Dubai"/>
              </a:rPr>
              <a:t>قميص أحمر</a:t>
            </a:r>
            <a:r>
              <a:rPr sz="1400" b="0" i="0" lang="en-GB">
                <a:solidFill>
                  <a:srgbClr val="1F2937"/>
                </a:solidFill>
                <a:latin typeface="Aptos"/>
                <a:ea typeface="Aptos"/>
                <a:cs typeface="Dubai"/>
              </a:rPr>
              <a:t>  ·  </a:t>
            </a:r>
            <a:r>
              <a:rPr sz="1400" b="0" i="0" lang="en-GB">
                <a:solidFill>
                  <a:srgbClr val="1F2937"/>
                </a:solidFill>
                <a:latin typeface="Aptos"/>
                <a:ea typeface="Aptos"/>
                <a:cs typeface="Dubai"/>
              </a:rPr>
              <a:t>red shirt</a:t>
            </a:r>
          </a:p>
        </p:txBody>
      </p:sp>
      <p:sp>
        <p:nvSpPr>
          <p:cNvPr id="32" name="TextBox 31"/>
          <p:cNvSpPr txBox="1"/>
          <p:nvPr/>
        </p:nvSpPr>
        <p:spPr>
          <a:xfrm>
            <a:off x="2880360" y="3721608"/>
            <a:ext cx="1920240" cy="1097280"/>
          </a:xfrm>
          <a:prstGeom prst="rect">
            <a:avLst/>
          </a:prstGeom>
          <a:noFill/>
        </p:spPr>
        <p:txBody>
          <a:bodyPr wrap="square" lIns="0" tIns="0" rIns="0" bIns="0" anchor="t">
            <a:noAutofit/>
          </a:bodyPr>
          <a:lstStyle/>
          <a:p>
            <a:pPr algn="l">
              <a:spcBef>
                <a:spcPts val="0"/>
              </a:spcBef>
              <a:spcAft>
                <a:spcPts val="0"/>
              </a:spcAft>
            </a:pPr>
            <a:r>
              <a:rPr sz="1200" b="0" i="0" lang="en-GB">
                <a:solidFill>
                  <a:srgbClr val="5B6573"/>
                </a:solidFill>
                <a:latin typeface="Aptos"/>
                <a:ea typeface="Aptos"/>
                <a:cs typeface="Dubai"/>
              </a:rPr>
              <a:t>A local language model turns the words, including dialect, into clear fields and plain English.</a:t>
            </a:r>
          </a:p>
        </p:txBody>
      </p:sp>
      <p:sp>
        <p:nvSpPr>
          <p:cNvPr id="33" name="Rectangle 32"/>
          <p:cNvSpPr/>
          <p:nvPr/>
        </p:nvSpPr>
        <p:spPr>
          <a:xfrm>
            <a:off x="5298033" y="2624328"/>
            <a:ext cx="50292" cy="160934"/>
          </a:xfrm>
          <a:prstGeom prst="rect">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257800" y="2755087"/>
            <a:ext cx="392277" cy="191109"/>
          </a:xfrm>
          <a:prstGeom prst="roundRect">
            <a:avLst>
              <a:gd name="adj" fmla="val 25000"/>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rapezoid 34"/>
          <p:cNvSpPr/>
          <p:nvPr/>
        </p:nvSpPr>
        <p:spPr>
          <a:xfrm rot="5400000">
            <a:off x="5629960" y="2765145"/>
            <a:ext cx="130759" cy="170992"/>
          </a:xfrm>
          <a:prstGeom prst="trapezoid">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919825" y="2624328"/>
            <a:ext cx="50292" cy="160934"/>
          </a:xfrm>
          <a:prstGeom prst="rect">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879592" y="2755087"/>
            <a:ext cx="392277" cy="191109"/>
          </a:xfrm>
          <a:prstGeom prst="roundRect">
            <a:avLst>
              <a:gd name="adj" fmla="val 25000"/>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rapezoid 37"/>
          <p:cNvSpPr/>
          <p:nvPr/>
        </p:nvSpPr>
        <p:spPr>
          <a:xfrm rot="5400000">
            <a:off x="6251752" y="2765145"/>
            <a:ext cx="130759" cy="170992"/>
          </a:xfrm>
          <a:prstGeom prst="trapezoid">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541617" y="2624328"/>
            <a:ext cx="50292" cy="160934"/>
          </a:xfrm>
          <a:prstGeom prst="rect">
            <a:avLst/>
          </a:prstGeom>
          <a:solidFill>
            <a:srgbClr val="D5DB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501384" y="2755087"/>
            <a:ext cx="392277" cy="191109"/>
          </a:xfrm>
          <a:prstGeom prst="roundRect">
            <a:avLst>
              <a:gd name="adj" fmla="val 25000"/>
            </a:avLst>
          </a:prstGeom>
          <a:solidFill>
            <a:srgbClr val="D5DB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rapezoid 40"/>
          <p:cNvSpPr/>
          <p:nvPr/>
        </p:nvSpPr>
        <p:spPr>
          <a:xfrm rot="5400000">
            <a:off x="6873544" y="2765145"/>
            <a:ext cx="130759" cy="170992"/>
          </a:xfrm>
          <a:prstGeom prst="trapezoid">
            <a:avLst/>
          </a:prstGeom>
          <a:solidFill>
            <a:srgbClr val="D5DB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212080" y="3200400"/>
            <a:ext cx="1920240" cy="438912"/>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43891" rIns="54864" bIns="43891">
            <a:noAutofit/>
          </a:bodyPr>
          <a:lstStyle/>
          <a:p>
            <a:pPr algn="ctr">
              <a:spcBef>
                <a:spcPts val="0"/>
              </a:spcBef>
              <a:spcAft>
                <a:spcPts val="0"/>
              </a:spcAft>
            </a:pPr>
            <a:r>
              <a:rPr sz="1200" b="0" i="0" lang="en-GB">
                <a:solidFill>
                  <a:srgbClr val="0F2A44"/>
                </a:solidFill>
                <a:latin typeface="Aptos"/>
                <a:ea typeface="Aptos"/>
                <a:cs typeface="Dubai"/>
              </a:rPr>
              <a:t>8 cameras · 13:00-15:00</a:t>
            </a:r>
          </a:p>
        </p:txBody>
      </p:sp>
      <p:sp>
        <p:nvSpPr>
          <p:cNvPr id="43" name="TextBox 42"/>
          <p:cNvSpPr txBox="1"/>
          <p:nvPr/>
        </p:nvSpPr>
        <p:spPr>
          <a:xfrm>
            <a:off x="5212080" y="3721608"/>
            <a:ext cx="1920240" cy="1097280"/>
          </a:xfrm>
          <a:prstGeom prst="rect">
            <a:avLst/>
          </a:prstGeom>
          <a:noFill/>
        </p:spPr>
        <p:txBody>
          <a:bodyPr wrap="square" lIns="0" tIns="0" rIns="0" bIns="0" anchor="t">
            <a:noAutofit/>
          </a:bodyPr>
          <a:lstStyle/>
          <a:p>
            <a:pPr algn="l">
              <a:spcBef>
                <a:spcPts val="0"/>
              </a:spcBef>
              <a:spcAft>
                <a:spcPts val="0"/>
              </a:spcAft>
            </a:pPr>
            <a:r>
              <a:rPr sz="1200" b="0" i="0" lang="en-GB">
                <a:solidFill>
                  <a:srgbClr val="5B6573"/>
                </a:solidFill>
                <a:latin typeface="Aptos"/>
                <a:ea typeface="Aptos"/>
                <a:cs typeface="Dubai"/>
              </a:rPr>
              <a:t>Only the cameras and hours that matter are searched, in a catalogue of every person already seen.</a:t>
            </a:r>
          </a:p>
        </p:txBody>
      </p:sp>
      <p:sp>
        <p:nvSpPr>
          <p:cNvPr id="44" name="Rectangle 43"/>
          <p:cNvSpPr/>
          <p:nvPr/>
        </p:nvSpPr>
        <p:spPr>
          <a:xfrm>
            <a:off x="7543800" y="2514600"/>
            <a:ext cx="777240" cy="54864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543800" y="2854756"/>
            <a:ext cx="777240" cy="208483"/>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827446" y="2580436"/>
            <a:ext cx="83393" cy="83393"/>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7781361" y="2672608"/>
            <a:ext cx="175564" cy="175564"/>
          </a:xfrm>
          <a:prstGeom prst="roundRect">
            <a:avLst>
              <a:gd name="adj" fmla="val 3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803306" y="2835005"/>
            <a:ext cx="131673" cy="184343"/>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863876" y="2878896"/>
            <a:ext cx="10533" cy="140451"/>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94192" y="2532888"/>
            <a:ext cx="1188720" cy="548640"/>
          </a:xfrm>
          <a:prstGeom prst="rect">
            <a:avLst/>
          </a:prstGeom>
          <a:noFill/>
        </p:spPr>
        <p:txBody>
          <a:bodyPr wrap="square" lIns="0" tIns="0" rIns="0" bIns="0" anchor="t">
            <a:noAutofit/>
          </a:bodyPr>
          <a:lstStyle/>
          <a:p>
            <a:pPr algn="l">
              <a:spcBef>
                <a:spcPts val="0"/>
              </a:spcBef>
              <a:spcAft>
                <a:spcPts val="0"/>
              </a:spcAft>
            </a:pPr>
            <a:r>
              <a:rPr sz="1200" b="1" i="0" lang="en-GB">
                <a:solidFill>
                  <a:srgbClr val="0F2A44"/>
                </a:solidFill>
                <a:latin typeface="Aptos"/>
                <a:ea typeface="Aptos"/>
                <a:cs typeface="Dubai"/>
              </a:rPr>
              <a:t>CAM-03</a:t>
            </a:r>
          </a:p>
          <a:p>
            <a:pPr algn="l">
              <a:spcBef>
                <a:spcPts val="0"/>
              </a:spcBef>
              <a:spcAft>
                <a:spcPts val="0"/>
              </a:spcAft>
            </a:pPr>
            <a:r>
              <a:rPr sz="1100" b="0" i="0" lang="en-GB">
                <a:solidFill>
                  <a:srgbClr val="5B6573"/>
                </a:solidFill>
                <a:latin typeface="Aptos"/>
                <a:ea typeface="Aptos"/>
                <a:cs typeface="Dubai"/>
              </a:rPr>
              <a:t>Entrance · 14:02</a:t>
            </a:r>
          </a:p>
        </p:txBody>
      </p:sp>
      <p:sp>
        <p:nvSpPr>
          <p:cNvPr id="51" name="Rectangle 50"/>
          <p:cNvSpPr/>
          <p:nvPr/>
        </p:nvSpPr>
        <p:spPr>
          <a:xfrm>
            <a:off x="7543800" y="3154680"/>
            <a:ext cx="777240" cy="54864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543800" y="3494836"/>
            <a:ext cx="777240" cy="208483"/>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7827446" y="3220516"/>
            <a:ext cx="83393" cy="83393"/>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7781361" y="3312688"/>
            <a:ext cx="175564" cy="175564"/>
          </a:xfrm>
          <a:prstGeom prst="roundRect">
            <a:avLst>
              <a:gd name="adj" fmla="val 3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803306" y="3475085"/>
            <a:ext cx="131673" cy="184343"/>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863876" y="3518976"/>
            <a:ext cx="10533" cy="140451"/>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394192" y="3172968"/>
            <a:ext cx="1188720" cy="548640"/>
          </a:xfrm>
          <a:prstGeom prst="rect">
            <a:avLst/>
          </a:prstGeom>
          <a:noFill/>
        </p:spPr>
        <p:txBody>
          <a:bodyPr wrap="square" lIns="0" tIns="0" rIns="0" bIns="0" anchor="t">
            <a:noAutofit/>
          </a:bodyPr>
          <a:lstStyle/>
          <a:p>
            <a:pPr algn="l">
              <a:spcBef>
                <a:spcPts val="0"/>
              </a:spcBef>
              <a:spcAft>
                <a:spcPts val="0"/>
              </a:spcAft>
            </a:pPr>
            <a:r>
              <a:rPr sz="1200" b="1" i="0" lang="en-GB">
                <a:solidFill>
                  <a:srgbClr val="0F2A44"/>
                </a:solidFill>
                <a:latin typeface="Aptos"/>
                <a:ea typeface="Aptos"/>
                <a:cs typeface="Dubai"/>
              </a:rPr>
              <a:t>CAM-07</a:t>
            </a:r>
          </a:p>
          <a:p>
            <a:pPr algn="l">
              <a:spcBef>
                <a:spcPts val="0"/>
              </a:spcBef>
              <a:spcAft>
                <a:spcPts val="0"/>
              </a:spcAft>
            </a:pPr>
            <a:r>
              <a:rPr sz="1100" b="0" i="0" lang="en-GB">
                <a:solidFill>
                  <a:srgbClr val="5B6573"/>
                </a:solidFill>
                <a:latin typeface="Aptos"/>
                <a:ea typeface="Aptos"/>
                <a:cs typeface="Dubai"/>
              </a:rPr>
              <a:t>Food court · 14:05</a:t>
            </a:r>
          </a:p>
        </p:txBody>
      </p:sp>
      <p:sp>
        <p:nvSpPr>
          <p:cNvPr id="58" name="TextBox 57"/>
          <p:cNvSpPr txBox="1"/>
          <p:nvPr/>
        </p:nvSpPr>
        <p:spPr>
          <a:xfrm>
            <a:off x="7543800" y="3858768"/>
            <a:ext cx="1920240" cy="1097280"/>
          </a:xfrm>
          <a:prstGeom prst="rect">
            <a:avLst/>
          </a:prstGeom>
          <a:noFill/>
        </p:spPr>
        <p:txBody>
          <a:bodyPr wrap="square" lIns="0" tIns="0" rIns="0" bIns="0" anchor="t">
            <a:noAutofit/>
          </a:bodyPr>
          <a:lstStyle/>
          <a:p>
            <a:pPr algn="l">
              <a:spcBef>
                <a:spcPts val="0"/>
              </a:spcBef>
              <a:spcAft>
                <a:spcPts val="0"/>
              </a:spcAft>
            </a:pPr>
            <a:r>
              <a:rPr sz="1200" b="0" i="0" lang="en-GB">
                <a:solidFill>
                  <a:srgbClr val="5B6573"/>
                </a:solidFill>
                <a:latin typeface="Aptos"/>
                <a:ea typeface="Aptos"/>
                <a:cs typeface="Dubai"/>
              </a:rPr>
              <a:t>Short clips, ranked, each with camera, place, time and why it matched.</a:t>
            </a:r>
          </a:p>
        </p:txBody>
      </p:sp>
      <p:sp>
        <p:nvSpPr>
          <p:cNvPr id="59" name="Rounded Rectangle 58"/>
          <p:cNvSpPr/>
          <p:nvPr/>
        </p:nvSpPr>
        <p:spPr>
          <a:xfrm>
            <a:off x="9875520" y="2514600"/>
            <a:ext cx="1783080" cy="457200"/>
          </a:xfrm>
          <a:prstGeom prst="roundRect">
            <a:avLst>
              <a:gd name="adj" fmla="val 50000"/>
            </a:avLst>
          </a:prstGeom>
          <a:solidFill>
            <a:srgbClr val="E3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43891" rIns="54864" bIns="43891">
            <a:noAutofit/>
          </a:bodyPr>
          <a:lstStyle/>
          <a:p>
            <a:pPr algn="ctr">
              <a:spcBef>
                <a:spcPts val="0"/>
              </a:spcBef>
              <a:spcAft>
                <a:spcPts val="0"/>
              </a:spcAft>
            </a:pPr>
            <a:r>
              <a:rPr sz="1400" b="1" i="0" lang="en-GB">
                <a:solidFill>
                  <a:srgbClr val="0E7C7B"/>
                </a:solidFill>
                <a:latin typeface="Aptos"/>
                <a:ea typeface="Aptos"/>
                <a:cs typeface="Dubai"/>
              </a:rPr>
              <a:t>✓  Confirm</a:t>
            </a:r>
          </a:p>
        </p:txBody>
      </p:sp>
      <p:sp>
        <p:nvSpPr>
          <p:cNvPr id="60" name="Rounded Rectangle 59"/>
          <p:cNvSpPr/>
          <p:nvPr/>
        </p:nvSpPr>
        <p:spPr>
          <a:xfrm>
            <a:off x="9875520" y="3081528"/>
            <a:ext cx="1783080" cy="457200"/>
          </a:xfrm>
          <a:prstGeom prst="roundRect">
            <a:avLst>
              <a:gd name="adj" fmla="val 50000"/>
            </a:avLst>
          </a:prstGeom>
          <a:solidFill>
            <a:srgbClr val="FDF1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43891" rIns="54864" bIns="43891">
            <a:noAutofit/>
          </a:bodyPr>
          <a:lstStyle/>
          <a:p>
            <a:pPr algn="ctr">
              <a:spcBef>
                <a:spcPts val="0"/>
              </a:spcBef>
              <a:spcAft>
                <a:spcPts val="0"/>
              </a:spcAft>
            </a:pPr>
            <a:r>
              <a:rPr sz="1400" b="1" i="0" lang="en-GB">
                <a:solidFill>
                  <a:srgbClr val="B45F06"/>
                </a:solidFill>
                <a:latin typeface="Aptos"/>
                <a:ea typeface="Aptos"/>
                <a:cs typeface="Dubai"/>
              </a:rPr>
              <a:t>✕  Reject</a:t>
            </a:r>
          </a:p>
        </p:txBody>
      </p:sp>
      <p:sp>
        <p:nvSpPr>
          <p:cNvPr id="61" name="TextBox 60"/>
          <p:cNvSpPr txBox="1"/>
          <p:nvPr/>
        </p:nvSpPr>
        <p:spPr>
          <a:xfrm>
            <a:off x="9875520" y="3721608"/>
            <a:ext cx="1783080" cy="1097280"/>
          </a:xfrm>
          <a:prstGeom prst="rect">
            <a:avLst/>
          </a:prstGeom>
          <a:noFill/>
        </p:spPr>
        <p:txBody>
          <a:bodyPr wrap="square" lIns="0" tIns="0" rIns="0" bIns="0" anchor="t">
            <a:noAutofit/>
          </a:bodyPr>
          <a:lstStyle/>
          <a:p>
            <a:pPr algn="l">
              <a:spcBef>
                <a:spcPts val="0"/>
              </a:spcBef>
              <a:spcAft>
                <a:spcPts val="0"/>
              </a:spcAft>
            </a:pPr>
            <a:r>
              <a:rPr sz="1200" b="0" i="0" lang="en-GB">
                <a:solidFill>
                  <a:srgbClr val="5B6573"/>
                </a:solidFill>
                <a:latin typeface="Aptos"/>
                <a:ea typeface="Aptos"/>
                <a:cs typeface="Dubai"/>
              </a:rPr>
              <a:t>A person decides. Every result is a lead, not proof, and every search is logged.</a:t>
            </a:r>
          </a:p>
        </p:txBody>
      </p:sp>
      <p:sp>
        <p:nvSpPr>
          <p:cNvPr id="62" name="Rounded Rectangle 61"/>
          <p:cNvSpPr/>
          <p:nvPr/>
        </p:nvSpPr>
        <p:spPr>
          <a:xfrm>
            <a:off x="548640" y="4892040"/>
            <a:ext cx="11091672" cy="777240"/>
          </a:xfrm>
          <a:prstGeom prst="roundRect">
            <a:avLst>
              <a:gd name="adj" fmla="val 1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82880" rIns="228600" bIns="182880">
            <a:noAutofit/>
          </a:bodyPr>
          <a:lstStyle/>
          <a:p>
            <a:pPr algn="l">
              <a:spcBef>
                <a:spcPts val="0"/>
              </a:spcBef>
              <a:spcAft>
                <a:spcPts val="0"/>
              </a:spcAft>
            </a:pPr>
            <a:r>
              <a:rPr sz="1400" b="1" i="0" lang="en-GB">
                <a:solidFill>
                  <a:srgbClr val="0F2A44"/>
                </a:solidFill>
                <a:latin typeface="Aptos"/>
                <a:ea typeface="Aptos"/>
                <a:cs typeface="Dubai"/>
              </a:rPr>
              <a:t>Underneath: </a:t>
            </a:r>
            <a:r>
              <a:rPr sz="1400" b="0" i="0" lang="en-GB">
                <a:solidFill>
                  <a:srgbClr val="1F2937"/>
                </a:solidFill>
                <a:latin typeface="Aptos"/>
                <a:ea typeface="Aptos"/>
                <a:cs typeface="Dubai"/>
              </a:rPr>
              <a:t>each recording is first turned into a catalogue of every person seen, with clothing, colours and bags, camera, place and time. A query searches that catalogue and jumps to the right second of video.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548640" y="6419088"/>
            <a:ext cx="11094415" cy="0"/>
          </a:xfrm>
          <a:prstGeom prst="line">
            <a:avLst/>
          </a:prstGeom>
          <a:ln w="12700">
            <a:solidFill>
              <a:srgbClr val="D5DBE1"/>
            </a:solidFill>
          </a:ln>
        </p:spPr>
      </p:cxnSp>
      <p:sp>
        <p:nvSpPr>
          <p:cNvPr id="4" name="TextBox 3"/>
          <p:cNvSpPr txBox="1"/>
          <p:nvPr/>
        </p:nvSpPr>
        <p:spPr>
          <a:xfrm>
            <a:off x="548640" y="6473952"/>
            <a:ext cx="7315200" cy="274320"/>
          </a:xfrm>
          <a:prstGeom prst="rect">
            <a:avLst/>
          </a:prstGeom>
          <a:noFill/>
        </p:spPr>
        <p:txBody>
          <a:bodyPr wrap="square" lIns="0" tIns="0" rIns="0" bIns="0" anchor="t">
            <a:noAutofit/>
          </a:bodyPr>
          <a:lstStyle/>
          <a:p>
            <a:pPr algn="l">
              <a:spcBef>
                <a:spcPts val="0"/>
              </a:spcBef>
              <a:spcAft>
                <a:spcPts val="0"/>
              </a:spcAft>
            </a:pPr>
            <a:r>
              <a:rPr sz="1000" b="0" i="0" lang="en-GB">
                <a:solidFill>
                  <a:srgbClr val="5B6573"/>
                </a:solidFill>
                <a:latin typeface="Aptos"/>
                <a:ea typeface="Aptos"/>
                <a:cs typeface="Dubai"/>
              </a:rPr>
              <a:t>Arabic AI Video Search  ·  PoC use cases</a:t>
            </a:r>
          </a:p>
        </p:txBody>
      </p:sp>
      <p:sp>
        <p:nvSpPr>
          <p:cNvPr id="5" name="TextBox 4"/>
          <p:cNvSpPr txBox="1"/>
          <p:nvPr/>
        </p:nvSpPr>
        <p:spPr>
          <a:xfrm>
            <a:off x="9814255" y="6473952"/>
            <a:ext cx="1828800" cy="274320"/>
          </a:xfrm>
          <a:prstGeom prst="rect">
            <a:avLst/>
          </a:prstGeom>
          <a:noFill/>
        </p:spPr>
        <p:txBody>
          <a:bodyPr wrap="square" lIns="0" tIns="0" rIns="0" bIns="0" anchor="t">
            <a:noAutofit/>
          </a:bodyPr>
          <a:lstStyle/>
          <a:p>
            <a:pPr algn="r">
              <a:spcBef>
                <a:spcPts val="0"/>
              </a:spcBef>
              <a:spcAft>
                <a:spcPts val="0"/>
              </a:spcAft>
            </a:pPr>
            <a:r>
              <a:rPr sz="1000" b="0" i="0" lang="en-GB">
                <a:solidFill>
                  <a:srgbClr val="5B6573"/>
                </a:solidFill>
                <a:latin typeface="Aptos"/>
                <a:ea typeface="Aptos"/>
                <a:cs typeface="Dubai"/>
              </a:rPr>
              <a:t>3 / 5</a:t>
            </a:r>
          </a:p>
        </p:txBody>
      </p:sp>
      <p:sp>
        <p:nvSpPr>
          <p:cNvPr id="6" name="TextBox 5"/>
          <p:cNvSpPr txBox="1"/>
          <p:nvPr/>
        </p:nvSpPr>
        <p:spPr>
          <a:xfrm>
            <a:off x="548640" y="347472"/>
            <a:ext cx="7680960" cy="292608"/>
          </a:xfrm>
          <a:prstGeom prst="rect">
            <a:avLst/>
          </a:prstGeom>
          <a:noFill/>
        </p:spPr>
        <p:txBody>
          <a:bodyPr wrap="square" lIns="0" tIns="0" rIns="0" bIns="0" anchor="t">
            <a:noAutofit/>
          </a:bodyPr>
          <a:lstStyle/>
          <a:p>
            <a:pPr algn="l">
              <a:spcBef>
                <a:spcPts val="0"/>
              </a:spcBef>
              <a:spcAft>
                <a:spcPts val="0"/>
              </a:spcAft>
            </a:pPr>
            <a:r>
              <a:rPr sz="1200" b="1" i="0" lang="en-GB">
                <a:solidFill>
                  <a:srgbClr val="0E7C7B"/>
                </a:solidFill>
                <a:latin typeface="Aptos"/>
                <a:ea typeface="Aptos"/>
                <a:cs typeface="Dubai"/>
              </a:rPr>
              <a:t>THREE STORIES</a:t>
            </a:r>
          </a:p>
        </p:txBody>
      </p:sp>
      <p:sp>
        <p:nvSpPr>
          <p:cNvPr id="7" name="TextBox 6"/>
          <p:cNvSpPr txBox="1"/>
          <p:nvPr/>
        </p:nvSpPr>
        <p:spPr>
          <a:xfrm>
            <a:off x="7802575" y="274320"/>
            <a:ext cx="3840480" cy="411480"/>
          </a:xfrm>
          <a:prstGeom prst="rect">
            <a:avLst/>
          </a:prstGeom>
          <a:noFill/>
        </p:spPr>
        <p:txBody>
          <a:bodyPr wrap="square" lIns="0" tIns="0" rIns="0" bIns="0" anchor="t">
            <a:noAutofit/>
          </a:bodyPr>
          <a:lstStyle/>
          <a:p>
            <a:pPr algn="r" rtl="1">
              <a:spcBef>
                <a:spcPts val="0"/>
              </a:spcBef>
              <a:spcAft>
                <a:spcPts val="0"/>
              </a:spcAft>
            </a:pPr>
            <a:r>
              <a:rPr sz="1800" b="1" i="0" lang="ar-JO">
                <a:solidFill>
                  <a:srgbClr val="0E7C7B"/>
                </a:solidFill>
                <a:latin typeface="Aptos"/>
                <a:ea typeface="Aptos"/>
                <a:cs typeface="Dubai"/>
              </a:rPr>
              <a:t>ثلاث حالات استخدام</a:t>
            </a:r>
          </a:p>
        </p:txBody>
      </p:sp>
      <p:sp>
        <p:nvSpPr>
          <p:cNvPr id="8" name="TextBox 7"/>
          <p:cNvSpPr txBox="1"/>
          <p:nvPr/>
        </p:nvSpPr>
        <p:spPr>
          <a:xfrm>
            <a:off x="548640" y="658368"/>
            <a:ext cx="11064240" cy="914400"/>
          </a:xfrm>
          <a:prstGeom prst="rect">
            <a:avLst/>
          </a:prstGeom>
          <a:noFill/>
        </p:spPr>
        <p:txBody>
          <a:bodyPr wrap="square" lIns="0" tIns="0" rIns="0" bIns="0" anchor="t">
            <a:noAutofit/>
          </a:bodyPr>
          <a:lstStyle/>
          <a:p>
            <a:pPr algn="l">
              <a:lnSpc>
                <a:spcPct val="95000"/>
              </a:lnSpc>
              <a:spcBef>
                <a:spcPts val="0"/>
              </a:spcBef>
              <a:spcAft>
                <a:spcPts val="0"/>
              </a:spcAft>
            </a:pPr>
            <a:r>
              <a:rPr sz="2800" b="1" i="0" lang="en-GB">
                <a:solidFill>
                  <a:srgbClr val="0F2A44"/>
                </a:solidFill>
                <a:latin typeface="Aptos"/>
                <a:ea typeface="Aptos"/>
                <a:cs typeface="Dubai"/>
              </a:rPr>
              <a:t>One search engine, three ways a security team would use it</a:t>
            </a:r>
          </a:p>
        </p:txBody>
      </p:sp>
      <p:sp>
        <p:nvSpPr>
          <p:cNvPr id="9" name="Rounded Rectangle 8"/>
          <p:cNvSpPr/>
          <p:nvPr/>
        </p:nvSpPr>
        <p:spPr>
          <a:xfrm>
            <a:off x="548640" y="1737360"/>
            <a:ext cx="3520440" cy="4526280"/>
          </a:xfrm>
          <a:prstGeom prst="roundRect">
            <a:avLst>
              <a:gd name="adj" fmla="val 4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37360"/>
            <a:ext cx="3520440" cy="86868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275941"/>
            <a:ext cx="3520440" cy="330098"/>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901910" y="1789480"/>
            <a:ext cx="141942" cy="141942"/>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823469" y="1946364"/>
            <a:ext cx="298825" cy="298825"/>
          </a:xfrm>
          <a:prstGeom prst="roundRect">
            <a:avLst>
              <a:gd name="adj" fmla="val 3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860822" y="2222778"/>
            <a:ext cx="224119" cy="313767"/>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963917" y="2297484"/>
            <a:ext cx="17929" cy="239060"/>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107353" y="2163013"/>
            <a:ext cx="127001" cy="149412"/>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3" y="1773936"/>
            <a:ext cx="3410712" cy="237744"/>
          </a:xfrm>
          <a:prstGeom prst="rect">
            <a:avLst/>
          </a:prstGeom>
          <a:noFill/>
        </p:spPr>
        <p:txBody>
          <a:bodyPr wrap="square" lIns="0" tIns="0" rIns="0" bIns="0" anchor="t">
            <a:noAutofit/>
          </a:bodyPr>
          <a:lstStyle/>
          <a:p>
            <a:pPr algn="l">
              <a:spcBef>
                <a:spcPts val="0"/>
              </a:spcBef>
              <a:spcAft>
                <a:spcPts val="0"/>
              </a:spcAft>
            </a:pPr>
            <a:r>
              <a:rPr sz="900" b="1" i="0" lang="en-GB">
                <a:solidFill>
                  <a:srgbClr val="FFFFFF"/>
                </a:solidFill>
                <a:latin typeface="Aptos"/>
                <a:ea typeface="Aptos"/>
                <a:cs typeface="Dubai"/>
              </a:rPr>
              <a:t>STORY 1</a:t>
            </a:r>
          </a:p>
        </p:txBody>
      </p:sp>
      <p:sp>
        <p:nvSpPr>
          <p:cNvPr id="18" name="TextBox 17"/>
          <p:cNvSpPr txBox="1"/>
          <p:nvPr/>
        </p:nvSpPr>
        <p:spPr>
          <a:xfrm>
            <a:off x="749808" y="2706624"/>
            <a:ext cx="3118104" cy="329184"/>
          </a:xfrm>
          <a:prstGeom prst="rect">
            <a:avLst/>
          </a:prstGeom>
          <a:noFill/>
        </p:spPr>
        <p:txBody>
          <a:bodyPr wrap="square" lIns="0" tIns="0" rIns="0" bIns="0" anchor="t">
            <a:noAutofit/>
          </a:bodyPr>
          <a:lstStyle/>
          <a:p>
            <a:pPr algn="l">
              <a:spcBef>
                <a:spcPts val="0"/>
              </a:spcBef>
              <a:spcAft>
                <a:spcPts val="0"/>
              </a:spcAft>
            </a:pPr>
            <a:r>
              <a:rPr sz="1800" b="1" i="0" lang="en-GB">
                <a:solidFill>
                  <a:srgbClr val="0F2A44"/>
                </a:solidFill>
                <a:latin typeface="Aptos"/>
                <a:ea typeface="Aptos"/>
                <a:cs typeface="Dubai"/>
              </a:rPr>
              <a:t>Finding a suspect</a:t>
            </a:r>
          </a:p>
        </p:txBody>
      </p:sp>
      <p:sp>
        <p:nvSpPr>
          <p:cNvPr id="19" name="TextBox 18"/>
          <p:cNvSpPr txBox="1"/>
          <p:nvPr/>
        </p:nvSpPr>
        <p:spPr>
          <a:xfrm>
            <a:off x="749808" y="3035808"/>
            <a:ext cx="3118104" cy="292608"/>
          </a:xfrm>
          <a:prstGeom prst="rect">
            <a:avLst/>
          </a:prstGeom>
          <a:noFill/>
        </p:spPr>
        <p:txBody>
          <a:bodyPr wrap="square" lIns="0" tIns="0" rIns="0" bIns="0" anchor="t">
            <a:noAutofit/>
          </a:bodyPr>
          <a:lstStyle/>
          <a:p>
            <a:pPr algn="l" rtl="1">
              <a:spcBef>
                <a:spcPts val="0"/>
              </a:spcBef>
              <a:spcAft>
                <a:spcPts val="0"/>
              </a:spcAft>
            </a:pPr>
            <a:r>
              <a:rPr sz="1400" b="1" i="0" lang="ar-JO">
                <a:solidFill>
                  <a:srgbClr val="0E7C7B"/>
                </a:solidFill>
                <a:latin typeface="Aptos"/>
                <a:ea typeface="Aptos"/>
                <a:cs typeface="Dubai"/>
              </a:rPr>
              <a:t>البحث عن مشتبه به</a:t>
            </a:r>
          </a:p>
        </p:txBody>
      </p:sp>
      <p:sp>
        <p:nvSpPr>
          <p:cNvPr id="20" name="TextBox 19"/>
          <p:cNvSpPr txBox="1"/>
          <p:nvPr/>
        </p:nvSpPr>
        <p:spPr>
          <a:xfrm>
            <a:off x="749808" y="3419856"/>
            <a:ext cx="3118104" cy="219456"/>
          </a:xfrm>
          <a:prstGeom prst="rect">
            <a:avLst/>
          </a:prstGeom>
          <a:noFill/>
        </p:spPr>
        <p:txBody>
          <a:bodyPr wrap="square" lIns="0" tIns="0" rIns="0" bIns="0" anchor="t">
            <a:noAutofit/>
          </a:bodyPr>
          <a:lstStyle/>
          <a:p>
            <a:pPr algn="l">
              <a:spcBef>
                <a:spcPts val="0"/>
              </a:spcBef>
              <a:spcAft>
                <a:spcPts val="0"/>
              </a:spcAft>
            </a:pPr>
            <a:r>
              <a:rPr sz="1000" b="1" i="0" lang="en-GB">
                <a:solidFill>
                  <a:srgbClr val="5B6573"/>
                </a:solidFill>
                <a:latin typeface="Aptos"/>
                <a:ea typeface="Aptos"/>
                <a:cs typeface="Dubai"/>
              </a:rPr>
              <a:t>THE SITUATION</a:t>
            </a:r>
          </a:p>
        </p:txBody>
      </p:sp>
      <p:sp>
        <p:nvSpPr>
          <p:cNvPr id="21" name="TextBox 20"/>
          <p:cNvSpPr txBox="1"/>
          <p:nvPr/>
        </p:nvSpPr>
        <p:spPr>
          <a:xfrm>
            <a:off x="749808" y="3630168"/>
            <a:ext cx="3118104" cy="640080"/>
          </a:xfrm>
          <a:prstGeom prst="rect">
            <a:avLst/>
          </a:prstGeom>
          <a:noFill/>
        </p:spPr>
        <p:txBody>
          <a:bodyPr wrap="square" lIns="0" tIns="0" rIns="0" bIns="0" anchor="t">
            <a:noAutofit/>
          </a:bodyPr>
          <a:lstStyle/>
          <a:p>
            <a:pPr algn="l">
              <a:spcBef>
                <a:spcPts val="0"/>
              </a:spcBef>
              <a:spcAft>
                <a:spcPts val="0"/>
              </a:spcAft>
            </a:pPr>
            <a:r>
              <a:rPr sz="1300" b="0" i="0" lang="en-GB">
                <a:solidFill>
                  <a:srgbClr val="1F2937"/>
                </a:solidFill>
                <a:latin typeface="Aptos"/>
                <a:ea typeface="Aptos"/>
                <a:cs typeface="Dubai"/>
              </a:rPr>
              <a:t>A witness saw a man in a red top with a black bag. Where is he on the site's cameras?</a:t>
            </a:r>
          </a:p>
        </p:txBody>
      </p:sp>
      <p:sp>
        <p:nvSpPr>
          <p:cNvPr id="22" name="TextBox 21"/>
          <p:cNvSpPr txBox="1"/>
          <p:nvPr/>
        </p:nvSpPr>
        <p:spPr>
          <a:xfrm>
            <a:off x="749808" y="4297679"/>
            <a:ext cx="3118104" cy="219456"/>
          </a:xfrm>
          <a:prstGeom prst="rect">
            <a:avLst/>
          </a:prstGeom>
          <a:noFill/>
        </p:spPr>
        <p:txBody>
          <a:bodyPr wrap="square" lIns="0" tIns="0" rIns="0" bIns="0" anchor="t">
            <a:noAutofit/>
          </a:bodyPr>
          <a:lstStyle/>
          <a:p>
            <a:pPr algn="l">
              <a:spcBef>
                <a:spcPts val="0"/>
              </a:spcBef>
              <a:spcAft>
                <a:spcPts val="0"/>
              </a:spcAft>
            </a:pPr>
            <a:r>
              <a:rPr sz="1000" b="1" i="0" lang="en-GB">
                <a:solidFill>
                  <a:srgbClr val="5B6573"/>
                </a:solidFill>
                <a:latin typeface="Aptos"/>
                <a:ea typeface="Aptos"/>
                <a:cs typeface="Dubai"/>
              </a:rPr>
              <a:t>THE OFFICER TYPES</a:t>
            </a:r>
          </a:p>
        </p:txBody>
      </p:sp>
      <p:sp>
        <p:nvSpPr>
          <p:cNvPr id="23" name="Rounded Rectangle 22"/>
          <p:cNvSpPr/>
          <p:nvPr/>
        </p:nvSpPr>
        <p:spPr>
          <a:xfrm>
            <a:off x="749808" y="4517136"/>
            <a:ext cx="3118104" cy="713232"/>
          </a:xfrm>
          <a:prstGeom prst="roundRect">
            <a:avLst>
              <a:gd name="adj" fmla="val 12000"/>
            </a:avLst>
          </a:prstGeom>
          <a:solidFill>
            <a:srgbClr val="FFFFFF"/>
          </a:solid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87782" rIns="109728" bIns="87782">
            <a:noAutofit/>
          </a:bodyPr>
          <a:lstStyle/>
          <a:p>
            <a:pPr algn="r" rtl="1">
              <a:spcBef>
                <a:spcPts val="0"/>
              </a:spcBef>
              <a:spcAft>
                <a:spcPts val="100"/>
              </a:spcAft>
            </a:pPr>
            <a:r>
              <a:rPr sz="1500" b="1" i="0" lang="ar-JO">
                <a:solidFill>
                  <a:srgbClr val="0F2A44"/>
                </a:solidFill>
                <a:latin typeface="Aptos"/>
                <a:ea typeface="Aptos"/>
                <a:cs typeface="Dubai"/>
              </a:rPr>
              <a:t>زلمة لابس بلوزة حمرا ومعه شنطة سودا</a:t>
            </a:r>
          </a:p>
          <a:p>
            <a:pPr algn="r">
              <a:spcBef>
                <a:spcPts val="0"/>
              </a:spcBef>
              <a:spcAft>
                <a:spcPts val="0"/>
              </a:spcAft>
            </a:pPr>
            <a:r>
              <a:rPr sz="1050" b="0" i="1" lang="en-GB">
                <a:solidFill>
                  <a:srgbClr val="5B6573"/>
                </a:solidFill>
                <a:latin typeface="Aptos"/>
                <a:ea typeface="Aptos"/>
                <a:cs typeface="Dubai"/>
              </a:rPr>
              <a:t>"a guy in a red top, with a black bag" (Jordanian)</a:t>
            </a:r>
          </a:p>
        </p:txBody>
      </p:sp>
      <p:sp>
        <p:nvSpPr>
          <p:cNvPr id="24" name="TextBox 23"/>
          <p:cNvSpPr txBox="1"/>
          <p:nvPr/>
        </p:nvSpPr>
        <p:spPr>
          <a:xfrm>
            <a:off x="749808" y="5340096"/>
            <a:ext cx="3118104" cy="219456"/>
          </a:xfrm>
          <a:prstGeom prst="rect">
            <a:avLst/>
          </a:prstGeom>
          <a:noFill/>
        </p:spPr>
        <p:txBody>
          <a:bodyPr wrap="square" lIns="0" tIns="0" rIns="0" bIns="0" anchor="t">
            <a:noAutofit/>
          </a:bodyPr>
          <a:lstStyle/>
          <a:p>
            <a:pPr algn="l">
              <a:spcBef>
                <a:spcPts val="0"/>
              </a:spcBef>
              <a:spcAft>
                <a:spcPts val="0"/>
              </a:spcAft>
            </a:pPr>
            <a:r>
              <a:rPr sz="1000" b="1" i="0" lang="en-GB">
                <a:solidFill>
                  <a:srgbClr val="0E7C7B"/>
                </a:solidFill>
                <a:latin typeface="Aptos"/>
                <a:ea typeface="Aptos"/>
                <a:cs typeface="Dubai"/>
              </a:rPr>
              <a:t>WHAT THEY GET</a:t>
            </a:r>
          </a:p>
        </p:txBody>
      </p:sp>
      <p:sp>
        <p:nvSpPr>
          <p:cNvPr id="25" name="TextBox 24"/>
          <p:cNvSpPr txBox="1"/>
          <p:nvPr/>
        </p:nvSpPr>
        <p:spPr>
          <a:xfrm>
            <a:off x="749808" y="5550408"/>
            <a:ext cx="3118104" cy="658368"/>
          </a:xfrm>
          <a:prstGeom prst="rect">
            <a:avLst/>
          </a:prstGeom>
          <a:noFill/>
        </p:spPr>
        <p:txBody>
          <a:bodyPr wrap="square" lIns="0" tIns="0" rIns="0" bIns="0" anchor="t">
            <a:noAutofit/>
          </a:bodyPr>
          <a:lstStyle/>
          <a:p>
            <a:pPr algn="l">
              <a:spcBef>
                <a:spcPts val="0"/>
              </a:spcBef>
              <a:spcAft>
                <a:spcPts val="0"/>
              </a:spcAft>
            </a:pPr>
            <a:r>
              <a:rPr sz="1300" b="0" i="0" lang="en-GB">
                <a:solidFill>
                  <a:srgbClr val="1F2937"/>
                </a:solidFill>
                <a:latin typeface="Aptos"/>
                <a:ea typeface="Aptos"/>
                <a:cs typeface="Dubai"/>
              </a:rPr>
              <a:t>Ranked clips of him with camera, place and time. An officer confirms one, then follows him camera to camera.</a:t>
            </a:r>
          </a:p>
        </p:txBody>
      </p:sp>
      <p:sp>
        <p:nvSpPr>
          <p:cNvPr id="26" name="Rounded Rectangle 25"/>
          <p:cNvSpPr/>
          <p:nvPr/>
        </p:nvSpPr>
        <p:spPr>
          <a:xfrm>
            <a:off x="4334255" y="1737360"/>
            <a:ext cx="3520440" cy="4526280"/>
          </a:xfrm>
          <a:prstGeom prst="roundRect">
            <a:avLst>
              <a:gd name="adj" fmla="val 4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34255" y="1737360"/>
            <a:ext cx="3520440" cy="86868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34255" y="2275941"/>
            <a:ext cx="3520440" cy="330098"/>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122258" y="1806854"/>
            <a:ext cx="138641" cy="138641"/>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45640" y="1960089"/>
            <a:ext cx="291876" cy="291876"/>
          </a:xfrm>
          <a:prstGeom prst="roundRect">
            <a:avLst>
              <a:gd name="adj" fmla="val 30000"/>
            </a:avLst>
          </a:prstGeom>
          <a:solidFill>
            <a:srgbClr val="8A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82125" y="2230075"/>
            <a:ext cx="218907" cy="306470"/>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182822" y="2303044"/>
            <a:ext cx="17512" cy="233501"/>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575526" y="2223820"/>
            <a:ext cx="65922" cy="53163"/>
          </a:xfrm>
          <a:prstGeom prst="roundRect">
            <a:avLst>
              <a:gd name="adj" fmla="val 30000"/>
            </a:avLst>
          </a:prstGeom>
          <a:no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16928" y="2265169"/>
            <a:ext cx="183117" cy="254002"/>
          </a:xfrm>
          <a:prstGeom prst="roundRect">
            <a:avLst>
              <a:gd name="adj" fmla="val 12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19" y="1773936"/>
            <a:ext cx="3410712" cy="237744"/>
          </a:xfrm>
          <a:prstGeom prst="rect">
            <a:avLst/>
          </a:prstGeom>
          <a:noFill/>
        </p:spPr>
        <p:txBody>
          <a:bodyPr wrap="square" lIns="0" tIns="0" rIns="0" bIns="0" anchor="t">
            <a:noAutofit/>
          </a:bodyPr>
          <a:lstStyle/>
          <a:p>
            <a:pPr algn="l">
              <a:spcBef>
                <a:spcPts val="0"/>
              </a:spcBef>
              <a:spcAft>
                <a:spcPts val="0"/>
              </a:spcAft>
            </a:pPr>
            <a:r>
              <a:rPr sz="900" b="1" i="0" lang="en-GB">
                <a:solidFill>
                  <a:srgbClr val="FFFFFF"/>
                </a:solidFill>
                <a:latin typeface="Aptos"/>
                <a:ea typeface="Aptos"/>
                <a:cs typeface="Dubai"/>
              </a:rPr>
              <a:t>STORY 2</a:t>
            </a:r>
          </a:p>
        </p:txBody>
      </p:sp>
      <p:sp>
        <p:nvSpPr>
          <p:cNvPr id="36" name="TextBox 35"/>
          <p:cNvSpPr txBox="1"/>
          <p:nvPr/>
        </p:nvSpPr>
        <p:spPr>
          <a:xfrm>
            <a:off x="4535423" y="2706624"/>
            <a:ext cx="3118104" cy="329184"/>
          </a:xfrm>
          <a:prstGeom prst="rect">
            <a:avLst/>
          </a:prstGeom>
          <a:noFill/>
        </p:spPr>
        <p:txBody>
          <a:bodyPr wrap="square" lIns="0" tIns="0" rIns="0" bIns="0" anchor="t">
            <a:noAutofit/>
          </a:bodyPr>
          <a:lstStyle/>
          <a:p>
            <a:pPr algn="l">
              <a:spcBef>
                <a:spcPts val="0"/>
              </a:spcBef>
              <a:spcAft>
                <a:spcPts val="0"/>
              </a:spcAft>
            </a:pPr>
            <a:r>
              <a:rPr sz="1800" b="1" i="0" lang="en-GB">
                <a:solidFill>
                  <a:srgbClr val="0F2A44"/>
                </a:solidFill>
                <a:latin typeface="Aptos"/>
                <a:ea typeface="Aptos"/>
                <a:cs typeface="Dubai"/>
              </a:rPr>
              <a:t>Finding who left a bag</a:t>
            </a:r>
          </a:p>
        </p:txBody>
      </p:sp>
      <p:sp>
        <p:nvSpPr>
          <p:cNvPr id="37" name="TextBox 36"/>
          <p:cNvSpPr txBox="1"/>
          <p:nvPr/>
        </p:nvSpPr>
        <p:spPr>
          <a:xfrm>
            <a:off x="4535423" y="3035808"/>
            <a:ext cx="3118104" cy="292608"/>
          </a:xfrm>
          <a:prstGeom prst="rect">
            <a:avLst/>
          </a:prstGeom>
          <a:noFill/>
        </p:spPr>
        <p:txBody>
          <a:bodyPr wrap="square" lIns="0" tIns="0" rIns="0" bIns="0" anchor="t">
            <a:noAutofit/>
          </a:bodyPr>
          <a:lstStyle/>
          <a:p>
            <a:pPr algn="l" rtl="1">
              <a:spcBef>
                <a:spcPts val="0"/>
              </a:spcBef>
              <a:spcAft>
                <a:spcPts val="0"/>
              </a:spcAft>
            </a:pPr>
            <a:r>
              <a:rPr sz="1400" b="1" i="0" lang="ar-JO">
                <a:solidFill>
                  <a:srgbClr val="0E7C7B"/>
                </a:solidFill>
                <a:latin typeface="Aptos"/>
                <a:ea typeface="Aptos"/>
                <a:cs typeface="Dubai"/>
              </a:rPr>
              <a:t>من ترك الحقيبة؟</a:t>
            </a:r>
          </a:p>
        </p:txBody>
      </p:sp>
      <p:sp>
        <p:nvSpPr>
          <p:cNvPr id="38" name="TextBox 37"/>
          <p:cNvSpPr txBox="1"/>
          <p:nvPr/>
        </p:nvSpPr>
        <p:spPr>
          <a:xfrm>
            <a:off x="4535423" y="3419856"/>
            <a:ext cx="3118104" cy="219456"/>
          </a:xfrm>
          <a:prstGeom prst="rect">
            <a:avLst/>
          </a:prstGeom>
          <a:noFill/>
        </p:spPr>
        <p:txBody>
          <a:bodyPr wrap="square" lIns="0" tIns="0" rIns="0" bIns="0" anchor="t">
            <a:noAutofit/>
          </a:bodyPr>
          <a:lstStyle/>
          <a:p>
            <a:pPr algn="l">
              <a:spcBef>
                <a:spcPts val="0"/>
              </a:spcBef>
              <a:spcAft>
                <a:spcPts val="0"/>
              </a:spcAft>
            </a:pPr>
            <a:r>
              <a:rPr sz="1000" b="1" i="0" lang="en-GB">
                <a:solidFill>
                  <a:srgbClr val="5B6573"/>
                </a:solidFill>
                <a:latin typeface="Aptos"/>
                <a:ea typeface="Aptos"/>
                <a:cs typeface="Dubai"/>
              </a:rPr>
              <a:t>THE SITUATION</a:t>
            </a:r>
          </a:p>
        </p:txBody>
      </p:sp>
      <p:sp>
        <p:nvSpPr>
          <p:cNvPr id="39" name="TextBox 38"/>
          <p:cNvSpPr txBox="1"/>
          <p:nvPr/>
        </p:nvSpPr>
        <p:spPr>
          <a:xfrm>
            <a:off x="4535423" y="3630168"/>
            <a:ext cx="3118104" cy="640080"/>
          </a:xfrm>
          <a:prstGeom prst="rect">
            <a:avLst/>
          </a:prstGeom>
          <a:noFill/>
        </p:spPr>
        <p:txBody>
          <a:bodyPr wrap="square" lIns="0" tIns="0" rIns="0" bIns="0" anchor="t">
            <a:noAutofit/>
          </a:bodyPr>
          <a:lstStyle/>
          <a:p>
            <a:pPr algn="l">
              <a:spcBef>
                <a:spcPts val="0"/>
              </a:spcBef>
              <a:spcAft>
                <a:spcPts val="0"/>
              </a:spcAft>
            </a:pPr>
            <a:r>
              <a:rPr sz="1300" b="0" i="0" lang="en-GB">
                <a:solidFill>
                  <a:srgbClr val="1F2937"/>
                </a:solidFill>
                <a:latin typeface="Aptos"/>
                <a:ea typeface="Aptos"/>
                <a:cs typeface="Dubai"/>
              </a:rPr>
              <a:t>An unattended suitcase is found in a lobby. Who brought it, and where did they go?</a:t>
            </a:r>
          </a:p>
        </p:txBody>
      </p:sp>
      <p:sp>
        <p:nvSpPr>
          <p:cNvPr id="40" name="TextBox 39"/>
          <p:cNvSpPr txBox="1"/>
          <p:nvPr/>
        </p:nvSpPr>
        <p:spPr>
          <a:xfrm>
            <a:off x="4535423" y="4297679"/>
            <a:ext cx="3118104" cy="219456"/>
          </a:xfrm>
          <a:prstGeom prst="rect">
            <a:avLst/>
          </a:prstGeom>
          <a:noFill/>
        </p:spPr>
        <p:txBody>
          <a:bodyPr wrap="square" lIns="0" tIns="0" rIns="0" bIns="0" anchor="t">
            <a:noAutofit/>
          </a:bodyPr>
          <a:lstStyle/>
          <a:p>
            <a:pPr algn="l">
              <a:spcBef>
                <a:spcPts val="0"/>
              </a:spcBef>
              <a:spcAft>
                <a:spcPts val="0"/>
              </a:spcAft>
            </a:pPr>
            <a:r>
              <a:rPr sz="1000" b="1" i="0" lang="en-GB">
                <a:solidFill>
                  <a:srgbClr val="5B6573"/>
                </a:solidFill>
                <a:latin typeface="Aptos"/>
                <a:ea typeface="Aptos"/>
                <a:cs typeface="Dubai"/>
              </a:rPr>
              <a:t>THE OFFICER TYPES</a:t>
            </a:r>
          </a:p>
        </p:txBody>
      </p:sp>
      <p:sp>
        <p:nvSpPr>
          <p:cNvPr id="41" name="Rounded Rectangle 40"/>
          <p:cNvSpPr/>
          <p:nvPr/>
        </p:nvSpPr>
        <p:spPr>
          <a:xfrm>
            <a:off x="4535423" y="4517136"/>
            <a:ext cx="3118104" cy="713232"/>
          </a:xfrm>
          <a:prstGeom prst="roundRect">
            <a:avLst>
              <a:gd name="adj" fmla="val 12000"/>
            </a:avLst>
          </a:prstGeom>
          <a:solidFill>
            <a:srgbClr val="FFFFFF"/>
          </a:solid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87782" rIns="109728" bIns="87782">
            <a:noAutofit/>
          </a:bodyPr>
          <a:lstStyle/>
          <a:p>
            <a:pPr algn="r" rtl="1">
              <a:spcBef>
                <a:spcPts val="0"/>
              </a:spcBef>
              <a:spcAft>
                <a:spcPts val="100"/>
              </a:spcAft>
            </a:pPr>
            <a:r>
              <a:rPr sz="1500" b="1" i="0" lang="ar-JO">
                <a:solidFill>
                  <a:srgbClr val="0F2A44"/>
                </a:solidFill>
                <a:latin typeface="Aptos"/>
                <a:ea typeface="Aptos"/>
                <a:cs typeface="Dubai"/>
              </a:rPr>
              <a:t>حقيبة سفر سوداء</a:t>
            </a:r>
          </a:p>
          <a:p>
            <a:pPr algn="r">
              <a:spcBef>
                <a:spcPts val="0"/>
              </a:spcBef>
              <a:spcAft>
                <a:spcPts val="0"/>
              </a:spcAft>
            </a:pPr>
            <a:r>
              <a:rPr sz="1050" b="0" i="1" lang="en-GB">
                <a:solidFill>
                  <a:srgbClr val="5B6573"/>
                </a:solidFill>
                <a:latin typeface="Aptos"/>
                <a:ea typeface="Aptos"/>
                <a:cs typeface="Dubai"/>
              </a:rPr>
              <a:t>"a black suitcase"</a:t>
            </a:r>
          </a:p>
        </p:txBody>
      </p:sp>
      <p:sp>
        <p:nvSpPr>
          <p:cNvPr id="42" name="TextBox 41"/>
          <p:cNvSpPr txBox="1"/>
          <p:nvPr/>
        </p:nvSpPr>
        <p:spPr>
          <a:xfrm>
            <a:off x="4535423" y="5340096"/>
            <a:ext cx="3118104" cy="219456"/>
          </a:xfrm>
          <a:prstGeom prst="rect">
            <a:avLst/>
          </a:prstGeom>
          <a:noFill/>
        </p:spPr>
        <p:txBody>
          <a:bodyPr wrap="square" lIns="0" tIns="0" rIns="0" bIns="0" anchor="t">
            <a:noAutofit/>
          </a:bodyPr>
          <a:lstStyle/>
          <a:p>
            <a:pPr algn="l">
              <a:spcBef>
                <a:spcPts val="0"/>
              </a:spcBef>
              <a:spcAft>
                <a:spcPts val="0"/>
              </a:spcAft>
            </a:pPr>
            <a:r>
              <a:rPr sz="1000" b="1" i="0" lang="en-GB">
                <a:solidFill>
                  <a:srgbClr val="0E7C7B"/>
                </a:solidFill>
                <a:latin typeface="Aptos"/>
                <a:ea typeface="Aptos"/>
                <a:cs typeface="Dubai"/>
              </a:rPr>
              <a:t>WHAT THEY GET</a:t>
            </a:r>
          </a:p>
        </p:txBody>
      </p:sp>
      <p:sp>
        <p:nvSpPr>
          <p:cNvPr id="43" name="TextBox 42"/>
          <p:cNvSpPr txBox="1"/>
          <p:nvPr/>
        </p:nvSpPr>
        <p:spPr>
          <a:xfrm>
            <a:off x="4535423" y="5550408"/>
            <a:ext cx="3118104" cy="658368"/>
          </a:xfrm>
          <a:prstGeom prst="rect">
            <a:avLst/>
          </a:prstGeom>
          <a:noFill/>
        </p:spPr>
        <p:txBody>
          <a:bodyPr wrap="square" lIns="0" tIns="0" rIns="0" bIns="0" anchor="t">
            <a:noAutofit/>
          </a:bodyPr>
          <a:lstStyle/>
          <a:p>
            <a:pPr algn="l">
              <a:spcBef>
                <a:spcPts val="0"/>
              </a:spcBef>
              <a:spcAft>
                <a:spcPts val="0"/>
              </a:spcAft>
            </a:pPr>
            <a:r>
              <a:rPr sz="1300" b="0" i="0" lang="en-GB">
                <a:solidFill>
                  <a:srgbClr val="1F2937"/>
                </a:solidFill>
                <a:latin typeface="Aptos"/>
                <a:ea typeface="Aptos"/>
                <a:cs typeface="Dubai"/>
              </a:rPr>
              <a:t>The moment the bag arrived, and the person who brought it. Their clothing becomes the next search.</a:t>
            </a:r>
          </a:p>
        </p:txBody>
      </p:sp>
      <p:sp>
        <p:nvSpPr>
          <p:cNvPr id="44" name="Rounded Rectangle 43"/>
          <p:cNvSpPr/>
          <p:nvPr/>
        </p:nvSpPr>
        <p:spPr>
          <a:xfrm>
            <a:off x="8119871" y="1737360"/>
            <a:ext cx="3520440" cy="4526280"/>
          </a:xfrm>
          <a:prstGeom prst="roundRect">
            <a:avLst>
              <a:gd name="adj" fmla="val 4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119871" y="1737360"/>
            <a:ext cx="3520440" cy="868680"/>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119871" y="2275941"/>
            <a:ext cx="3520440" cy="330098"/>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839463" y="1789480"/>
            <a:ext cx="141942" cy="141942"/>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761021" y="1946364"/>
            <a:ext cx="298825" cy="298825"/>
          </a:xfrm>
          <a:prstGeom prst="roundRect">
            <a:avLst>
              <a:gd name="adj" fmla="val 30000"/>
            </a:avLst>
          </a:prstGeom>
          <a:solidFill>
            <a:srgbClr val="8A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798375" y="2222778"/>
            <a:ext cx="224119" cy="313767"/>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901470" y="2297484"/>
            <a:ext cx="17929" cy="239060"/>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213674" y="2084832"/>
            <a:ext cx="85825" cy="85825"/>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10166244" y="2179691"/>
            <a:ext cx="180685" cy="180685"/>
          </a:xfrm>
          <a:prstGeom prst="roundRect">
            <a:avLst>
              <a:gd name="adj" fmla="val 30000"/>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188830" y="2346825"/>
            <a:ext cx="135514" cy="189719"/>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251166" y="2391997"/>
            <a:ext cx="10841" cy="144548"/>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74736" y="1773936"/>
            <a:ext cx="3410712" cy="237744"/>
          </a:xfrm>
          <a:prstGeom prst="rect">
            <a:avLst/>
          </a:prstGeom>
          <a:noFill/>
        </p:spPr>
        <p:txBody>
          <a:bodyPr wrap="square" lIns="0" tIns="0" rIns="0" bIns="0" anchor="t">
            <a:noAutofit/>
          </a:bodyPr>
          <a:lstStyle/>
          <a:p>
            <a:pPr algn="l">
              <a:spcBef>
                <a:spcPts val="0"/>
              </a:spcBef>
              <a:spcAft>
                <a:spcPts val="0"/>
              </a:spcAft>
            </a:pPr>
            <a:r>
              <a:rPr sz="900" b="1" i="0" lang="en-GB">
                <a:solidFill>
                  <a:srgbClr val="FFFFFF"/>
                </a:solidFill>
                <a:latin typeface="Aptos"/>
                <a:ea typeface="Aptos"/>
                <a:cs typeface="Dubai"/>
              </a:rPr>
              <a:t>STORY 3</a:t>
            </a:r>
          </a:p>
        </p:txBody>
      </p:sp>
      <p:sp>
        <p:nvSpPr>
          <p:cNvPr id="56" name="TextBox 55"/>
          <p:cNvSpPr txBox="1"/>
          <p:nvPr/>
        </p:nvSpPr>
        <p:spPr>
          <a:xfrm>
            <a:off x="8321040" y="2706624"/>
            <a:ext cx="3118104" cy="329184"/>
          </a:xfrm>
          <a:prstGeom prst="rect">
            <a:avLst/>
          </a:prstGeom>
          <a:noFill/>
        </p:spPr>
        <p:txBody>
          <a:bodyPr wrap="square" lIns="0" tIns="0" rIns="0" bIns="0" anchor="t">
            <a:noAutofit/>
          </a:bodyPr>
          <a:lstStyle/>
          <a:p>
            <a:pPr algn="l">
              <a:spcBef>
                <a:spcPts val="0"/>
              </a:spcBef>
              <a:spcAft>
                <a:spcPts val="0"/>
              </a:spcAft>
            </a:pPr>
            <a:r>
              <a:rPr sz="1800" b="1" i="0" lang="en-GB">
                <a:solidFill>
                  <a:srgbClr val="0F2A44"/>
                </a:solidFill>
                <a:latin typeface="Aptos"/>
                <a:ea typeface="Aptos"/>
                <a:cs typeface="Dubai"/>
              </a:rPr>
              <a:t>Finding a lost child</a:t>
            </a:r>
          </a:p>
        </p:txBody>
      </p:sp>
      <p:sp>
        <p:nvSpPr>
          <p:cNvPr id="57" name="TextBox 56"/>
          <p:cNvSpPr txBox="1"/>
          <p:nvPr/>
        </p:nvSpPr>
        <p:spPr>
          <a:xfrm>
            <a:off x="8321040" y="3035808"/>
            <a:ext cx="3118104" cy="292608"/>
          </a:xfrm>
          <a:prstGeom prst="rect">
            <a:avLst/>
          </a:prstGeom>
          <a:noFill/>
        </p:spPr>
        <p:txBody>
          <a:bodyPr wrap="square" lIns="0" tIns="0" rIns="0" bIns="0" anchor="t">
            <a:noAutofit/>
          </a:bodyPr>
          <a:lstStyle/>
          <a:p>
            <a:pPr algn="l" rtl="1">
              <a:spcBef>
                <a:spcPts val="0"/>
              </a:spcBef>
              <a:spcAft>
                <a:spcPts val="0"/>
              </a:spcAft>
            </a:pPr>
            <a:r>
              <a:rPr sz="1400" b="1" i="0" lang="ar-JO">
                <a:solidFill>
                  <a:srgbClr val="0E7C7B"/>
                </a:solidFill>
                <a:latin typeface="Aptos"/>
                <a:ea typeface="Aptos"/>
                <a:cs typeface="Dubai"/>
              </a:rPr>
              <a:t>البحث عن طفل مفقود</a:t>
            </a:r>
          </a:p>
        </p:txBody>
      </p:sp>
      <p:sp>
        <p:nvSpPr>
          <p:cNvPr id="58" name="TextBox 57"/>
          <p:cNvSpPr txBox="1"/>
          <p:nvPr/>
        </p:nvSpPr>
        <p:spPr>
          <a:xfrm>
            <a:off x="8321040" y="3419856"/>
            <a:ext cx="3118104" cy="219456"/>
          </a:xfrm>
          <a:prstGeom prst="rect">
            <a:avLst/>
          </a:prstGeom>
          <a:noFill/>
        </p:spPr>
        <p:txBody>
          <a:bodyPr wrap="square" lIns="0" tIns="0" rIns="0" bIns="0" anchor="t">
            <a:noAutofit/>
          </a:bodyPr>
          <a:lstStyle/>
          <a:p>
            <a:pPr algn="l">
              <a:spcBef>
                <a:spcPts val="0"/>
              </a:spcBef>
              <a:spcAft>
                <a:spcPts val="0"/>
              </a:spcAft>
            </a:pPr>
            <a:r>
              <a:rPr sz="1000" b="1" i="0" lang="en-GB">
                <a:solidFill>
                  <a:srgbClr val="5B6573"/>
                </a:solidFill>
                <a:latin typeface="Aptos"/>
                <a:ea typeface="Aptos"/>
                <a:cs typeface="Dubai"/>
              </a:rPr>
              <a:t>THE SITUATION</a:t>
            </a:r>
          </a:p>
        </p:txBody>
      </p:sp>
      <p:sp>
        <p:nvSpPr>
          <p:cNvPr id="59" name="TextBox 58"/>
          <p:cNvSpPr txBox="1"/>
          <p:nvPr/>
        </p:nvSpPr>
        <p:spPr>
          <a:xfrm>
            <a:off x="8321040" y="3630168"/>
            <a:ext cx="3118104" cy="640080"/>
          </a:xfrm>
          <a:prstGeom prst="rect">
            <a:avLst/>
          </a:prstGeom>
          <a:noFill/>
        </p:spPr>
        <p:txBody>
          <a:bodyPr wrap="square" lIns="0" tIns="0" rIns="0" bIns="0" anchor="t">
            <a:noAutofit/>
          </a:bodyPr>
          <a:lstStyle/>
          <a:p>
            <a:pPr algn="l">
              <a:spcBef>
                <a:spcPts val="0"/>
              </a:spcBef>
              <a:spcAft>
                <a:spcPts val="0"/>
              </a:spcAft>
            </a:pPr>
            <a:r>
              <a:rPr sz="1300" b="0" i="0" lang="en-GB">
                <a:solidFill>
                  <a:srgbClr val="1F2937"/>
                </a:solidFill>
                <a:latin typeface="Aptos"/>
                <a:ea typeface="Aptos"/>
                <a:cs typeface="Dubai"/>
              </a:rPr>
              <a:t>A parent has lost a small child in a blue jacket near Gate 3.</a:t>
            </a:r>
          </a:p>
        </p:txBody>
      </p:sp>
      <p:sp>
        <p:nvSpPr>
          <p:cNvPr id="60" name="TextBox 59"/>
          <p:cNvSpPr txBox="1"/>
          <p:nvPr/>
        </p:nvSpPr>
        <p:spPr>
          <a:xfrm>
            <a:off x="8321040" y="4297679"/>
            <a:ext cx="3118104" cy="219456"/>
          </a:xfrm>
          <a:prstGeom prst="rect">
            <a:avLst/>
          </a:prstGeom>
          <a:noFill/>
        </p:spPr>
        <p:txBody>
          <a:bodyPr wrap="square" lIns="0" tIns="0" rIns="0" bIns="0" anchor="t">
            <a:noAutofit/>
          </a:bodyPr>
          <a:lstStyle/>
          <a:p>
            <a:pPr algn="l">
              <a:spcBef>
                <a:spcPts val="0"/>
              </a:spcBef>
              <a:spcAft>
                <a:spcPts val="0"/>
              </a:spcAft>
            </a:pPr>
            <a:r>
              <a:rPr sz="1000" b="1" i="0" lang="en-GB">
                <a:solidFill>
                  <a:srgbClr val="5B6573"/>
                </a:solidFill>
                <a:latin typeface="Aptos"/>
                <a:ea typeface="Aptos"/>
                <a:cs typeface="Dubai"/>
              </a:rPr>
              <a:t>THE OFFICER TYPES</a:t>
            </a:r>
          </a:p>
        </p:txBody>
      </p:sp>
      <p:sp>
        <p:nvSpPr>
          <p:cNvPr id="61" name="Rounded Rectangle 60"/>
          <p:cNvSpPr/>
          <p:nvPr/>
        </p:nvSpPr>
        <p:spPr>
          <a:xfrm>
            <a:off x="8321040" y="4517136"/>
            <a:ext cx="3118104" cy="713232"/>
          </a:xfrm>
          <a:prstGeom prst="roundRect">
            <a:avLst>
              <a:gd name="adj" fmla="val 12000"/>
            </a:avLst>
          </a:prstGeom>
          <a:solidFill>
            <a:srgbClr val="FFFFFF"/>
          </a:solid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87782" rIns="109728" bIns="87782">
            <a:noAutofit/>
          </a:bodyPr>
          <a:lstStyle/>
          <a:p>
            <a:pPr algn="r" rtl="1">
              <a:spcBef>
                <a:spcPts val="0"/>
              </a:spcBef>
              <a:spcAft>
                <a:spcPts val="100"/>
              </a:spcAft>
            </a:pPr>
            <a:r>
              <a:rPr sz="1500" b="1" i="0" lang="ar-JO">
                <a:solidFill>
                  <a:srgbClr val="0F2A44"/>
                </a:solidFill>
                <a:latin typeface="Aptos"/>
                <a:ea typeface="Aptos"/>
                <a:cs typeface="Dubai"/>
              </a:rPr>
              <a:t>طفل صغير لابس جاكيت أزرق</a:t>
            </a:r>
          </a:p>
          <a:p>
            <a:pPr algn="r">
              <a:spcBef>
                <a:spcPts val="0"/>
              </a:spcBef>
              <a:spcAft>
                <a:spcPts val="0"/>
              </a:spcAft>
            </a:pPr>
            <a:r>
              <a:rPr sz="1050" b="0" i="1" lang="en-GB">
                <a:solidFill>
                  <a:srgbClr val="5B6573"/>
                </a:solidFill>
                <a:latin typeface="Aptos"/>
                <a:ea typeface="Aptos"/>
                <a:cs typeface="Dubai"/>
              </a:rPr>
              <a:t>"a small child wearing a blue jacket"</a:t>
            </a:r>
          </a:p>
        </p:txBody>
      </p:sp>
      <p:sp>
        <p:nvSpPr>
          <p:cNvPr id="62" name="TextBox 61"/>
          <p:cNvSpPr txBox="1"/>
          <p:nvPr/>
        </p:nvSpPr>
        <p:spPr>
          <a:xfrm>
            <a:off x="8321040" y="5340096"/>
            <a:ext cx="3118104" cy="219456"/>
          </a:xfrm>
          <a:prstGeom prst="rect">
            <a:avLst/>
          </a:prstGeom>
          <a:noFill/>
        </p:spPr>
        <p:txBody>
          <a:bodyPr wrap="square" lIns="0" tIns="0" rIns="0" bIns="0" anchor="t">
            <a:noAutofit/>
          </a:bodyPr>
          <a:lstStyle/>
          <a:p>
            <a:pPr algn="l">
              <a:spcBef>
                <a:spcPts val="0"/>
              </a:spcBef>
              <a:spcAft>
                <a:spcPts val="0"/>
              </a:spcAft>
            </a:pPr>
            <a:r>
              <a:rPr sz="1000" b="1" i="0" lang="en-GB">
                <a:solidFill>
                  <a:srgbClr val="0E7C7B"/>
                </a:solidFill>
                <a:latin typeface="Aptos"/>
                <a:ea typeface="Aptos"/>
                <a:cs typeface="Dubai"/>
              </a:rPr>
              <a:t>WHAT THEY GET</a:t>
            </a:r>
          </a:p>
        </p:txBody>
      </p:sp>
      <p:sp>
        <p:nvSpPr>
          <p:cNvPr id="63" name="TextBox 62"/>
          <p:cNvSpPr txBox="1"/>
          <p:nvPr/>
        </p:nvSpPr>
        <p:spPr>
          <a:xfrm>
            <a:off x="8321040" y="5550408"/>
            <a:ext cx="3118104" cy="658368"/>
          </a:xfrm>
          <a:prstGeom prst="rect">
            <a:avLst/>
          </a:prstGeom>
          <a:noFill/>
        </p:spPr>
        <p:txBody>
          <a:bodyPr wrap="square" lIns="0" tIns="0" rIns="0" bIns="0" anchor="t">
            <a:noAutofit/>
          </a:bodyPr>
          <a:lstStyle/>
          <a:p>
            <a:pPr algn="l">
              <a:spcBef>
                <a:spcPts val="0"/>
              </a:spcBef>
              <a:spcAft>
                <a:spcPts val="0"/>
              </a:spcAft>
            </a:pPr>
            <a:r>
              <a:rPr sz="1300" b="0" i="0" lang="en-GB">
                <a:solidFill>
                  <a:srgbClr val="1F2937"/>
                </a:solidFill>
                <a:latin typeface="Aptos"/>
                <a:ea typeface="Aptos"/>
                <a:cs typeface="Dubai"/>
              </a:rPr>
              <a:t>The latest sightings near Gate 3, newest first, as candidates an officer checks. Clothing and size, never faces.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548640" y="6419088"/>
            <a:ext cx="11094415" cy="0"/>
          </a:xfrm>
          <a:prstGeom prst="line">
            <a:avLst/>
          </a:prstGeom>
          <a:ln w="12700">
            <a:solidFill>
              <a:srgbClr val="D5DBE1"/>
            </a:solidFill>
          </a:ln>
        </p:spPr>
      </p:cxnSp>
      <p:sp>
        <p:nvSpPr>
          <p:cNvPr id="4" name="TextBox 3"/>
          <p:cNvSpPr txBox="1"/>
          <p:nvPr/>
        </p:nvSpPr>
        <p:spPr>
          <a:xfrm>
            <a:off x="548640" y="6473952"/>
            <a:ext cx="7315200" cy="274320"/>
          </a:xfrm>
          <a:prstGeom prst="rect">
            <a:avLst/>
          </a:prstGeom>
          <a:noFill/>
        </p:spPr>
        <p:txBody>
          <a:bodyPr wrap="square" lIns="0" tIns="0" rIns="0" bIns="0" anchor="t">
            <a:noAutofit/>
          </a:bodyPr>
          <a:lstStyle/>
          <a:p>
            <a:pPr algn="l">
              <a:spcBef>
                <a:spcPts val="0"/>
              </a:spcBef>
              <a:spcAft>
                <a:spcPts val="0"/>
              </a:spcAft>
            </a:pPr>
            <a:r>
              <a:rPr sz="1000" b="0" i="0" lang="en-GB">
                <a:solidFill>
                  <a:srgbClr val="5B6573"/>
                </a:solidFill>
                <a:latin typeface="Aptos"/>
                <a:ea typeface="Aptos"/>
                <a:cs typeface="Dubai"/>
              </a:rPr>
              <a:t>Arabic AI Video Search  ·  PoC use cases</a:t>
            </a:r>
          </a:p>
        </p:txBody>
      </p:sp>
      <p:sp>
        <p:nvSpPr>
          <p:cNvPr id="5" name="TextBox 4"/>
          <p:cNvSpPr txBox="1"/>
          <p:nvPr/>
        </p:nvSpPr>
        <p:spPr>
          <a:xfrm>
            <a:off x="9814255" y="6473952"/>
            <a:ext cx="1828800" cy="274320"/>
          </a:xfrm>
          <a:prstGeom prst="rect">
            <a:avLst/>
          </a:prstGeom>
          <a:noFill/>
        </p:spPr>
        <p:txBody>
          <a:bodyPr wrap="square" lIns="0" tIns="0" rIns="0" bIns="0" anchor="t">
            <a:noAutofit/>
          </a:bodyPr>
          <a:lstStyle/>
          <a:p>
            <a:pPr algn="r">
              <a:spcBef>
                <a:spcPts val="0"/>
              </a:spcBef>
              <a:spcAft>
                <a:spcPts val="0"/>
              </a:spcAft>
            </a:pPr>
            <a:r>
              <a:rPr sz="1000" b="0" i="0" lang="en-GB">
                <a:solidFill>
                  <a:srgbClr val="5B6573"/>
                </a:solidFill>
                <a:latin typeface="Aptos"/>
                <a:ea typeface="Aptos"/>
                <a:cs typeface="Dubai"/>
              </a:rPr>
              <a:t>4 / 5</a:t>
            </a:r>
          </a:p>
        </p:txBody>
      </p:sp>
      <p:sp>
        <p:nvSpPr>
          <p:cNvPr id="6" name="TextBox 5"/>
          <p:cNvSpPr txBox="1"/>
          <p:nvPr/>
        </p:nvSpPr>
        <p:spPr>
          <a:xfrm>
            <a:off x="548640" y="347472"/>
            <a:ext cx="7680960" cy="292608"/>
          </a:xfrm>
          <a:prstGeom prst="rect">
            <a:avLst/>
          </a:prstGeom>
          <a:noFill/>
        </p:spPr>
        <p:txBody>
          <a:bodyPr wrap="square" lIns="0" tIns="0" rIns="0" bIns="0" anchor="t">
            <a:noAutofit/>
          </a:bodyPr>
          <a:lstStyle/>
          <a:p>
            <a:pPr algn="l">
              <a:spcBef>
                <a:spcPts val="0"/>
              </a:spcBef>
              <a:spcAft>
                <a:spcPts val="0"/>
              </a:spcAft>
            </a:pPr>
            <a:r>
              <a:rPr sz="1200" b="1" i="0" lang="en-GB">
                <a:solidFill>
                  <a:srgbClr val="0E7C7B"/>
                </a:solidFill>
                <a:latin typeface="Aptos"/>
                <a:ea typeface="Aptos"/>
                <a:cs typeface="Dubai"/>
              </a:rPr>
              <a:t>SAFEGUARDS</a:t>
            </a:r>
          </a:p>
        </p:txBody>
      </p:sp>
      <p:sp>
        <p:nvSpPr>
          <p:cNvPr id="7" name="TextBox 6"/>
          <p:cNvSpPr txBox="1"/>
          <p:nvPr/>
        </p:nvSpPr>
        <p:spPr>
          <a:xfrm>
            <a:off x="7802575" y="274320"/>
            <a:ext cx="3840480" cy="411480"/>
          </a:xfrm>
          <a:prstGeom prst="rect">
            <a:avLst/>
          </a:prstGeom>
          <a:noFill/>
        </p:spPr>
        <p:txBody>
          <a:bodyPr wrap="square" lIns="0" tIns="0" rIns="0" bIns="0" anchor="t">
            <a:noAutofit/>
          </a:bodyPr>
          <a:lstStyle/>
          <a:p>
            <a:pPr algn="r" rtl="1">
              <a:spcBef>
                <a:spcPts val="0"/>
              </a:spcBef>
              <a:spcAft>
                <a:spcPts val="0"/>
              </a:spcAft>
            </a:pPr>
            <a:r>
              <a:rPr sz="1800" b="1" i="0" lang="ar-JO">
                <a:solidFill>
                  <a:srgbClr val="0E7C7B"/>
                </a:solidFill>
                <a:latin typeface="Aptos"/>
                <a:ea typeface="Aptos"/>
                <a:cs typeface="Dubai"/>
              </a:rPr>
              <a:t>الضمانات والخصوصية</a:t>
            </a:r>
          </a:p>
        </p:txBody>
      </p:sp>
      <p:sp>
        <p:nvSpPr>
          <p:cNvPr id="8" name="TextBox 7"/>
          <p:cNvSpPr txBox="1"/>
          <p:nvPr/>
        </p:nvSpPr>
        <p:spPr>
          <a:xfrm>
            <a:off x="548640" y="658368"/>
            <a:ext cx="11064240" cy="914400"/>
          </a:xfrm>
          <a:prstGeom prst="rect">
            <a:avLst/>
          </a:prstGeom>
          <a:noFill/>
        </p:spPr>
        <p:txBody>
          <a:bodyPr wrap="square" lIns="0" tIns="0" rIns="0" bIns="0" anchor="t">
            <a:noAutofit/>
          </a:bodyPr>
          <a:lstStyle/>
          <a:p>
            <a:pPr algn="l">
              <a:lnSpc>
                <a:spcPct val="95000"/>
              </a:lnSpc>
              <a:spcBef>
                <a:spcPts val="0"/>
              </a:spcBef>
              <a:spcAft>
                <a:spcPts val="0"/>
              </a:spcAft>
            </a:pPr>
            <a:r>
              <a:rPr sz="2800" b="1" i="0" lang="en-GB">
                <a:solidFill>
                  <a:srgbClr val="0F2A44"/>
                </a:solidFill>
                <a:latin typeface="Aptos"/>
                <a:ea typeface="Aptos"/>
                <a:cs typeface="Dubai"/>
              </a:rPr>
              <a:t>Built in from day one: appearance only, people decide, every search on record</a:t>
            </a:r>
          </a:p>
        </p:txBody>
      </p:sp>
      <p:sp>
        <p:nvSpPr>
          <p:cNvPr id="9" name="Rounded Rectangle 8"/>
          <p:cNvSpPr/>
          <p:nvPr/>
        </p:nvSpPr>
        <p:spPr>
          <a:xfrm>
            <a:off x="548640" y="1783080"/>
            <a:ext cx="2093976" cy="3611880"/>
          </a:xfrm>
          <a:prstGeom prst="roundRect">
            <a:avLst>
              <a:gd name="adj" fmla="val 5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2093976" cy="73152"/>
          </a:xfrm>
          <a:prstGeom prst="rect">
            <a:avLst/>
          </a:prstGeom>
          <a:solidFill>
            <a:srgbClr val="B45F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quot;No&quot; Symbol 10"/>
          <p:cNvSpPr/>
          <p:nvPr/>
        </p:nvSpPr>
        <p:spPr>
          <a:xfrm>
            <a:off x="749808" y="2057400"/>
            <a:ext cx="502920" cy="502920"/>
          </a:xfrm>
          <a:prstGeom prst="noSmoking">
            <a:avLst/>
          </a:prstGeom>
          <a:solidFill>
            <a:srgbClr val="B45F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697480"/>
            <a:ext cx="1728216" cy="566928"/>
          </a:xfrm>
          <a:prstGeom prst="rect">
            <a:avLst/>
          </a:prstGeom>
          <a:noFill/>
        </p:spPr>
        <p:txBody>
          <a:bodyPr wrap="square" lIns="0" tIns="0" rIns="0" bIns="0" anchor="t">
            <a:noAutofit/>
          </a:bodyPr>
          <a:lstStyle/>
          <a:p>
            <a:pPr algn="l">
              <a:lnSpc>
                <a:spcPct val="95000"/>
              </a:lnSpc>
              <a:spcBef>
                <a:spcPts val="0"/>
              </a:spcBef>
              <a:spcAft>
                <a:spcPts val="0"/>
              </a:spcAft>
            </a:pPr>
            <a:r>
              <a:rPr sz="1600" b="1" i="0" lang="en-GB">
                <a:solidFill>
                  <a:srgbClr val="0F2A44"/>
                </a:solidFill>
                <a:latin typeface="Aptos"/>
                <a:ea typeface="Aptos"/>
                <a:cs typeface="Dubai"/>
              </a:rPr>
              <a:t>No face recognition</a:t>
            </a:r>
          </a:p>
        </p:txBody>
      </p:sp>
      <p:sp>
        <p:nvSpPr>
          <p:cNvPr id="13" name="TextBox 12"/>
          <p:cNvSpPr txBox="1"/>
          <p:nvPr/>
        </p:nvSpPr>
        <p:spPr>
          <a:xfrm>
            <a:off x="749808" y="3264408"/>
            <a:ext cx="1728216" cy="329184"/>
          </a:xfrm>
          <a:prstGeom prst="rect">
            <a:avLst/>
          </a:prstGeom>
          <a:noFill/>
        </p:spPr>
        <p:txBody>
          <a:bodyPr wrap="square" lIns="0" tIns="0" rIns="0" bIns="0" anchor="t">
            <a:noAutofit/>
          </a:bodyPr>
          <a:lstStyle/>
          <a:p>
            <a:pPr algn="l" rtl="1">
              <a:spcBef>
                <a:spcPts val="0"/>
              </a:spcBef>
              <a:spcAft>
                <a:spcPts val="0"/>
              </a:spcAft>
            </a:pPr>
            <a:r>
              <a:rPr sz="1150" b="1" i="0" lang="ar-JO">
                <a:solidFill>
                  <a:srgbClr val="0E7C7B"/>
                </a:solidFill>
                <a:latin typeface="Aptos"/>
                <a:ea typeface="Aptos"/>
                <a:cs typeface="Dubai"/>
              </a:rPr>
              <a:t>لا للتعرف على الوجوه</a:t>
            </a:r>
          </a:p>
        </p:txBody>
      </p:sp>
      <p:sp>
        <p:nvSpPr>
          <p:cNvPr id="14" name="TextBox 13"/>
          <p:cNvSpPr txBox="1"/>
          <p:nvPr/>
        </p:nvSpPr>
        <p:spPr>
          <a:xfrm>
            <a:off x="749808" y="3657600"/>
            <a:ext cx="1728216" cy="1691640"/>
          </a:xfrm>
          <a:prstGeom prst="rect">
            <a:avLst/>
          </a:prstGeom>
          <a:noFill/>
        </p:spPr>
        <p:txBody>
          <a:bodyPr wrap="square" lIns="0" tIns="0" rIns="0" bIns="0" anchor="t">
            <a:noAutofit/>
          </a:bodyPr>
          <a:lstStyle/>
          <a:p>
            <a:pPr algn="l">
              <a:spcBef>
                <a:spcPts val="0"/>
              </a:spcBef>
              <a:spcAft>
                <a:spcPts val="0"/>
              </a:spcAft>
            </a:pPr>
            <a:r>
              <a:rPr sz="1300" b="0" i="0" lang="en-GB">
                <a:solidFill>
                  <a:srgbClr val="1F2937"/>
                </a:solidFill>
                <a:latin typeface="Aptos"/>
                <a:ea typeface="Aptos"/>
                <a:cs typeface="Dubai"/>
              </a:rPr>
              <a:t>Searches clothing, colours, bags and size. It never identifies who someone is.</a:t>
            </a:r>
          </a:p>
        </p:txBody>
      </p:sp>
      <p:sp>
        <p:nvSpPr>
          <p:cNvPr id="15" name="Rounded Rectangle 14"/>
          <p:cNvSpPr/>
          <p:nvPr/>
        </p:nvSpPr>
        <p:spPr>
          <a:xfrm>
            <a:off x="2798064" y="1783080"/>
            <a:ext cx="2093976" cy="3611880"/>
          </a:xfrm>
          <a:prstGeom prst="roundRect">
            <a:avLst>
              <a:gd name="adj" fmla="val 5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98064" y="1783080"/>
            <a:ext cx="2093976" cy="7315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999232" y="2057400"/>
            <a:ext cx="502920" cy="502920"/>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1500" b="1" i="0" lang="en-GB">
                <a:solidFill>
                  <a:srgbClr val="FFFFFF"/>
                </a:solidFill>
                <a:latin typeface="Aptos"/>
                <a:ea typeface="Aptos"/>
                <a:cs typeface="Dubai"/>
              </a:rPr>
              <a:t>2</a:t>
            </a:r>
          </a:p>
        </p:txBody>
      </p:sp>
      <p:sp>
        <p:nvSpPr>
          <p:cNvPr id="18" name="TextBox 17"/>
          <p:cNvSpPr txBox="1"/>
          <p:nvPr/>
        </p:nvSpPr>
        <p:spPr>
          <a:xfrm>
            <a:off x="2999232" y="2697480"/>
            <a:ext cx="1728216" cy="566928"/>
          </a:xfrm>
          <a:prstGeom prst="rect">
            <a:avLst/>
          </a:prstGeom>
          <a:noFill/>
        </p:spPr>
        <p:txBody>
          <a:bodyPr wrap="square" lIns="0" tIns="0" rIns="0" bIns="0" anchor="t">
            <a:noAutofit/>
          </a:bodyPr>
          <a:lstStyle/>
          <a:p>
            <a:pPr algn="l">
              <a:lnSpc>
                <a:spcPct val="95000"/>
              </a:lnSpc>
              <a:spcBef>
                <a:spcPts val="0"/>
              </a:spcBef>
              <a:spcAft>
                <a:spcPts val="0"/>
              </a:spcAft>
            </a:pPr>
            <a:r>
              <a:rPr sz="1600" b="1" i="0" lang="en-GB">
                <a:solidFill>
                  <a:srgbClr val="0F2A44"/>
                </a:solidFill>
                <a:latin typeface="Aptos"/>
                <a:ea typeface="Aptos"/>
                <a:cs typeface="Dubai"/>
              </a:rPr>
              <a:t>A lead, not proof</a:t>
            </a:r>
          </a:p>
        </p:txBody>
      </p:sp>
      <p:sp>
        <p:nvSpPr>
          <p:cNvPr id="19" name="TextBox 18"/>
          <p:cNvSpPr txBox="1"/>
          <p:nvPr/>
        </p:nvSpPr>
        <p:spPr>
          <a:xfrm>
            <a:off x="2999232" y="3264408"/>
            <a:ext cx="1728216" cy="329184"/>
          </a:xfrm>
          <a:prstGeom prst="rect">
            <a:avLst/>
          </a:prstGeom>
          <a:noFill/>
        </p:spPr>
        <p:txBody>
          <a:bodyPr wrap="square" lIns="0" tIns="0" rIns="0" bIns="0" anchor="t">
            <a:noAutofit/>
          </a:bodyPr>
          <a:lstStyle/>
          <a:p>
            <a:pPr algn="l" rtl="1">
              <a:spcBef>
                <a:spcPts val="0"/>
              </a:spcBef>
              <a:spcAft>
                <a:spcPts val="0"/>
              </a:spcAft>
            </a:pPr>
            <a:r>
              <a:rPr sz="1150" b="1" i="0" lang="ar-JO">
                <a:solidFill>
                  <a:srgbClr val="0E7C7B"/>
                </a:solidFill>
                <a:latin typeface="Aptos"/>
                <a:ea typeface="Aptos"/>
                <a:cs typeface="Dubai"/>
              </a:rPr>
              <a:t>نتيجة للتحقق لا دليل</a:t>
            </a:r>
          </a:p>
        </p:txBody>
      </p:sp>
      <p:sp>
        <p:nvSpPr>
          <p:cNvPr id="20" name="TextBox 19"/>
          <p:cNvSpPr txBox="1"/>
          <p:nvPr/>
        </p:nvSpPr>
        <p:spPr>
          <a:xfrm>
            <a:off x="2999232" y="3657600"/>
            <a:ext cx="1728216" cy="1691640"/>
          </a:xfrm>
          <a:prstGeom prst="rect">
            <a:avLst/>
          </a:prstGeom>
          <a:noFill/>
        </p:spPr>
        <p:txBody>
          <a:bodyPr wrap="square" lIns="0" tIns="0" rIns="0" bIns="0" anchor="t">
            <a:noAutofit/>
          </a:bodyPr>
          <a:lstStyle/>
          <a:p>
            <a:pPr algn="l">
              <a:spcBef>
                <a:spcPts val="0"/>
              </a:spcBef>
              <a:spcAft>
                <a:spcPts val="0"/>
              </a:spcAft>
            </a:pPr>
            <a:r>
              <a:rPr sz="1300" b="0" i="0" lang="en-GB">
                <a:solidFill>
                  <a:srgbClr val="1F2937"/>
                </a:solidFill>
                <a:latin typeface="Aptos"/>
                <a:ea typeface="Aptos"/>
                <a:cs typeface="Dubai"/>
              </a:rPr>
              <a:t>Each result shows its confidence and why it matched. A person confirms; two people before any action.</a:t>
            </a:r>
          </a:p>
        </p:txBody>
      </p:sp>
      <p:sp>
        <p:nvSpPr>
          <p:cNvPr id="21" name="Rounded Rectangle 20"/>
          <p:cNvSpPr/>
          <p:nvPr/>
        </p:nvSpPr>
        <p:spPr>
          <a:xfrm>
            <a:off x="5047488" y="1783080"/>
            <a:ext cx="2093976" cy="3611880"/>
          </a:xfrm>
          <a:prstGeom prst="roundRect">
            <a:avLst>
              <a:gd name="adj" fmla="val 5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47488" y="1783080"/>
            <a:ext cx="2093976" cy="7315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248655" y="2057400"/>
            <a:ext cx="502920" cy="502920"/>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1500" b="1" i="0" lang="en-GB">
                <a:solidFill>
                  <a:srgbClr val="FFFFFF"/>
                </a:solidFill>
                <a:latin typeface="Aptos"/>
                <a:ea typeface="Aptos"/>
                <a:cs typeface="Dubai"/>
              </a:rPr>
              <a:t>3</a:t>
            </a:r>
          </a:p>
        </p:txBody>
      </p:sp>
      <p:sp>
        <p:nvSpPr>
          <p:cNvPr id="24" name="TextBox 23"/>
          <p:cNvSpPr txBox="1"/>
          <p:nvPr/>
        </p:nvSpPr>
        <p:spPr>
          <a:xfrm>
            <a:off x="5248655" y="2697480"/>
            <a:ext cx="1728216" cy="566928"/>
          </a:xfrm>
          <a:prstGeom prst="rect">
            <a:avLst/>
          </a:prstGeom>
          <a:noFill/>
        </p:spPr>
        <p:txBody>
          <a:bodyPr wrap="square" lIns="0" tIns="0" rIns="0" bIns="0" anchor="t">
            <a:noAutofit/>
          </a:bodyPr>
          <a:lstStyle/>
          <a:p>
            <a:pPr algn="l">
              <a:lnSpc>
                <a:spcPct val="95000"/>
              </a:lnSpc>
              <a:spcBef>
                <a:spcPts val="0"/>
              </a:spcBef>
              <a:spcAft>
                <a:spcPts val="0"/>
              </a:spcAft>
            </a:pPr>
            <a:r>
              <a:rPr sz="1600" b="1" i="0" lang="en-GB">
                <a:solidFill>
                  <a:srgbClr val="0F2A44"/>
                </a:solidFill>
                <a:latin typeface="Aptos"/>
                <a:ea typeface="Aptos"/>
                <a:cs typeface="Dubai"/>
              </a:rPr>
              <a:t>Every search on record</a:t>
            </a:r>
          </a:p>
        </p:txBody>
      </p:sp>
      <p:sp>
        <p:nvSpPr>
          <p:cNvPr id="25" name="TextBox 24"/>
          <p:cNvSpPr txBox="1"/>
          <p:nvPr/>
        </p:nvSpPr>
        <p:spPr>
          <a:xfrm>
            <a:off x="5248655" y="3264408"/>
            <a:ext cx="1728216" cy="329184"/>
          </a:xfrm>
          <a:prstGeom prst="rect">
            <a:avLst/>
          </a:prstGeom>
          <a:noFill/>
        </p:spPr>
        <p:txBody>
          <a:bodyPr wrap="square" lIns="0" tIns="0" rIns="0" bIns="0" anchor="t">
            <a:noAutofit/>
          </a:bodyPr>
          <a:lstStyle/>
          <a:p>
            <a:pPr algn="l" rtl="1">
              <a:spcBef>
                <a:spcPts val="0"/>
              </a:spcBef>
              <a:spcAft>
                <a:spcPts val="0"/>
              </a:spcAft>
            </a:pPr>
            <a:r>
              <a:rPr sz="1150" b="1" i="0" lang="ar-JO">
                <a:solidFill>
                  <a:srgbClr val="0E7C7B"/>
                </a:solidFill>
                <a:latin typeface="Aptos"/>
                <a:ea typeface="Aptos"/>
                <a:cs typeface="Dubai"/>
              </a:rPr>
              <a:t>سجل تدقيق</a:t>
            </a:r>
          </a:p>
        </p:txBody>
      </p:sp>
      <p:sp>
        <p:nvSpPr>
          <p:cNvPr id="26" name="TextBox 25"/>
          <p:cNvSpPr txBox="1"/>
          <p:nvPr/>
        </p:nvSpPr>
        <p:spPr>
          <a:xfrm>
            <a:off x="5248655" y="3657600"/>
            <a:ext cx="1728216" cy="1691640"/>
          </a:xfrm>
          <a:prstGeom prst="rect">
            <a:avLst/>
          </a:prstGeom>
          <a:noFill/>
        </p:spPr>
        <p:txBody>
          <a:bodyPr wrap="square" lIns="0" tIns="0" rIns="0" bIns="0" anchor="t">
            <a:noAutofit/>
          </a:bodyPr>
          <a:lstStyle/>
          <a:p>
            <a:pPr algn="l">
              <a:spcBef>
                <a:spcPts val="0"/>
              </a:spcBef>
              <a:spcAft>
                <a:spcPts val="0"/>
              </a:spcAft>
            </a:pPr>
            <a:r>
              <a:rPr sz="1300" b="0" i="0" lang="en-GB">
                <a:solidFill>
                  <a:srgbClr val="1F2937"/>
                </a:solidFill>
                <a:latin typeface="Aptos"/>
                <a:ea typeface="Aptos"/>
                <a:cs typeface="Dubai"/>
              </a:rPr>
              <a:t>A case number for each search and an append-only log: who searched, the exact query, what they opened.</a:t>
            </a:r>
          </a:p>
        </p:txBody>
      </p:sp>
      <p:sp>
        <p:nvSpPr>
          <p:cNvPr id="27" name="Rounded Rectangle 26"/>
          <p:cNvSpPr/>
          <p:nvPr/>
        </p:nvSpPr>
        <p:spPr>
          <a:xfrm>
            <a:off x="7296912" y="1783080"/>
            <a:ext cx="2093976" cy="3611880"/>
          </a:xfrm>
          <a:prstGeom prst="roundRect">
            <a:avLst>
              <a:gd name="adj" fmla="val 5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296912" y="1783080"/>
            <a:ext cx="2093976" cy="7315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498079" y="2057400"/>
            <a:ext cx="502920" cy="502920"/>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1500" b="1" i="0" lang="en-GB">
                <a:solidFill>
                  <a:srgbClr val="FFFFFF"/>
                </a:solidFill>
                <a:latin typeface="Aptos"/>
                <a:ea typeface="Aptos"/>
                <a:cs typeface="Dubai"/>
              </a:rPr>
              <a:t>4</a:t>
            </a:r>
          </a:p>
        </p:txBody>
      </p:sp>
      <p:sp>
        <p:nvSpPr>
          <p:cNvPr id="30" name="TextBox 29"/>
          <p:cNvSpPr txBox="1"/>
          <p:nvPr/>
        </p:nvSpPr>
        <p:spPr>
          <a:xfrm>
            <a:off x="7498079" y="2697480"/>
            <a:ext cx="1728216" cy="566928"/>
          </a:xfrm>
          <a:prstGeom prst="rect">
            <a:avLst/>
          </a:prstGeom>
          <a:noFill/>
        </p:spPr>
        <p:txBody>
          <a:bodyPr wrap="square" lIns="0" tIns="0" rIns="0" bIns="0" anchor="t">
            <a:noAutofit/>
          </a:bodyPr>
          <a:lstStyle/>
          <a:p>
            <a:pPr algn="l">
              <a:lnSpc>
                <a:spcPct val="95000"/>
              </a:lnSpc>
              <a:spcBef>
                <a:spcPts val="0"/>
              </a:spcBef>
              <a:spcAft>
                <a:spcPts val="0"/>
              </a:spcAft>
            </a:pPr>
            <a:r>
              <a:rPr sz="1600" b="1" i="0" lang="en-GB">
                <a:solidFill>
                  <a:srgbClr val="0F2A44"/>
                </a:solidFill>
                <a:latin typeface="Aptos"/>
                <a:ea typeface="Aptos"/>
                <a:cs typeface="Dubai"/>
              </a:rPr>
              <a:t>Data stays in Jordan</a:t>
            </a:r>
          </a:p>
        </p:txBody>
      </p:sp>
      <p:sp>
        <p:nvSpPr>
          <p:cNvPr id="31" name="TextBox 30"/>
          <p:cNvSpPr txBox="1"/>
          <p:nvPr/>
        </p:nvSpPr>
        <p:spPr>
          <a:xfrm>
            <a:off x="7498079" y="3264408"/>
            <a:ext cx="1728216" cy="329184"/>
          </a:xfrm>
          <a:prstGeom prst="rect">
            <a:avLst/>
          </a:prstGeom>
          <a:noFill/>
        </p:spPr>
        <p:txBody>
          <a:bodyPr wrap="square" lIns="0" tIns="0" rIns="0" bIns="0" anchor="t">
            <a:noAutofit/>
          </a:bodyPr>
          <a:lstStyle/>
          <a:p>
            <a:pPr algn="l" rtl="1">
              <a:spcBef>
                <a:spcPts val="0"/>
              </a:spcBef>
              <a:spcAft>
                <a:spcPts val="0"/>
              </a:spcAft>
            </a:pPr>
            <a:r>
              <a:rPr sz="1150" b="1" i="0" lang="ar-JO">
                <a:solidFill>
                  <a:srgbClr val="0E7C7B"/>
                </a:solidFill>
                <a:latin typeface="Aptos"/>
                <a:ea typeface="Aptos"/>
                <a:cs typeface="Dubai"/>
              </a:rPr>
              <a:t>البيانات داخل الأردن</a:t>
            </a:r>
          </a:p>
        </p:txBody>
      </p:sp>
      <p:sp>
        <p:nvSpPr>
          <p:cNvPr id="32" name="TextBox 31"/>
          <p:cNvSpPr txBox="1"/>
          <p:nvPr/>
        </p:nvSpPr>
        <p:spPr>
          <a:xfrm>
            <a:off x="7498079" y="3657600"/>
            <a:ext cx="1728216" cy="1691640"/>
          </a:xfrm>
          <a:prstGeom prst="rect">
            <a:avLst/>
          </a:prstGeom>
          <a:noFill/>
        </p:spPr>
        <p:txBody>
          <a:bodyPr wrap="square" lIns="0" tIns="0" rIns="0" bIns="0" anchor="t">
            <a:noAutofit/>
          </a:bodyPr>
          <a:lstStyle/>
          <a:p>
            <a:pPr algn="l">
              <a:spcBef>
                <a:spcPts val="0"/>
              </a:spcBef>
              <a:spcAft>
                <a:spcPts val="0"/>
              </a:spcAft>
            </a:pPr>
            <a:r>
              <a:rPr sz="1300" b="0" i="0" lang="en-GB">
                <a:solidFill>
                  <a:srgbClr val="1F2937"/>
                </a:solidFill>
                <a:latin typeface="Aptos"/>
                <a:ea typeface="Aptos"/>
                <a:cs typeface="Dubai"/>
              </a:rPr>
              <a:t>Models run locally. The PoC sends nothing to any cloud AI service.</a:t>
            </a:r>
          </a:p>
        </p:txBody>
      </p:sp>
      <p:sp>
        <p:nvSpPr>
          <p:cNvPr id="33" name="Rounded Rectangle 32"/>
          <p:cNvSpPr/>
          <p:nvPr/>
        </p:nvSpPr>
        <p:spPr>
          <a:xfrm>
            <a:off x="9546336" y="1783080"/>
            <a:ext cx="2093976" cy="3611880"/>
          </a:xfrm>
          <a:prstGeom prst="roundRect">
            <a:avLst>
              <a:gd name="adj" fmla="val 5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46336" y="1783080"/>
            <a:ext cx="2093976" cy="7315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747504" y="2057400"/>
            <a:ext cx="502920" cy="502920"/>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1500" b="1" i="0" lang="en-GB">
                <a:solidFill>
                  <a:srgbClr val="FFFFFF"/>
                </a:solidFill>
                <a:latin typeface="Aptos"/>
                <a:ea typeface="Aptos"/>
                <a:cs typeface="Dubai"/>
              </a:rPr>
              <a:t>5</a:t>
            </a:r>
          </a:p>
        </p:txBody>
      </p:sp>
      <p:sp>
        <p:nvSpPr>
          <p:cNvPr id="36" name="TextBox 35"/>
          <p:cNvSpPr txBox="1"/>
          <p:nvPr/>
        </p:nvSpPr>
        <p:spPr>
          <a:xfrm>
            <a:off x="9747504" y="2697480"/>
            <a:ext cx="1728216" cy="566928"/>
          </a:xfrm>
          <a:prstGeom prst="rect">
            <a:avLst/>
          </a:prstGeom>
          <a:noFill/>
        </p:spPr>
        <p:txBody>
          <a:bodyPr wrap="square" lIns="0" tIns="0" rIns="0" bIns="0" anchor="t">
            <a:noAutofit/>
          </a:bodyPr>
          <a:lstStyle/>
          <a:p>
            <a:pPr algn="l">
              <a:lnSpc>
                <a:spcPct val="95000"/>
              </a:lnSpc>
              <a:spcBef>
                <a:spcPts val="0"/>
              </a:spcBef>
              <a:spcAft>
                <a:spcPts val="0"/>
              </a:spcAft>
            </a:pPr>
            <a:r>
              <a:rPr sz="1600" b="1" i="0" lang="en-GB">
                <a:solidFill>
                  <a:srgbClr val="0F2A44"/>
                </a:solidFill>
                <a:latin typeface="Aptos"/>
                <a:ea typeface="Aptos"/>
                <a:cs typeface="Dubai"/>
              </a:rPr>
              <a:t>Jordan's data law (PDPL)</a:t>
            </a:r>
          </a:p>
        </p:txBody>
      </p:sp>
      <p:sp>
        <p:nvSpPr>
          <p:cNvPr id="37" name="TextBox 36"/>
          <p:cNvSpPr txBox="1"/>
          <p:nvPr/>
        </p:nvSpPr>
        <p:spPr>
          <a:xfrm>
            <a:off x="9747504" y="3264408"/>
            <a:ext cx="1728216" cy="329184"/>
          </a:xfrm>
          <a:prstGeom prst="rect">
            <a:avLst/>
          </a:prstGeom>
          <a:noFill/>
        </p:spPr>
        <p:txBody>
          <a:bodyPr wrap="square" lIns="0" tIns="0" rIns="0" bIns="0" anchor="t">
            <a:noAutofit/>
          </a:bodyPr>
          <a:lstStyle/>
          <a:p>
            <a:pPr algn="l" rtl="1">
              <a:spcBef>
                <a:spcPts val="0"/>
              </a:spcBef>
              <a:spcAft>
                <a:spcPts val="0"/>
              </a:spcAft>
            </a:pPr>
            <a:r>
              <a:rPr sz="1150" b="1" i="0" lang="ar-JO">
                <a:solidFill>
                  <a:srgbClr val="0E7C7B"/>
                </a:solidFill>
                <a:latin typeface="Aptos"/>
                <a:ea typeface="Aptos"/>
                <a:cs typeface="Dubai"/>
              </a:rPr>
              <a:t>قانون حماية البيانات الشخصية</a:t>
            </a:r>
          </a:p>
        </p:txBody>
      </p:sp>
      <p:sp>
        <p:nvSpPr>
          <p:cNvPr id="38" name="TextBox 37"/>
          <p:cNvSpPr txBox="1"/>
          <p:nvPr/>
        </p:nvSpPr>
        <p:spPr>
          <a:xfrm>
            <a:off x="9747504" y="3657600"/>
            <a:ext cx="1728216" cy="1691640"/>
          </a:xfrm>
          <a:prstGeom prst="rect">
            <a:avLst/>
          </a:prstGeom>
          <a:noFill/>
        </p:spPr>
        <p:txBody>
          <a:bodyPr wrap="square" lIns="0" tIns="0" rIns="0" bIns="0" anchor="t">
            <a:noAutofit/>
          </a:bodyPr>
          <a:lstStyle/>
          <a:p>
            <a:pPr algn="l">
              <a:spcBef>
                <a:spcPts val="0"/>
              </a:spcBef>
              <a:spcAft>
                <a:spcPts val="0"/>
              </a:spcAft>
            </a:pPr>
            <a:r>
              <a:rPr sz="1300" b="0" i="0" lang="en-GB">
                <a:solidFill>
                  <a:srgbClr val="1F2937"/>
                </a:solidFill>
                <a:latin typeface="Aptos"/>
                <a:ea typeface="Aptos"/>
                <a:cs typeface="Dubai"/>
              </a:rPr>
              <a:t>Law No. 24 of 2023: CCTV is personal data; consent or a legal exception; transfers abroad restricted; breaches reported within 72 hours.</a:t>
            </a:r>
          </a:p>
        </p:txBody>
      </p:sp>
      <p:sp>
        <p:nvSpPr>
          <p:cNvPr id="39" name="Rounded Rectangle 38"/>
          <p:cNvSpPr/>
          <p:nvPr/>
        </p:nvSpPr>
        <p:spPr>
          <a:xfrm>
            <a:off x="548640" y="5559552"/>
            <a:ext cx="11091672" cy="713232"/>
          </a:xfrm>
          <a:prstGeom prst="roundRect">
            <a:avLst>
              <a:gd name="adj" fmla="val 8000"/>
            </a:avLst>
          </a:prstGeom>
          <a:solidFill>
            <a:srgbClr val="FDF1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46304" rIns="182880" bIns="146304">
            <a:noAutofit/>
          </a:bodyPr>
          <a:lstStyle/>
          <a:p>
            <a:pPr algn="l">
              <a:spcBef>
                <a:spcPts val="0"/>
              </a:spcBef>
              <a:spcAft>
                <a:spcPts val="0"/>
              </a:spcAft>
            </a:pPr>
            <a:r>
              <a:rPr sz="1300" b="1" i="0" lang="en-GB">
                <a:solidFill>
                  <a:srgbClr val="B45F06"/>
                </a:solidFill>
                <a:latin typeface="Aptos"/>
                <a:ea typeface="Aptos"/>
                <a:cs typeface="Dubai"/>
              </a:rPr>
              <a:t>Also: </a:t>
            </a:r>
            <a:r>
              <a:rPr sz="1300" b="0" i="0" lang="en-GB">
                <a:solidFill>
                  <a:srgbClr val="1F2937"/>
                </a:solidFill>
                <a:latin typeface="Aptos"/>
                <a:ea typeface="Aptos"/>
                <a:cs typeface="Dubai"/>
              </a:rPr>
              <a:t>the search index is deleted with the footage, other people's faces are blurred in exports, and an impact assessment comes before any pilot on real footage. Not legal advice: a Jordanian lawyer reviews first.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548640" y="6419088"/>
            <a:ext cx="11094415" cy="0"/>
          </a:xfrm>
          <a:prstGeom prst="line">
            <a:avLst/>
          </a:prstGeom>
          <a:ln w="12700">
            <a:solidFill>
              <a:srgbClr val="D5DBE1"/>
            </a:solidFill>
          </a:ln>
        </p:spPr>
      </p:cxnSp>
      <p:sp>
        <p:nvSpPr>
          <p:cNvPr id="4" name="TextBox 3"/>
          <p:cNvSpPr txBox="1"/>
          <p:nvPr/>
        </p:nvSpPr>
        <p:spPr>
          <a:xfrm>
            <a:off x="548640" y="6473952"/>
            <a:ext cx="7315200" cy="274320"/>
          </a:xfrm>
          <a:prstGeom prst="rect">
            <a:avLst/>
          </a:prstGeom>
          <a:noFill/>
        </p:spPr>
        <p:txBody>
          <a:bodyPr wrap="square" lIns="0" tIns="0" rIns="0" bIns="0" anchor="t">
            <a:noAutofit/>
          </a:bodyPr>
          <a:lstStyle/>
          <a:p>
            <a:pPr algn="l">
              <a:spcBef>
                <a:spcPts val="0"/>
              </a:spcBef>
              <a:spcAft>
                <a:spcPts val="0"/>
              </a:spcAft>
            </a:pPr>
            <a:r>
              <a:rPr sz="1000" b="0" i="0" lang="en-GB">
                <a:solidFill>
                  <a:srgbClr val="5B6573"/>
                </a:solidFill>
                <a:latin typeface="Aptos"/>
                <a:ea typeface="Aptos"/>
                <a:cs typeface="Dubai"/>
              </a:rPr>
              <a:t>Arabic AI Video Search  ·  PoC use cases</a:t>
            </a:r>
          </a:p>
        </p:txBody>
      </p:sp>
      <p:sp>
        <p:nvSpPr>
          <p:cNvPr id="5" name="TextBox 4"/>
          <p:cNvSpPr txBox="1"/>
          <p:nvPr/>
        </p:nvSpPr>
        <p:spPr>
          <a:xfrm>
            <a:off x="9814255" y="6473952"/>
            <a:ext cx="1828800" cy="274320"/>
          </a:xfrm>
          <a:prstGeom prst="rect">
            <a:avLst/>
          </a:prstGeom>
          <a:noFill/>
        </p:spPr>
        <p:txBody>
          <a:bodyPr wrap="square" lIns="0" tIns="0" rIns="0" bIns="0" anchor="t">
            <a:noAutofit/>
          </a:bodyPr>
          <a:lstStyle/>
          <a:p>
            <a:pPr algn="r">
              <a:spcBef>
                <a:spcPts val="0"/>
              </a:spcBef>
              <a:spcAft>
                <a:spcPts val="0"/>
              </a:spcAft>
            </a:pPr>
            <a:r>
              <a:rPr sz="1000" b="0" i="0" lang="en-GB">
                <a:solidFill>
                  <a:srgbClr val="5B6573"/>
                </a:solidFill>
                <a:latin typeface="Aptos"/>
                <a:ea typeface="Aptos"/>
                <a:cs typeface="Dubai"/>
              </a:rPr>
              <a:t>5 / 5</a:t>
            </a:r>
          </a:p>
        </p:txBody>
      </p:sp>
      <p:sp>
        <p:nvSpPr>
          <p:cNvPr id="6" name="TextBox 5"/>
          <p:cNvSpPr txBox="1"/>
          <p:nvPr/>
        </p:nvSpPr>
        <p:spPr>
          <a:xfrm>
            <a:off x="548640" y="347472"/>
            <a:ext cx="7680960" cy="292608"/>
          </a:xfrm>
          <a:prstGeom prst="rect">
            <a:avLst/>
          </a:prstGeom>
          <a:noFill/>
        </p:spPr>
        <p:txBody>
          <a:bodyPr wrap="square" lIns="0" tIns="0" rIns="0" bIns="0" anchor="t">
            <a:noAutofit/>
          </a:bodyPr>
          <a:lstStyle/>
          <a:p>
            <a:pPr algn="l">
              <a:spcBef>
                <a:spcPts val="0"/>
              </a:spcBef>
              <a:spcAft>
                <a:spcPts val="0"/>
              </a:spcAft>
            </a:pPr>
            <a:r>
              <a:rPr sz="1200" b="1" i="0" lang="en-GB">
                <a:solidFill>
                  <a:srgbClr val="0E7C7B"/>
                </a:solidFill>
                <a:latin typeface="Aptos"/>
                <a:ea typeface="Aptos"/>
                <a:cs typeface="Dubai"/>
              </a:rPr>
              <a:t>THE DEMO</a:t>
            </a:r>
          </a:p>
        </p:txBody>
      </p:sp>
      <p:sp>
        <p:nvSpPr>
          <p:cNvPr id="7" name="TextBox 6"/>
          <p:cNvSpPr txBox="1"/>
          <p:nvPr/>
        </p:nvSpPr>
        <p:spPr>
          <a:xfrm>
            <a:off x="7802575" y="274320"/>
            <a:ext cx="3840480" cy="411480"/>
          </a:xfrm>
          <a:prstGeom prst="rect">
            <a:avLst/>
          </a:prstGeom>
          <a:noFill/>
        </p:spPr>
        <p:txBody>
          <a:bodyPr wrap="square" lIns="0" tIns="0" rIns="0" bIns="0" anchor="t">
            <a:noAutofit/>
          </a:bodyPr>
          <a:lstStyle/>
          <a:p>
            <a:pPr algn="r" rtl="1">
              <a:spcBef>
                <a:spcPts val="0"/>
              </a:spcBef>
              <a:spcAft>
                <a:spcPts val="0"/>
              </a:spcAft>
            </a:pPr>
            <a:r>
              <a:rPr sz="1800" b="1" i="0" lang="ar-JO">
                <a:solidFill>
                  <a:srgbClr val="0E7C7B"/>
                </a:solidFill>
                <a:latin typeface="Aptos"/>
                <a:ea typeface="Aptos"/>
                <a:cs typeface="Dubai"/>
              </a:rPr>
              <a:t>العرض التجريبي</a:t>
            </a:r>
          </a:p>
        </p:txBody>
      </p:sp>
      <p:sp>
        <p:nvSpPr>
          <p:cNvPr id="8" name="TextBox 7"/>
          <p:cNvSpPr txBox="1"/>
          <p:nvPr/>
        </p:nvSpPr>
        <p:spPr>
          <a:xfrm>
            <a:off x="548640" y="658368"/>
            <a:ext cx="11064240" cy="914400"/>
          </a:xfrm>
          <a:prstGeom prst="rect">
            <a:avLst/>
          </a:prstGeom>
          <a:noFill/>
        </p:spPr>
        <p:txBody>
          <a:bodyPr wrap="square" lIns="0" tIns="0" rIns="0" bIns="0" anchor="t">
            <a:noAutofit/>
          </a:bodyPr>
          <a:lstStyle/>
          <a:p>
            <a:pPr algn="l">
              <a:lnSpc>
                <a:spcPct val="95000"/>
              </a:lnSpc>
              <a:spcBef>
                <a:spcPts val="0"/>
              </a:spcBef>
              <a:spcAft>
                <a:spcPts val="0"/>
              </a:spcAft>
            </a:pPr>
            <a:r>
              <a:rPr sz="2800" b="1" i="0" lang="en-GB">
                <a:solidFill>
                  <a:srgbClr val="0F2A44"/>
                </a:solidFill>
                <a:latin typeface="Aptos"/>
                <a:ea typeface="Aptos"/>
                <a:cs typeface="Dubai"/>
              </a:rPr>
              <a:t>What you will see live: search in Arabic, check the clips, decide</a:t>
            </a:r>
          </a:p>
        </p:txBody>
      </p:sp>
      <p:sp>
        <p:nvSpPr>
          <p:cNvPr id="9" name="Oval 8"/>
          <p:cNvSpPr/>
          <p:nvPr/>
        </p:nvSpPr>
        <p:spPr>
          <a:xfrm>
            <a:off x="548640" y="1801368"/>
            <a:ext cx="384048" cy="384048"/>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1400" b="1" i="0" lang="en-GB">
                <a:solidFill>
                  <a:srgbClr val="FFFFFF"/>
                </a:solidFill>
                <a:latin typeface="Aptos"/>
                <a:ea typeface="Aptos"/>
                <a:cs typeface="Dubai"/>
              </a:rPr>
              <a:t>1</a:t>
            </a:r>
          </a:p>
        </p:txBody>
      </p:sp>
      <p:sp>
        <p:nvSpPr>
          <p:cNvPr id="10" name="TextBox 9"/>
          <p:cNvSpPr txBox="1"/>
          <p:nvPr/>
        </p:nvSpPr>
        <p:spPr>
          <a:xfrm>
            <a:off x="1097280" y="1783080"/>
            <a:ext cx="4297680" cy="713232"/>
          </a:xfrm>
          <a:prstGeom prst="rect">
            <a:avLst/>
          </a:prstGeom>
          <a:noFill/>
        </p:spPr>
        <p:txBody>
          <a:bodyPr wrap="square" lIns="0" tIns="0" rIns="0" bIns="0" anchor="t">
            <a:noAutofit/>
          </a:bodyPr>
          <a:lstStyle/>
          <a:p>
            <a:pPr algn="l">
              <a:spcBef>
                <a:spcPts val="0"/>
              </a:spcBef>
              <a:spcAft>
                <a:spcPts val="200"/>
              </a:spcAft>
            </a:pPr>
            <a:r>
              <a:rPr sz="1600" b="1" i="0" lang="en-GB">
                <a:solidFill>
                  <a:srgbClr val="0F2A44"/>
                </a:solidFill>
                <a:latin typeface="Aptos"/>
                <a:ea typeface="Aptos"/>
                <a:cs typeface="Dubai"/>
              </a:rPr>
              <a:t>Arabic first, English on one click</a:t>
            </a:r>
          </a:p>
          <a:p>
            <a:pPr algn="l">
              <a:spcBef>
                <a:spcPts val="0"/>
              </a:spcBef>
              <a:spcAft>
                <a:spcPts val="0"/>
              </a:spcAft>
            </a:pPr>
            <a:r>
              <a:rPr sz="1400" b="0" i="0" lang="en-GB">
                <a:solidFill>
                  <a:srgbClr val="1F2937"/>
                </a:solidFill>
                <a:latin typeface="Aptos"/>
                <a:ea typeface="Aptos"/>
                <a:cs typeface="Dubai"/>
              </a:rPr>
              <a:t>The page opens in Arabic. One button switches all of it to English.</a:t>
            </a:r>
          </a:p>
        </p:txBody>
      </p:sp>
      <p:sp>
        <p:nvSpPr>
          <p:cNvPr id="11" name="Oval 10"/>
          <p:cNvSpPr/>
          <p:nvPr/>
        </p:nvSpPr>
        <p:spPr>
          <a:xfrm>
            <a:off x="548640" y="2697479"/>
            <a:ext cx="384048" cy="384048"/>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1400" b="1" i="0" lang="en-GB">
                <a:solidFill>
                  <a:srgbClr val="FFFFFF"/>
                </a:solidFill>
                <a:latin typeface="Aptos"/>
                <a:ea typeface="Aptos"/>
                <a:cs typeface="Dubai"/>
              </a:rPr>
              <a:t>2</a:t>
            </a:r>
          </a:p>
        </p:txBody>
      </p:sp>
      <p:sp>
        <p:nvSpPr>
          <p:cNvPr id="12" name="TextBox 11"/>
          <p:cNvSpPr txBox="1"/>
          <p:nvPr/>
        </p:nvSpPr>
        <p:spPr>
          <a:xfrm>
            <a:off x="1097280" y="2679191"/>
            <a:ext cx="4297680" cy="713232"/>
          </a:xfrm>
          <a:prstGeom prst="rect">
            <a:avLst/>
          </a:prstGeom>
          <a:noFill/>
        </p:spPr>
        <p:txBody>
          <a:bodyPr wrap="square" lIns="0" tIns="0" rIns="0" bIns="0" anchor="t">
            <a:noAutofit/>
          </a:bodyPr>
          <a:lstStyle/>
          <a:p>
            <a:pPr algn="l">
              <a:spcBef>
                <a:spcPts val="0"/>
              </a:spcBef>
              <a:spcAft>
                <a:spcPts val="200"/>
              </a:spcAft>
            </a:pPr>
            <a:r>
              <a:rPr sz="1600" b="1" i="0" lang="en-GB">
                <a:solidFill>
                  <a:srgbClr val="0F2A44"/>
                </a:solidFill>
                <a:latin typeface="Aptos"/>
                <a:ea typeface="Aptos"/>
                <a:cs typeface="Dubai"/>
              </a:rPr>
              <a:t>Clips with camera, place and time</a:t>
            </a:r>
          </a:p>
          <a:p>
            <a:pPr algn="l">
              <a:spcBef>
                <a:spcPts val="0"/>
              </a:spcBef>
              <a:spcAft>
                <a:spcPts val="0"/>
              </a:spcAft>
            </a:pPr>
            <a:r>
              <a:rPr sz="1400" b="0" i="0" lang="en-GB">
                <a:solidFill>
                  <a:srgbClr val="1F2937"/>
                </a:solidFill>
                <a:latin typeface="Aptos"/>
                <a:ea typeface="Aptos"/>
                <a:cs typeface="Dubai"/>
              </a:rPr>
              <a:t>Each result plays at its moment and shows why it matched, detail by detail.</a:t>
            </a:r>
          </a:p>
        </p:txBody>
      </p:sp>
      <p:sp>
        <p:nvSpPr>
          <p:cNvPr id="13" name="Oval 12"/>
          <p:cNvSpPr/>
          <p:nvPr/>
        </p:nvSpPr>
        <p:spPr>
          <a:xfrm>
            <a:off x="548640" y="3593591"/>
            <a:ext cx="384048" cy="384048"/>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1400" b="1" i="0" lang="en-GB">
                <a:solidFill>
                  <a:srgbClr val="FFFFFF"/>
                </a:solidFill>
                <a:latin typeface="Aptos"/>
                <a:ea typeface="Aptos"/>
                <a:cs typeface="Dubai"/>
              </a:rPr>
              <a:t>3</a:t>
            </a:r>
          </a:p>
        </p:txBody>
      </p:sp>
      <p:sp>
        <p:nvSpPr>
          <p:cNvPr id="14" name="TextBox 13"/>
          <p:cNvSpPr txBox="1"/>
          <p:nvPr/>
        </p:nvSpPr>
        <p:spPr>
          <a:xfrm>
            <a:off x="1097280" y="3575303"/>
            <a:ext cx="4297680" cy="713232"/>
          </a:xfrm>
          <a:prstGeom prst="rect">
            <a:avLst/>
          </a:prstGeom>
          <a:noFill/>
        </p:spPr>
        <p:txBody>
          <a:bodyPr wrap="square" lIns="0" tIns="0" rIns="0" bIns="0" anchor="t">
            <a:noAutofit/>
          </a:bodyPr>
          <a:lstStyle/>
          <a:p>
            <a:pPr algn="l">
              <a:spcBef>
                <a:spcPts val="0"/>
              </a:spcBef>
              <a:spcAft>
                <a:spcPts val="200"/>
              </a:spcAft>
            </a:pPr>
            <a:r>
              <a:rPr sz="1600" b="1" i="0" lang="en-GB">
                <a:solidFill>
                  <a:srgbClr val="0F2A44"/>
                </a:solidFill>
                <a:latin typeface="Aptos"/>
                <a:ea typeface="Aptos"/>
                <a:cs typeface="Dubai"/>
              </a:rPr>
              <a:t>A second look by a vision model</a:t>
            </a:r>
          </a:p>
          <a:p>
            <a:pPr algn="l">
              <a:spcBef>
                <a:spcPts val="0"/>
              </a:spcBef>
              <a:spcAft>
                <a:spcPts val="0"/>
              </a:spcAft>
            </a:pPr>
            <a:r>
              <a:rPr sz="1400" b="0" i="0" lang="en-GB">
                <a:solidFill>
                  <a:srgbClr val="1F2937"/>
                </a:solidFill>
                <a:latin typeface="Aptos"/>
                <a:ea typeface="Aptos"/>
                <a:cs typeface="Dubai"/>
              </a:rPr>
              <a:t>Seconds later it double-checks the top results: confirmed ones move up, rejected ones down.</a:t>
            </a:r>
          </a:p>
        </p:txBody>
      </p:sp>
      <p:sp>
        <p:nvSpPr>
          <p:cNvPr id="15" name="Oval 14"/>
          <p:cNvSpPr/>
          <p:nvPr/>
        </p:nvSpPr>
        <p:spPr>
          <a:xfrm>
            <a:off x="548640" y="4489703"/>
            <a:ext cx="384048" cy="384048"/>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Bef>
                <a:spcPts val="0"/>
              </a:spcBef>
              <a:spcAft>
                <a:spcPts val="0"/>
              </a:spcAft>
            </a:pPr>
            <a:r>
              <a:rPr sz="1400" b="1" i="0" lang="en-GB">
                <a:solidFill>
                  <a:srgbClr val="FFFFFF"/>
                </a:solidFill>
                <a:latin typeface="Aptos"/>
                <a:ea typeface="Aptos"/>
                <a:cs typeface="Dubai"/>
              </a:rPr>
              <a:t>4</a:t>
            </a:r>
          </a:p>
        </p:txBody>
      </p:sp>
      <p:sp>
        <p:nvSpPr>
          <p:cNvPr id="16" name="TextBox 15"/>
          <p:cNvSpPr txBox="1"/>
          <p:nvPr/>
        </p:nvSpPr>
        <p:spPr>
          <a:xfrm>
            <a:off x="1097280" y="4471416"/>
            <a:ext cx="4297680" cy="896112"/>
          </a:xfrm>
          <a:prstGeom prst="rect">
            <a:avLst/>
          </a:prstGeom>
          <a:noFill/>
        </p:spPr>
        <p:txBody>
          <a:bodyPr wrap="square" lIns="0" tIns="0" rIns="0" bIns="0" anchor="t">
            <a:noAutofit/>
          </a:bodyPr>
          <a:lstStyle/>
          <a:p>
            <a:pPr algn="l">
              <a:spcBef>
                <a:spcPts val="0"/>
              </a:spcBef>
              <a:spcAft>
                <a:spcPts val="200"/>
              </a:spcAft>
            </a:pPr>
            <a:r>
              <a:rPr sz="1600" b="1" i="0" lang="en-GB">
                <a:solidFill>
                  <a:srgbClr val="0F2A44"/>
                </a:solidFill>
                <a:latin typeface="Aptos"/>
                <a:ea typeface="Aptos"/>
                <a:cs typeface="Dubai"/>
              </a:rPr>
              <a:t>People decide, and every search is logged</a:t>
            </a:r>
          </a:p>
          <a:p>
            <a:pPr algn="l">
              <a:spcBef>
                <a:spcPts val="0"/>
              </a:spcBef>
              <a:spcAft>
                <a:spcPts val="0"/>
              </a:spcAft>
            </a:pPr>
            <a:r>
              <a:rPr sz="1400" b="0" i="0" lang="en-GB">
                <a:solidFill>
                  <a:srgbClr val="1F2937"/>
                </a:solidFill>
                <a:latin typeface="Aptos"/>
                <a:ea typeface="Aptos"/>
                <a:cs typeface="Dubai"/>
              </a:rPr>
              <a:t>The officer confirms or rejects each result. Every search and decision goes into a log that cannot be edited.</a:t>
            </a:r>
          </a:p>
        </p:txBody>
      </p:sp>
      <p:sp>
        <p:nvSpPr>
          <p:cNvPr id="17" name="Rounded Rectangle 16"/>
          <p:cNvSpPr/>
          <p:nvPr/>
        </p:nvSpPr>
        <p:spPr>
          <a:xfrm>
            <a:off x="5760720" y="1737360"/>
            <a:ext cx="5879592" cy="3794760"/>
          </a:xfrm>
          <a:prstGeom prst="roundRect">
            <a:avLst>
              <a:gd name="adj" fmla="val 3000"/>
            </a:avLst>
          </a:prstGeom>
          <a:solidFill>
            <a:srgbClr val="EEF1F4"/>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60720" y="1737360"/>
            <a:ext cx="5879592" cy="329184"/>
          </a:xfrm>
          <a:prstGeom prst="rect">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49440" y="1773936"/>
            <a:ext cx="4553712" cy="256032"/>
          </a:xfrm>
          <a:prstGeom prst="rect">
            <a:avLst/>
          </a:prstGeom>
          <a:noFill/>
        </p:spPr>
        <p:txBody>
          <a:bodyPr wrap="square" lIns="0" tIns="0" rIns="0" bIns="0" anchor="t">
            <a:noAutofit/>
          </a:bodyPr>
          <a:lstStyle/>
          <a:p>
            <a:pPr algn="r" rtl="1">
              <a:spcBef>
                <a:spcPts val="0"/>
              </a:spcBef>
              <a:spcAft>
                <a:spcPts val="0"/>
              </a:spcAft>
            </a:pPr>
            <a:r>
              <a:rPr sz="1200" b="1" i="0" lang="ar-JO">
                <a:solidFill>
                  <a:srgbClr val="FFFFFF"/>
                </a:solidFill>
                <a:latin typeface="Aptos"/>
                <a:ea typeface="Aptos"/>
                <a:cs typeface="Dubai"/>
              </a:rPr>
              <a:t>البحث الذكي في تسجيلات المراقبة</a:t>
            </a:r>
          </a:p>
        </p:txBody>
      </p:sp>
      <p:sp>
        <p:nvSpPr>
          <p:cNvPr id="20" name="Rounded Rectangle 19"/>
          <p:cNvSpPr/>
          <p:nvPr/>
        </p:nvSpPr>
        <p:spPr>
          <a:xfrm>
            <a:off x="5870448" y="1792224"/>
            <a:ext cx="868680" cy="219456"/>
          </a:xfrm>
          <a:prstGeom prst="roundRect">
            <a:avLst>
              <a:gd name="adj" fmla="val 50000"/>
            </a:avLst>
          </a:prstGeom>
          <a:solidFill>
            <a:srgbClr val="153A5C"/>
          </a:solidFill>
          <a:ln w="12700">
            <a:solidFill>
              <a:srgbClr val="7FD1C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4630" rIns="18288" bIns="14630">
            <a:noAutofit/>
          </a:bodyPr>
          <a:lstStyle/>
          <a:p>
            <a:pPr algn="ctr">
              <a:spcBef>
                <a:spcPts val="0"/>
              </a:spcBef>
              <a:spcAft>
                <a:spcPts val="0"/>
              </a:spcAft>
            </a:pPr>
            <a:r>
              <a:rPr sz="950" b="1" i="0" lang="en-GB">
                <a:solidFill>
                  <a:srgbClr val="FFFFFF"/>
                </a:solidFill>
                <a:latin typeface="Aptos"/>
                <a:ea typeface="Aptos"/>
                <a:cs typeface="Dubai"/>
              </a:rPr>
              <a:t>English</a:t>
            </a:r>
          </a:p>
        </p:txBody>
      </p:sp>
      <p:sp>
        <p:nvSpPr>
          <p:cNvPr id="21" name="TextBox 20"/>
          <p:cNvSpPr txBox="1"/>
          <p:nvPr/>
        </p:nvSpPr>
        <p:spPr>
          <a:xfrm>
            <a:off x="5943600" y="2139696"/>
            <a:ext cx="5513831" cy="237744"/>
          </a:xfrm>
          <a:prstGeom prst="rect">
            <a:avLst/>
          </a:prstGeom>
          <a:noFill/>
        </p:spPr>
        <p:txBody>
          <a:bodyPr wrap="square" lIns="0" tIns="0" rIns="0" bIns="0" anchor="t">
            <a:noAutofit/>
          </a:bodyPr>
          <a:lstStyle/>
          <a:p>
            <a:pPr algn="r" rtl="1">
              <a:spcBef>
                <a:spcPts val="0"/>
              </a:spcBef>
              <a:spcAft>
                <a:spcPts val="0"/>
              </a:spcAft>
            </a:pPr>
            <a:r>
              <a:rPr sz="1100" b="1" i="0" lang="ar-JO">
                <a:solidFill>
                  <a:srgbClr val="0E7C7B"/>
                </a:solidFill>
                <a:latin typeface="Aptos"/>
                <a:ea typeface="Aptos"/>
                <a:cs typeface="Dubai"/>
              </a:rPr>
              <a:t>البحث</a:t>
            </a:r>
            <a:r>
              <a:rPr sz="1100" b="0" i="0" lang="ar-JO">
                <a:solidFill>
                  <a:srgbClr val="5B6573"/>
                </a:solidFill>
                <a:latin typeface="Aptos"/>
                <a:ea typeface="Aptos"/>
                <a:cs typeface="Dubai"/>
              </a:rPr>
              <a:t>     التسجيلات     سجل التدقيق</a:t>
            </a:r>
          </a:p>
        </p:txBody>
      </p:sp>
      <p:sp>
        <p:nvSpPr>
          <p:cNvPr id="22" name="Rounded Rectangle 21"/>
          <p:cNvSpPr/>
          <p:nvPr/>
        </p:nvSpPr>
        <p:spPr>
          <a:xfrm>
            <a:off x="6858000" y="2432304"/>
            <a:ext cx="4599431" cy="438912"/>
          </a:xfrm>
          <a:prstGeom prst="roundRect">
            <a:avLst>
              <a:gd name="adj" fmla="val 20000"/>
            </a:avLst>
          </a:prstGeom>
          <a:solidFill>
            <a:srgbClr val="FFFFFF"/>
          </a:solidFill>
          <a:ln w="15875">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87782" rIns="109728" bIns="87782">
            <a:noAutofit/>
          </a:bodyPr>
          <a:lstStyle/>
          <a:p>
            <a:pPr algn="r" rtl="1">
              <a:spcBef>
                <a:spcPts val="0"/>
              </a:spcBef>
              <a:spcAft>
                <a:spcPts val="0"/>
              </a:spcAft>
            </a:pPr>
            <a:r>
              <a:rPr sz="1500" b="1" i="0" lang="ar-JO">
                <a:solidFill>
                  <a:srgbClr val="0F2A44"/>
                </a:solidFill>
                <a:latin typeface="Aptos"/>
                <a:ea typeface="Aptos"/>
                <a:cs typeface="Dubai"/>
              </a:rPr>
              <a:t>امراة تلبس جاكيت سكني او ابيض</a:t>
            </a:r>
          </a:p>
        </p:txBody>
      </p:sp>
      <p:sp>
        <p:nvSpPr>
          <p:cNvPr id="23" name="Rounded Rectangle 22"/>
          <p:cNvSpPr/>
          <p:nvPr/>
        </p:nvSpPr>
        <p:spPr>
          <a:xfrm>
            <a:off x="5943600" y="2432304"/>
            <a:ext cx="822960" cy="438912"/>
          </a:xfrm>
          <a:prstGeom prst="roundRect">
            <a:avLst>
              <a:gd name="adj" fmla="val 20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29260" rIns="36576" bIns="29260">
            <a:noAutofit/>
          </a:bodyPr>
          <a:lstStyle/>
          <a:p>
            <a:pPr algn="ctr" rtl="1">
              <a:spcBef>
                <a:spcPts val="0"/>
              </a:spcBef>
              <a:spcAft>
                <a:spcPts val="0"/>
              </a:spcAft>
            </a:pPr>
            <a:r>
              <a:rPr sz="1400" b="1" i="0" lang="ar-JO">
                <a:solidFill>
                  <a:srgbClr val="FFFFFF"/>
                </a:solidFill>
                <a:latin typeface="Aptos"/>
                <a:ea typeface="Aptos"/>
                <a:cs typeface="Dubai"/>
              </a:rPr>
              <a:t>ابحث</a:t>
            </a:r>
          </a:p>
        </p:txBody>
      </p:sp>
      <p:sp>
        <p:nvSpPr>
          <p:cNvPr id="24" name="TextBox 23"/>
          <p:cNvSpPr txBox="1"/>
          <p:nvPr/>
        </p:nvSpPr>
        <p:spPr>
          <a:xfrm>
            <a:off x="9189720" y="2980944"/>
            <a:ext cx="2267711" cy="274320"/>
          </a:xfrm>
          <a:prstGeom prst="rect">
            <a:avLst/>
          </a:prstGeom>
          <a:noFill/>
        </p:spPr>
        <p:txBody>
          <a:bodyPr wrap="square" lIns="0" tIns="0" rIns="0" bIns="0" anchor="t">
            <a:noAutofit/>
          </a:bodyPr>
          <a:lstStyle/>
          <a:p>
            <a:pPr algn="r" rtl="1">
              <a:spcBef>
                <a:spcPts val="0"/>
              </a:spcBef>
              <a:spcAft>
                <a:spcPts val="0"/>
              </a:spcAft>
            </a:pPr>
            <a:r>
              <a:rPr sz="1050" b="1" i="0" lang="ar-JO">
                <a:solidFill>
                  <a:srgbClr val="5B6573"/>
                </a:solidFill>
                <a:latin typeface="Aptos"/>
                <a:ea typeface="Aptos"/>
                <a:cs typeface="Dubai"/>
              </a:rPr>
              <a:t>فهمنا من الوصف:</a:t>
            </a:r>
          </a:p>
        </p:txBody>
      </p:sp>
      <p:sp>
        <p:nvSpPr>
          <p:cNvPr id="25" name="Rounded Rectangle 24"/>
          <p:cNvSpPr/>
          <p:nvPr/>
        </p:nvSpPr>
        <p:spPr>
          <a:xfrm>
            <a:off x="8339327" y="2962656"/>
            <a:ext cx="685800" cy="274320"/>
          </a:xfrm>
          <a:prstGeom prst="roundRect">
            <a:avLst>
              <a:gd name="adj" fmla="val 50000"/>
            </a:avLst>
          </a:prstGeom>
          <a:solidFill>
            <a:srgbClr val="E3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4630" rIns="18288" bIns="14630">
            <a:noAutofit/>
          </a:bodyPr>
          <a:lstStyle/>
          <a:p>
            <a:pPr algn="ctr" rtl="1">
              <a:spcBef>
                <a:spcPts val="0"/>
              </a:spcBef>
              <a:spcAft>
                <a:spcPts val="0"/>
              </a:spcAft>
            </a:pPr>
            <a:r>
              <a:rPr sz="1000" b="0" i="0" lang="ar-JO">
                <a:solidFill>
                  <a:srgbClr val="0F2A44"/>
                </a:solidFill>
                <a:latin typeface="Aptos"/>
                <a:ea typeface="Aptos"/>
                <a:cs typeface="Dubai"/>
              </a:rPr>
              <a:t>امرأة</a:t>
            </a:r>
          </a:p>
        </p:txBody>
      </p:sp>
      <p:sp>
        <p:nvSpPr>
          <p:cNvPr id="26" name="Rounded Rectangle 25"/>
          <p:cNvSpPr/>
          <p:nvPr/>
        </p:nvSpPr>
        <p:spPr>
          <a:xfrm>
            <a:off x="6848855" y="2962656"/>
            <a:ext cx="1417320" cy="274320"/>
          </a:xfrm>
          <a:prstGeom prst="roundRect">
            <a:avLst>
              <a:gd name="adj" fmla="val 50000"/>
            </a:avLst>
          </a:prstGeom>
          <a:solidFill>
            <a:srgbClr val="E3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4630" rIns="18288" bIns="14630">
            <a:noAutofit/>
          </a:bodyPr>
          <a:lstStyle/>
          <a:p>
            <a:pPr algn="ctr" rtl="1">
              <a:spcBef>
                <a:spcPts val="0"/>
              </a:spcBef>
              <a:spcAft>
                <a:spcPts val="0"/>
              </a:spcAft>
            </a:pPr>
            <a:r>
              <a:rPr sz="1000" b="0" i="0" lang="ar-JO">
                <a:solidFill>
                  <a:srgbClr val="0F2A44"/>
                </a:solidFill>
                <a:latin typeface="Aptos"/>
                <a:ea typeface="Aptos"/>
                <a:cs typeface="Dubai"/>
              </a:rPr>
              <a:t>سترة رمادي أو أبيض</a:t>
            </a:r>
          </a:p>
        </p:txBody>
      </p:sp>
      <p:sp>
        <p:nvSpPr>
          <p:cNvPr id="27" name="Rounded Rectangle 26"/>
          <p:cNvSpPr/>
          <p:nvPr/>
        </p:nvSpPr>
        <p:spPr>
          <a:xfrm>
            <a:off x="5943600" y="3346704"/>
            <a:ext cx="5513831" cy="640080"/>
          </a:xfrm>
          <a:prstGeom prst="roundRect">
            <a:avLst>
              <a:gd name="adj" fmla="val 6000"/>
            </a:avLst>
          </a:prstGeom>
          <a:solidFill>
            <a:srgbClr val="FFFFFF"/>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552176" y="3410712"/>
            <a:ext cx="832103" cy="512063"/>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552176" y="3728191"/>
            <a:ext cx="832103" cy="194584"/>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91700" y="3461918"/>
            <a:ext cx="79779" cy="79779"/>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847611" y="3550095"/>
            <a:ext cx="167956" cy="167956"/>
          </a:xfrm>
          <a:prstGeom prst="roundRect">
            <a:avLst>
              <a:gd name="adj" fmla="val 30000"/>
            </a:avLst>
          </a:prstGeom>
          <a:solidFill>
            <a:srgbClr val="E8E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868605" y="3705456"/>
            <a:ext cx="125967" cy="176354"/>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6551" y="3747445"/>
            <a:ext cx="10077" cy="134365"/>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035040" y="3639312"/>
            <a:ext cx="658368" cy="256032"/>
          </a:xfrm>
          <a:prstGeom prst="roundRect">
            <a:avLst>
              <a:gd name="adj" fmla="val 30000"/>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4630" rIns="18288" bIns="14630">
            <a:noAutofit/>
          </a:bodyPr>
          <a:lstStyle/>
          <a:p>
            <a:pPr algn="ctr" rtl="1">
              <a:spcBef>
                <a:spcPts val="0"/>
              </a:spcBef>
              <a:spcAft>
                <a:spcPts val="0"/>
              </a:spcAft>
            </a:pPr>
            <a:r>
              <a:rPr sz="950" b="1" i="0" lang="ar-JO">
                <a:solidFill>
                  <a:srgbClr val="0E7C7B"/>
                </a:solidFill>
                <a:latin typeface="Aptos"/>
                <a:ea typeface="Aptos"/>
                <a:cs typeface="Dubai"/>
              </a:rPr>
              <a:t>✓ تأكيد</a:t>
            </a:r>
          </a:p>
        </p:txBody>
      </p:sp>
      <p:sp>
        <p:nvSpPr>
          <p:cNvPr id="35" name="Rounded Rectangle 34"/>
          <p:cNvSpPr/>
          <p:nvPr/>
        </p:nvSpPr>
        <p:spPr>
          <a:xfrm>
            <a:off x="6748272" y="3639312"/>
            <a:ext cx="658368" cy="256032"/>
          </a:xfrm>
          <a:prstGeom prst="roundRect">
            <a:avLst>
              <a:gd name="adj" fmla="val 30000"/>
            </a:avLst>
          </a:prstGeom>
          <a:solidFill>
            <a:srgbClr val="FFFFFF"/>
          </a:solidFill>
          <a:ln w="12700">
            <a:solidFill>
              <a:srgbClr val="B45F0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4630" rIns="18288" bIns="14630">
            <a:noAutofit/>
          </a:bodyPr>
          <a:lstStyle/>
          <a:p>
            <a:pPr algn="ctr" rtl="1">
              <a:spcBef>
                <a:spcPts val="0"/>
              </a:spcBef>
              <a:spcAft>
                <a:spcPts val="0"/>
              </a:spcAft>
            </a:pPr>
            <a:r>
              <a:rPr sz="950" b="1" i="0" lang="ar-JO">
                <a:solidFill>
                  <a:srgbClr val="B45F06"/>
                </a:solidFill>
                <a:latin typeface="Aptos"/>
                <a:ea typeface="Aptos"/>
                <a:cs typeface="Dubai"/>
              </a:rPr>
              <a:t>✗ رفض</a:t>
            </a:r>
          </a:p>
        </p:txBody>
      </p:sp>
      <p:sp>
        <p:nvSpPr>
          <p:cNvPr id="36" name="TextBox 35"/>
          <p:cNvSpPr txBox="1"/>
          <p:nvPr/>
        </p:nvSpPr>
        <p:spPr>
          <a:xfrm>
            <a:off x="6035040" y="3401568"/>
            <a:ext cx="4407407" cy="228599"/>
          </a:xfrm>
          <a:prstGeom prst="rect">
            <a:avLst/>
          </a:prstGeom>
          <a:noFill/>
        </p:spPr>
        <p:txBody>
          <a:bodyPr wrap="square" lIns="0" tIns="0" rIns="0" bIns="0" anchor="t">
            <a:noAutofit/>
          </a:bodyPr>
          <a:lstStyle/>
          <a:p>
            <a:pPr algn="r" rtl="1">
              <a:spcBef>
                <a:spcPts val="0"/>
              </a:spcBef>
              <a:spcAft>
                <a:spcPts val="0"/>
              </a:spcAft>
            </a:pPr>
            <a:r>
              <a:rPr sz="1100" b="0" i="0" lang="ar-JO">
                <a:solidFill>
                  <a:srgbClr val="1F2937"/>
                </a:solidFill>
                <a:latin typeface="Aptos"/>
                <a:ea typeface="Aptos"/>
                <a:cs typeface="Dubai"/>
              </a:rPr>
              <a:t>صالة انتظار محطة الحافلات  ·  </a:t>
            </a:r>
            <a:r>
              <a:rPr sz="1100" b="1" i="0" lang="en-GB">
                <a:solidFill>
                  <a:srgbClr val="0F2A44"/>
                </a:solidFill>
                <a:latin typeface="Aptos"/>
                <a:ea typeface="Aptos"/>
                <a:cs typeface="Dubai"/>
              </a:rPr>
              <a:t>G331</a:t>
            </a:r>
          </a:p>
          <a:p>
            <a:pPr algn="r" rtl="1">
              <a:spcBef>
                <a:spcPts val="0"/>
              </a:spcBef>
              <a:spcAft>
                <a:spcPts val="0"/>
              </a:spcAft>
            </a:pPr>
            <a:r>
              <a:rPr sz="1000" b="0" i="0" lang="en-GB">
                <a:solidFill>
                  <a:srgbClr val="5B6573"/>
                </a:solidFill>
                <a:latin typeface="Aptos"/>
                <a:ea typeface="Aptos"/>
                <a:cs typeface="Dubai"/>
              </a:rPr>
              <a:t>17:00:41</a:t>
            </a:r>
            <a:r>
              <a:rPr sz="1000" b="1" i="0" lang="ar-JO">
                <a:solidFill>
                  <a:srgbClr val="0E7C7B"/>
                </a:solidFill>
                <a:latin typeface="Aptos"/>
                <a:ea typeface="Aptos"/>
                <a:cs typeface="Dubai"/>
              </a:rPr>
              <a:t>   ✓ امرأة  ✓ سترة</a:t>
            </a:r>
          </a:p>
          <a:p>
            <a:pPr algn="r" rtl="1">
              <a:spcBef>
                <a:spcPts val="0"/>
              </a:spcBef>
              <a:spcAft>
                <a:spcPts val="0"/>
              </a:spcAft>
            </a:pPr>
            <a:r>
              <a:rPr sz="1000" b="1" i="0" lang="ar-JO">
                <a:solidFill>
                  <a:srgbClr val="0E7C7B"/>
                </a:solidFill>
                <a:latin typeface="Aptos"/>
                <a:ea typeface="Aptos"/>
                <a:cs typeface="Dubai"/>
              </a:rPr>
              <a:t>✓ أكّد النموذج البصري</a:t>
            </a:r>
          </a:p>
        </p:txBody>
      </p:sp>
      <p:sp>
        <p:nvSpPr>
          <p:cNvPr id="37" name="Rounded Rectangle 36"/>
          <p:cNvSpPr/>
          <p:nvPr/>
        </p:nvSpPr>
        <p:spPr>
          <a:xfrm>
            <a:off x="5943600" y="4059936"/>
            <a:ext cx="5513831" cy="640080"/>
          </a:xfrm>
          <a:prstGeom prst="roundRect">
            <a:avLst>
              <a:gd name="adj" fmla="val 6000"/>
            </a:avLst>
          </a:prstGeom>
          <a:solidFill>
            <a:srgbClr val="FFFFFF"/>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552176" y="4123944"/>
            <a:ext cx="832103" cy="512063"/>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552176" y="4441423"/>
            <a:ext cx="832103" cy="194584"/>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753929" y="4287804"/>
            <a:ext cx="58375" cy="58375"/>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0721669" y="4352324"/>
            <a:ext cx="122895" cy="122895"/>
          </a:xfrm>
          <a:prstGeom prst="roundRect">
            <a:avLst>
              <a:gd name="adj" fmla="val 30000"/>
            </a:avLst>
          </a:prstGeom>
          <a:solidFill>
            <a:srgbClr val="8A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737031" y="4466002"/>
            <a:ext cx="92171" cy="129040"/>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779430" y="4496726"/>
            <a:ext cx="7373" cy="98316"/>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056943" y="4185391"/>
            <a:ext cx="77833" cy="77833"/>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11013929" y="4271418"/>
            <a:ext cx="163860" cy="163860"/>
          </a:xfrm>
          <a:prstGeom prst="roundRect">
            <a:avLst>
              <a:gd name="adj" fmla="val 30000"/>
            </a:avLst>
          </a:prstGeom>
          <a:solidFill>
            <a:srgbClr val="C7C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034412" y="4422989"/>
            <a:ext cx="122895" cy="172053"/>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090944" y="4463954"/>
            <a:ext cx="9831" cy="131088"/>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1169597" y="4390217"/>
            <a:ext cx="69640" cy="81930"/>
          </a:xfrm>
          <a:prstGeom prst="roundRect">
            <a:avLst>
              <a:gd name="adj" fmla="val 20000"/>
            </a:avLst>
          </a:prstGeom>
          <a:solidFill>
            <a:srgbClr val="C8A9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035040" y="4352544"/>
            <a:ext cx="658368" cy="256032"/>
          </a:xfrm>
          <a:prstGeom prst="roundRect">
            <a:avLst>
              <a:gd name="adj" fmla="val 30000"/>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4630" rIns="18288" bIns="14630">
            <a:noAutofit/>
          </a:bodyPr>
          <a:lstStyle/>
          <a:p>
            <a:pPr algn="ctr" rtl="1">
              <a:spcBef>
                <a:spcPts val="0"/>
              </a:spcBef>
              <a:spcAft>
                <a:spcPts val="0"/>
              </a:spcAft>
            </a:pPr>
            <a:r>
              <a:rPr sz="950" b="1" i="0" lang="ar-JO">
                <a:solidFill>
                  <a:srgbClr val="0E7C7B"/>
                </a:solidFill>
                <a:latin typeface="Aptos"/>
                <a:ea typeface="Aptos"/>
                <a:cs typeface="Dubai"/>
              </a:rPr>
              <a:t>✓ تأكيد</a:t>
            </a:r>
          </a:p>
        </p:txBody>
      </p:sp>
      <p:sp>
        <p:nvSpPr>
          <p:cNvPr id="50" name="Rounded Rectangle 49"/>
          <p:cNvSpPr/>
          <p:nvPr/>
        </p:nvSpPr>
        <p:spPr>
          <a:xfrm>
            <a:off x="6748272" y="4352544"/>
            <a:ext cx="658368" cy="256032"/>
          </a:xfrm>
          <a:prstGeom prst="roundRect">
            <a:avLst>
              <a:gd name="adj" fmla="val 30000"/>
            </a:avLst>
          </a:prstGeom>
          <a:solidFill>
            <a:srgbClr val="FFFFFF"/>
          </a:solidFill>
          <a:ln w="12700">
            <a:solidFill>
              <a:srgbClr val="B45F0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4630" rIns="18288" bIns="14630">
            <a:noAutofit/>
          </a:bodyPr>
          <a:lstStyle/>
          <a:p>
            <a:pPr algn="ctr" rtl="1">
              <a:spcBef>
                <a:spcPts val="0"/>
              </a:spcBef>
              <a:spcAft>
                <a:spcPts val="0"/>
              </a:spcAft>
            </a:pPr>
            <a:r>
              <a:rPr sz="950" b="1" i="0" lang="ar-JO">
                <a:solidFill>
                  <a:srgbClr val="B45F06"/>
                </a:solidFill>
                <a:latin typeface="Aptos"/>
                <a:ea typeface="Aptos"/>
                <a:cs typeface="Dubai"/>
              </a:rPr>
              <a:t>✗ رفض</a:t>
            </a:r>
          </a:p>
        </p:txBody>
      </p:sp>
      <p:sp>
        <p:nvSpPr>
          <p:cNvPr id="51" name="TextBox 50"/>
          <p:cNvSpPr txBox="1"/>
          <p:nvPr/>
        </p:nvSpPr>
        <p:spPr>
          <a:xfrm>
            <a:off x="6035040" y="4114800"/>
            <a:ext cx="4407407" cy="228599"/>
          </a:xfrm>
          <a:prstGeom prst="rect">
            <a:avLst/>
          </a:prstGeom>
          <a:noFill/>
        </p:spPr>
        <p:txBody>
          <a:bodyPr wrap="square" lIns="0" tIns="0" rIns="0" bIns="0" anchor="t">
            <a:noAutofit/>
          </a:bodyPr>
          <a:lstStyle/>
          <a:p>
            <a:pPr algn="r" rtl="1">
              <a:spcBef>
                <a:spcPts val="0"/>
              </a:spcBef>
              <a:spcAft>
                <a:spcPts val="0"/>
              </a:spcAft>
            </a:pPr>
            <a:r>
              <a:rPr sz="1100" b="0" i="0" lang="ar-JO">
                <a:solidFill>
                  <a:srgbClr val="1F2937"/>
                </a:solidFill>
                <a:latin typeface="Aptos"/>
                <a:ea typeface="Aptos"/>
                <a:cs typeface="Dubai"/>
              </a:rPr>
              <a:t>صالة انتظار محطة الحافلات  ·  </a:t>
            </a:r>
            <a:r>
              <a:rPr sz="1100" b="1" i="0" lang="en-GB">
                <a:solidFill>
                  <a:srgbClr val="0F2A44"/>
                </a:solidFill>
                <a:latin typeface="Aptos"/>
                <a:ea typeface="Aptos"/>
                <a:cs typeface="Dubai"/>
              </a:rPr>
              <a:t>G331</a:t>
            </a:r>
          </a:p>
          <a:p>
            <a:pPr algn="r" rtl="1">
              <a:spcBef>
                <a:spcPts val="0"/>
              </a:spcBef>
              <a:spcAft>
                <a:spcPts val="0"/>
              </a:spcAft>
            </a:pPr>
            <a:r>
              <a:rPr sz="1000" b="0" i="0" lang="en-GB">
                <a:solidFill>
                  <a:srgbClr val="5B6573"/>
                </a:solidFill>
                <a:latin typeface="Aptos"/>
                <a:ea typeface="Aptos"/>
                <a:cs typeface="Dubai"/>
              </a:rPr>
              <a:t>17:01:16</a:t>
            </a:r>
            <a:r>
              <a:rPr sz="1000" b="1" i="0" lang="ar-JO">
                <a:solidFill>
                  <a:srgbClr val="0E7C7B"/>
                </a:solidFill>
                <a:latin typeface="Aptos"/>
                <a:ea typeface="Aptos"/>
                <a:cs typeface="Dubai"/>
              </a:rPr>
              <a:t>   ✓ امرأة  ✓ سترة</a:t>
            </a:r>
          </a:p>
          <a:p>
            <a:pPr algn="r" rtl="1">
              <a:spcBef>
                <a:spcPts val="0"/>
              </a:spcBef>
              <a:spcAft>
                <a:spcPts val="0"/>
              </a:spcAft>
            </a:pPr>
            <a:r>
              <a:rPr sz="1000" b="1" i="0" lang="ar-JO">
                <a:solidFill>
                  <a:srgbClr val="0E7C7B"/>
                </a:solidFill>
                <a:latin typeface="Aptos"/>
                <a:ea typeface="Aptos"/>
                <a:cs typeface="Dubai"/>
              </a:rPr>
              <a:t>✓ أكّد النموذج البصري</a:t>
            </a:r>
          </a:p>
        </p:txBody>
      </p:sp>
      <p:sp>
        <p:nvSpPr>
          <p:cNvPr id="52" name="Rounded Rectangle 51"/>
          <p:cNvSpPr/>
          <p:nvPr/>
        </p:nvSpPr>
        <p:spPr>
          <a:xfrm>
            <a:off x="5943600" y="4773168"/>
            <a:ext cx="5513831" cy="640080"/>
          </a:xfrm>
          <a:prstGeom prst="roundRect">
            <a:avLst>
              <a:gd name="adj" fmla="val 6000"/>
            </a:avLst>
          </a:prstGeom>
          <a:solidFill>
            <a:srgbClr val="FDF1E1"/>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552176" y="4837176"/>
            <a:ext cx="832103" cy="512063"/>
          </a:xfrm>
          <a:prstGeom prst="rect">
            <a:avLst/>
          </a:prstGeom>
          <a:solidFill>
            <a:srgbClr val="2B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552176" y="5154655"/>
            <a:ext cx="832103" cy="194584"/>
          </a:xfrm>
          <a:prstGeom prst="rect">
            <a:avLst/>
          </a:prstGeom>
          <a:solidFill>
            <a:srgbClr val="3A4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0932127" y="4898623"/>
            <a:ext cx="77833" cy="77833"/>
          </a:xfrm>
          <a:prstGeom prst="ellipse">
            <a:avLst/>
          </a:prstGeom>
          <a:solidFill>
            <a:srgbClr val="C9A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10889114" y="4984650"/>
            <a:ext cx="163860" cy="163860"/>
          </a:xfrm>
          <a:prstGeom prst="roundRect">
            <a:avLst>
              <a:gd name="adj" fmla="val 30000"/>
            </a:avLst>
          </a:prstGeom>
          <a:solidFill>
            <a:srgbClr val="8A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909596" y="5136221"/>
            <a:ext cx="122895" cy="172053"/>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966128" y="5177186"/>
            <a:ext cx="9831" cy="131088"/>
          </a:xfrm>
          <a:prstGeom prst="rect">
            <a:avLst/>
          </a:prstGeom>
          <a:solidFill>
            <a:srgbClr val="222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6035040" y="5065776"/>
            <a:ext cx="658368" cy="256032"/>
          </a:xfrm>
          <a:prstGeom prst="roundRect">
            <a:avLst>
              <a:gd name="adj" fmla="val 30000"/>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4630" rIns="18288" bIns="14630">
            <a:noAutofit/>
          </a:bodyPr>
          <a:lstStyle/>
          <a:p>
            <a:pPr algn="ctr" rtl="1">
              <a:spcBef>
                <a:spcPts val="0"/>
              </a:spcBef>
              <a:spcAft>
                <a:spcPts val="0"/>
              </a:spcAft>
            </a:pPr>
            <a:r>
              <a:rPr sz="950" b="1" i="0" lang="ar-JO">
                <a:solidFill>
                  <a:srgbClr val="0E7C7B"/>
                </a:solidFill>
                <a:latin typeface="Aptos"/>
                <a:ea typeface="Aptos"/>
                <a:cs typeface="Dubai"/>
              </a:rPr>
              <a:t>✓ تأكيد</a:t>
            </a:r>
          </a:p>
        </p:txBody>
      </p:sp>
      <p:sp>
        <p:nvSpPr>
          <p:cNvPr id="60" name="Rounded Rectangle 59"/>
          <p:cNvSpPr/>
          <p:nvPr/>
        </p:nvSpPr>
        <p:spPr>
          <a:xfrm>
            <a:off x="6748272" y="5065776"/>
            <a:ext cx="658368" cy="256032"/>
          </a:xfrm>
          <a:prstGeom prst="roundRect">
            <a:avLst>
              <a:gd name="adj" fmla="val 30000"/>
            </a:avLst>
          </a:prstGeom>
          <a:solidFill>
            <a:srgbClr val="FFFFFF"/>
          </a:solidFill>
          <a:ln w="12700">
            <a:solidFill>
              <a:srgbClr val="B45F0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tIns="14630" rIns="18288" bIns="14630">
            <a:noAutofit/>
          </a:bodyPr>
          <a:lstStyle/>
          <a:p>
            <a:pPr algn="ctr" rtl="1">
              <a:spcBef>
                <a:spcPts val="0"/>
              </a:spcBef>
              <a:spcAft>
                <a:spcPts val="0"/>
              </a:spcAft>
            </a:pPr>
            <a:r>
              <a:rPr sz="950" b="1" i="0" lang="ar-JO">
                <a:solidFill>
                  <a:srgbClr val="B45F06"/>
                </a:solidFill>
                <a:latin typeface="Aptos"/>
                <a:ea typeface="Aptos"/>
                <a:cs typeface="Dubai"/>
              </a:rPr>
              <a:t>✗ رفض</a:t>
            </a:r>
          </a:p>
        </p:txBody>
      </p:sp>
      <p:sp>
        <p:nvSpPr>
          <p:cNvPr id="61" name="TextBox 60"/>
          <p:cNvSpPr txBox="1"/>
          <p:nvPr/>
        </p:nvSpPr>
        <p:spPr>
          <a:xfrm>
            <a:off x="6035040" y="4828032"/>
            <a:ext cx="4407407" cy="228599"/>
          </a:xfrm>
          <a:prstGeom prst="rect">
            <a:avLst/>
          </a:prstGeom>
          <a:noFill/>
        </p:spPr>
        <p:txBody>
          <a:bodyPr wrap="square" lIns="0" tIns="0" rIns="0" bIns="0" anchor="t">
            <a:noAutofit/>
          </a:bodyPr>
          <a:lstStyle/>
          <a:p>
            <a:pPr algn="r" rtl="1">
              <a:spcBef>
                <a:spcPts val="0"/>
              </a:spcBef>
              <a:spcAft>
                <a:spcPts val="0"/>
              </a:spcAft>
            </a:pPr>
            <a:r>
              <a:rPr sz="1100" b="0" i="0" lang="ar-JO">
                <a:solidFill>
                  <a:srgbClr val="1F2937"/>
                </a:solidFill>
                <a:latin typeface="Aptos"/>
                <a:ea typeface="Aptos"/>
                <a:cs typeface="Dubai"/>
              </a:rPr>
              <a:t>صالة انتظار محطة الحافلات  ·  </a:t>
            </a:r>
            <a:r>
              <a:rPr sz="1100" b="1" i="0" lang="en-GB">
                <a:solidFill>
                  <a:srgbClr val="0F2A44"/>
                </a:solidFill>
                <a:latin typeface="Aptos"/>
                <a:ea typeface="Aptos"/>
                <a:cs typeface="Dubai"/>
              </a:rPr>
              <a:t>G331</a:t>
            </a:r>
          </a:p>
          <a:p>
            <a:pPr algn="r" rtl="1">
              <a:spcBef>
                <a:spcPts val="0"/>
              </a:spcBef>
              <a:spcAft>
                <a:spcPts val="0"/>
              </a:spcAft>
            </a:pPr>
            <a:r>
              <a:rPr sz="1000" b="0" i="0" lang="en-GB">
                <a:solidFill>
                  <a:srgbClr val="5B6573"/>
                </a:solidFill>
                <a:latin typeface="Aptos"/>
                <a:ea typeface="Aptos"/>
                <a:cs typeface="Dubai"/>
              </a:rPr>
              <a:t>17:03:05</a:t>
            </a:r>
            <a:r>
              <a:rPr sz="1000" b="1" i="0" lang="ar-JO">
                <a:solidFill>
                  <a:srgbClr val="0E7C7B"/>
                </a:solidFill>
                <a:latin typeface="Aptos"/>
                <a:ea typeface="Aptos"/>
                <a:cs typeface="Dubai"/>
              </a:rPr>
              <a:t>   ≈ امرأة  ✓ سترة</a:t>
            </a:r>
          </a:p>
          <a:p>
            <a:pPr algn="r" rtl="1">
              <a:spcBef>
                <a:spcPts val="0"/>
              </a:spcBef>
              <a:spcAft>
                <a:spcPts val="0"/>
              </a:spcAft>
            </a:pPr>
            <a:r>
              <a:rPr sz="1000" b="1" i="0" lang="ar-JO">
                <a:solidFill>
                  <a:srgbClr val="B45F06"/>
                </a:solidFill>
                <a:latin typeface="Aptos"/>
                <a:ea typeface="Aptos"/>
                <a:cs typeface="Dubai"/>
              </a:rPr>
              <a:t>✗ رفض النموذج البصري: نزلت إلى الأسفل</a:t>
            </a:r>
          </a:p>
        </p:txBody>
      </p:sp>
      <p:sp>
        <p:nvSpPr>
          <p:cNvPr id="62" name="TextBox 61"/>
          <p:cNvSpPr txBox="1"/>
          <p:nvPr/>
        </p:nvSpPr>
        <p:spPr>
          <a:xfrm>
            <a:off x="5760720" y="5568696"/>
            <a:ext cx="5879592" cy="237744"/>
          </a:xfrm>
          <a:prstGeom prst="rect">
            <a:avLst/>
          </a:prstGeom>
          <a:noFill/>
        </p:spPr>
        <p:txBody>
          <a:bodyPr wrap="square" lIns="0" tIns="0" rIns="0" bIns="0" anchor="t">
            <a:noAutofit/>
          </a:bodyPr>
          <a:lstStyle/>
          <a:p>
            <a:pPr algn="l">
              <a:spcBef>
                <a:spcPts val="0"/>
              </a:spcBef>
              <a:spcAft>
                <a:spcPts val="0"/>
              </a:spcAft>
            </a:pPr>
            <a:r>
              <a:rPr sz="1000" b="0" i="1" lang="en-GB">
                <a:solidFill>
                  <a:srgbClr val="5B6573"/>
                </a:solidFill>
                <a:latin typeface="Aptos"/>
                <a:ea typeface="Aptos"/>
                <a:cs typeface="Dubai"/>
              </a:rPr>
              <a:t>Illustration of the demo's business view, not a screenshot.</a:t>
            </a:r>
          </a:p>
        </p:txBody>
      </p:sp>
      <p:sp>
        <p:nvSpPr>
          <p:cNvPr id="63" name="Rounded Rectangle 62"/>
          <p:cNvSpPr/>
          <p:nvPr/>
        </p:nvSpPr>
        <p:spPr>
          <a:xfrm>
            <a:off x="548640" y="5760720"/>
            <a:ext cx="11091672" cy="566928"/>
          </a:xfrm>
          <a:prstGeom prst="roundRect">
            <a:avLst>
              <a:gd name="adj" fmla="val 8000"/>
            </a:avLst>
          </a:prstGeom>
          <a:solidFill>
            <a:srgbClr val="E3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46304" rIns="182880" bIns="146304">
            <a:noAutofit/>
          </a:bodyPr>
          <a:lstStyle/>
          <a:p>
            <a:pPr algn="l">
              <a:spcBef>
                <a:spcPts val="0"/>
              </a:spcBef>
              <a:spcAft>
                <a:spcPts val="0"/>
              </a:spcAft>
            </a:pPr>
            <a:r>
              <a:rPr sz="1300" b="1" i="0" lang="en-GB">
                <a:solidFill>
                  <a:srgbClr val="0F2A44"/>
                </a:solidFill>
                <a:latin typeface="Aptos"/>
                <a:ea typeface="Aptos"/>
                <a:cs typeface="Dubai"/>
              </a:rPr>
              <a:t>Runs on one computer: </a:t>
            </a:r>
            <a:r>
              <a:rPr sz="1300" b="0" i="0" lang="en-GB">
                <a:solidFill>
                  <a:srgbClr val="1F2937"/>
                </a:solidFill>
                <a:latin typeface="Aptos"/>
                <a:ea typeface="Aptos"/>
                <a:cs typeface="Dubai"/>
              </a:rPr>
              <a:t>the app and the AI models run as native processes, with no containers and no cloud AI. Recorded public footage only: actors and synthetic people, no live cameras.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ptos"/>
        <a:ea typeface=""/>
        <a:cs typeface="Dubai"/>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Dubai"/>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Arabic AI Video Search: PoC use cases</dc:title>
  <dc:subject>How security teams would use Arabic video search</dc:subject>
  <dc:creator/>
  <cp:keywords/>
  <dc:description>generated using python-pptx</dc:description>
  <cp:lastModifiedBy/>
  <cp:revision>1</cp:revision>
  <dcterms:created xsi:type="dcterms:W3CDTF">2026-10-17T00:00:00Z</dcterms:created>
  <dcterms:modified xsi:type="dcterms:W3CDTF">2026-10-17T00:00:00Z</dcterms:modified>
  <cp:category/>
</cp:coreProperties>
</file>